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7619695"/>
  <p:notesSz cx="7619695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architecture slide. All boxes, arrows and labels are native PowerPoint shapes. Values marked [INSERT] are unconfirmed.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Relative costs are qualitative. Replace with measured token counts once HRB traces are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Timeout and SLA values are placeholder defaults for discussion. Replace with HR policy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names follow common usage (e.g. Anthropic "Building effective agents": routing, parallelization, orchestrator-workers, evaluator-optimizer). Effort ratings are rough estimates for a LangGraph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Targets are placeholders until measured. Thresholds for Tier 2 come from the offline pair set, not from a default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STM = recent turns of this conversation. LTM = durable facts and summaries about the employee across sessions. v2 keeps both in Postgres (reusing v1 tables); Redis holds a hot copy of STM only if latency needs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services: Chat Gateway, Conversation, Feedback &amp; Evaluation, HR Console, Agent Orchestrator, Notification, Knowledge Retrieval, Benefits Rules &amp; Calc, HRB_LMS_OPS MCP, HRB_LMS_ANALYTICS MCP, Cache invalidation handler, Upload API, doc_load, extract_chunk, embed, index writer. v2 physical data: one RDS instance with one schema per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 runs O2–O4, O7, O9 inside hrb-api as function calls; the mechanism column shows the target when each module becomes its own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Redrawn from Sree's snapshot as editable shapes; wording kept as given (typo "trigerred" corrected to "triggered"). Suggested additions not drawn: embed svc uses the ② embedding cache; index writer clears ① answer cache entries for changed docs; a delete path for retired documents; OCR / vision captioning in extract_chunk for images and scans.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 choices are examples for a portfolio build. OpenSearch Serverless has a minimum monthly cost; ChromaDB on Fargate or Pinecone may be cheaper for a demo. Confirm in an ADR.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 / max task counts and thresholds are placeholders until a load test. Fargate Spot can be interrupted, so only queue-fed workers 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AWS names are examples; the same layout works on another cloud or on Kubernetes. Deployment and IaC remain Sree's own work; this slide is a design view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targets are placeholders until measured with a load test. p95 = 95% of requests are faster than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Targets shown are examples; replace with measured values. RAGAS is an open-source library of RAG evaluation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4.png"/><Relationship Id="rId5" Type="http://schemas.openxmlformats.org/officeDocument/2006/relationships/image" Target="../media/image-6-1.png"/><Relationship Id="rId6" Type="http://schemas.openxmlformats.org/officeDocument/2006/relationships/image" Target="../media/image-6-4.png"/><Relationship Id="rId7" Type="http://schemas.openxmlformats.org/officeDocument/2006/relationships/image" Target="../media/image-6-2.png"/><Relationship Id="rId8" Type="http://schemas.openxmlformats.org/officeDocument/2006/relationships/image" Target="../media/image-6-1.png"/><Relationship Id="rId9" Type="http://schemas.openxmlformats.org/officeDocument/2006/relationships/image" Target="../media/image-6-2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image" Target="../media/image-7-1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image" Target="../media/image-7-1.png"/><Relationship Id="rId10" Type="http://schemas.openxmlformats.org/officeDocument/2006/relationships/image" Target="../media/image-7-10.png"/><Relationship Id="rId11" Type="http://schemas.openxmlformats.org/officeDocument/2006/relationships/image" Target="../media/image-7-3.png"/><Relationship Id="rId12" Type="http://schemas.openxmlformats.org/officeDocument/2006/relationships/image" Target="../media/image-7-12.png"/><Relationship Id="rId13" Type="http://schemas.openxmlformats.org/officeDocument/2006/relationships/image" Target="../media/image-7-5.png"/><Relationship Id="rId14" Type="http://schemas.openxmlformats.org/officeDocument/2006/relationships/image" Target="../media/image-7-3.png"/><Relationship Id="rId15" Type="http://schemas.openxmlformats.org/officeDocument/2006/relationships/image" Target="../media/image-7-1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4.png"/><Relationship Id="rId6" Type="http://schemas.openxmlformats.org/officeDocument/2006/relationships/image" Target="../media/image-12-1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9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image" Target="../media/image-13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9.png"/><Relationship Id="rId11" Type="http://schemas.openxmlformats.org/officeDocument/2006/relationships/image" Target="../media/image-14-6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7.png"/><Relationship Id="rId9" Type="http://schemas.openxmlformats.org/officeDocument/2006/relationships/image" Target="../media/image-15-7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2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image" Target="../media/image-15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2600"/>
          </a:xfrm>
          <a:prstGeom prst="rect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77800" y="63500"/>
            <a:ext cx="825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 Chatbot V2: RAG Pipeline Architecture with Caching (Target State)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509000" y="63500"/>
            <a:ext cx="350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hr_benefits_assist · hrb_emp_lms · FastAPI · LangGraph · Postgres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6200" y="533400"/>
            <a:ext cx="12039600" cy="5105400"/>
          </a:xfrm>
          <a:prstGeom prst="roundRect">
            <a:avLst>
              <a:gd name="adj" fmla="val 1791"/>
            </a:avLst>
          </a:prstGeom>
          <a:solidFill>
            <a:srgbClr val="FFFFFF">
              <a:alpha val="0"/>
            </a:srgbClr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7000" y="584200"/>
            <a:ext cx="1079500" cy="5003800"/>
          </a:xfrm>
          <a:prstGeom prst="roundRect">
            <a:avLst>
              <a:gd name="adj" fmla="val 8471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90500" y="609600"/>
            <a:ext cx="952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2700" y="584200"/>
            <a:ext cx="1587500" cy="5003800"/>
          </a:xfrm>
          <a:prstGeom prst="roundRect">
            <a:avLst>
              <a:gd name="adj" fmla="val 5760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346200" y="609600"/>
            <a:ext cx="146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46400" y="584200"/>
            <a:ext cx="1841500" cy="5003800"/>
          </a:xfrm>
          <a:prstGeom prst="roundRect">
            <a:avLst>
              <a:gd name="adj" fmla="val 4966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009900" y="609600"/>
            <a:ext cx="1714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· preprocessing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64100" y="584200"/>
            <a:ext cx="1968500" cy="5003800"/>
          </a:xfrm>
          <a:prstGeom prst="roundRect">
            <a:avLst>
              <a:gd name="adj" fmla="val 4645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4927600" y="609600"/>
            <a:ext cx="1841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Agents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8800" y="584200"/>
            <a:ext cx="2667000" cy="50038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972300" y="609600"/>
            <a:ext cx="254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Agents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52000" y="584200"/>
            <a:ext cx="2413000" cy="5003800"/>
          </a:xfrm>
          <a:prstGeom prst="roundRect">
            <a:avLst>
              <a:gd name="adj" fmla="val 3789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9715500" y="609600"/>
            <a:ext cx="2286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Knowledgebase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3200" y="889000"/>
            <a:ext cx="927100" cy="381000"/>
          </a:xfrm>
          <a:prstGeom prst="roundRect">
            <a:avLst>
              <a:gd name="adj" fmla="val 144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/ HR user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3200" y="1473200"/>
            <a:ext cx="927100" cy="406400"/>
          </a:xfrm>
          <a:prstGeom prst="roundRect">
            <a:avLst>
              <a:gd name="adj" fmla="val 135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Client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· streaming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6750" y="1270000"/>
            <a:ext cx="0" cy="1905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54000" y="4381500"/>
            <a:ext cx="876300" cy="571500"/>
          </a:xfrm>
          <a:prstGeom prst="roundRect">
            <a:avLst>
              <a:gd name="adj" fmla="val 9600"/>
            </a:avLst>
          </a:prstGeom>
          <a:solidFill>
            <a:srgbClr val="FCE7F3"/>
          </a:solidFill>
          <a:ln w="12700">
            <a:solidFill>
              <a:srgbClr val="DB7AA5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Specialist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console: approvals, escalations, reviews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358900" y="889000"/>
            <a:ext cx="1435100" cy="355600"/>
          </a:xfrm>
          <a:prstGeom prst="roundRect">
            <a:avLst>
              <a:gd name="adj" fmla="val 15429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+ DDoS protection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rate-based blocking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58900" y="1358900"/>
            <a:ext cx="1435100" cy="431800"/>
          </a:xfrm>
          <a:prstGeom prst="roundRect">
            <a:avLst>
              <a:gd name="adj" fmla="val 12706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· TLS · routing · app config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58900" y="1905000"/>
            <a:ext cx="1435100" cy="1498600"/>
          </a:xfrm>
          <a:prstGeom prst="roundRect">
            <a:avLst>
              <a:gd name="adj" fmla="val 6372"/>
            </a:avLst>
          </a:prstGeom>
          <a:solidFill>
            <a:srgbClr val="EAF1FB"/>
          </a:solidFill>
          <a:ln w="12700">
            <a:solidFill>
              <a:srgbClr val="2F5F9E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422400" y="1930400"/>
            <a:ext cx="1308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(at the gateway)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435100" y="2120900"/>
            <a:ext cx="1282700" cy="546100"/>
          </a:xfrm>
          <a:prstGeom prst="roundRect">
            <a:avLst>
              <a:gd name="adj" fmla="val 10047"/>
            </a:avLst>
          </a:prstGeom>
          <a:solidFill>
            <a:srgbClr val="1F3B63"/>
          </a:solidFill>
          <a:ln w="12700">
            <a:solidFill>
              <a:srgbClr val="16304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OAuth 2.0 / JWT token from the identity provider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35100" y="2743200"/>
            <a:ext cx="1282700" cy="584200"/>
          </a:xfrm>
          <a:prstGeom prst="roundRect">
            <a:avLst>
              <a:gd name="adj" fmla="val 9391"/>
            </a:avLst>
          </a:prstGeom>
          <a:solidFill>
            <a:srgbClr val="1F3B63"/>
          </a:solidFill>
          <a:ln w="12700">
            <a:solidFill>
              <a:srgbClr val="16304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(coarse)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scopes and roles: Employee / HR Admin; fine-grained checks stay in tools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58900" y="3530600"/>
            <a:ext cx="1435100" cy="381000"/>
          </a:xfrm>
          <a:prstGeom prst="roundRect">
            <a:avLst>
              <a:gd name="adj" fmla="val 144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 and per key · Redis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30300" y="1676400"/>
            <a:ext cx="1143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1244600" y="1066800"/>
            <a:ext cx="0" cy="6096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44600" y="1066800"/>
            <a:ext cx="1016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076450" y="1244600"/>
            <a:ext cx="0" cy="1016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076450" y="1790700"/>
            <a:ext cx="0" cy="1016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076450" y="3403600"/>
            <a:ext cx="0" cy="1143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794000" y="3721100"/>
            <a:ext cx="1143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2908300" y="1111250"/>
            <a:ext cx="0" cy="260985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08300" y="1111250"/>
            <a:ext cx="1016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022600" y="889000"/>
            <a:ext cx="1689100" cy="1905000"/>
          </a:xfrm>
          <a:prstGeom prst="roundRect">
            <a:avLst>
              <a:gd name="adj" fmla="val 5414"/>
            </a:avLst>
          </a:prstGeom>
          <a:solidFill>
            <a:srgbClr val="ECF8F6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3086100" y="914400"/>
            <a:ext cx="1562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Guardrails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3086100" y="1066800"/>
            <a:ext cx="1587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LLM · 6 guards [INSERT 2] · sensitive → HR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3098800" y="1193800"/>
            <a:ext cx="730250" cy="482600"/>
          </a:xfrm>
          <a:prstGeom prst="roundRect">
            <a:avLst>
              <a:gd name="adj" fmla="val 11368"/>
            </a:avLst>
          </a:prstGeom>
          <a:solidFill>
            <a:srgbClr val="0F766E"/>
          </a:solidFill>
          <a:ln w="12700">
            <a:solidFill>
              <a:srgbClr val="0B5E5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D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redaction before any LLM call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905250" y="1193800"/>
            <a:ext cx="730250" cy="482600"/>
          </a:xfrm>
          <a:prstGeom prst="roundRect">
            <a:avLst>
              <a:gd name="adj" fmla="val 11368"/>
            </a:avLst>
          </a:prstGeom>
          <a:solidFill>
            <a:srgbClr val="0F766E"/>
          </a:solidFill>
          <a:ln w="12700">
            <a:solidFill>
              <a:srgbClr val="0B5E5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check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D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jailbreak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098800" y="1714500"/>
            <a:ext cx="730250" cy="482600"/>
          </a:xfrm>
          <a:prstGeom prst="roundRect">
            <a:avLst>
              <a:gd name="adj" fmla="val 11368"/>
            </a:avLst>
          </a:prstGeom>
          <a:solidFill>
            <a:srgbClr val="0F766E"/>
          </a:solidFill>
          <a:ln w="12700">
            <a:solidFill>
              <a:srgbClr val="0B5E5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filter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D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benefits scope only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905250" y="1714500"/>
            <a:ext cx="730250" cy="482600"/>
          </a:xfrm>
          <a:prstGeom prst="roundRect">
            <a:avLst>
              <a:gd name="adj" fmla="val 11368"/>
            </a:avLst>
          </a:prstGeom>
          <a:solidFill>
            <a:srgbClr val="0F766E"/>
          </a:solidFill>
          <a:ln w="12700">
            <a:solidFill>
              <a:srgbClr val="0B5E5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filter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D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toxicity, harmful content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098800" y="2235200"/>
            <a:ext cx="730250" cy="482600"/>
          </a:xfrm>
          <a:prstGeom prst="roundRect">
            <a:avLst>
              <a:gd name="adj" fmla="val 11368"/>
            </a:avLst>
          </a:prstGeom>
          <a:solidFill>
            <a:srgbClr val="0F766E"/>
          </a:solidFill>
          <a:ln w="12700">
            <a:solidFill>
              <a:srgbClr val="0B5E5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Placeholder-5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905250" y="2235200"/>
            <a:ext cx="730250" cy="482600"/>
          </a:xfrm>
          <a:prstGeom prst="roundRect">
            <a:avLst>
              <a:gd name="adj" fmla="val 11368"/>
            </a:avLst>
          </a:prstGeom>
          <a:solidFill>
            <a:srgbClr val="0F766E"/>
          </a:solidFill>
          <a:ln w="12700">
            <a:solidFill>
              <a:srgbClr val="0B5E5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Placeholder-6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022600" y="2870200"/>
            <a:ext cx="1689100" cy="342900"/>
          </a:xfrm>
          <a:prstGeom prst="roundRect">
            <a:avLst>
              <a:gd name="adj" fmla="val 160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+ Memory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 last N turns + LTM reads · Postgres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022600" y="3289300"/>
            <a:ext cx="1689100" cy="381000"/>
          </a:xfrm>
          <a:prstGeom prst="roundRect">
            <a:avLst>
              <a:gd name="adj" fmla="val 14400"/>
            </a:avLst>
          </a:prstGeom>
          <a:solidFill>
            <a:srgbClr val="FFF1D6"/>
          </a:solidFill>
          <a:ln w="12700">
            <a:solidFill>
              <a:srgbClr val="E9B04E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Builder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rewrite + history + memory + metadata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022600" y="3746500"/>
            <a:ext cx="1689100" cy="419100"/>
          </a:xfrm>
          <a:prstGeom prst="roundRect">
            <a:avLst>
              <a:gd name="adj" fmla="val 13091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Decomposition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multi-part questions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mini model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022600" y="4241800"/>
            <a:ext cx="1689100" cy="419100"/>
          </a:xfrm>
          <a:prstGeom prst="roundRect">
            <a:avLst>
              <a:gd name="adj" fmla="val 13091"/>
            </a:avLst>
          </a:prstGeom>
          <a:solidFill>
            <a:srgbClr val="EEE6FB"/>
          </a:solidFill>
          <a:ln w="12700">
            <a:solidFill>
              <a:srgbClr val="AE8FE3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User Query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sub-question; embedding cache first, model on a miss only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965450" y="4184650"/>
            <a:ext cx="127000" cy="127000"/>
          </a:xfrm>
          <a:prstGeom prst="ellipse">
            <a:avLst/>
          </a:prstGeom>
          <a:solidFill>
            <a:srgbClr val="6A3FC8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867150" y="2794000"/>
            <a:ext cx="0" cy="635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3867150" y="3213100"/>
            <a:ext cx="0" cy="635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3867150" y="3670300"/>
            <a:ext cx="0" cy="635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3867150" y="4165600"/>
            <a:ext cx="0" cy="635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3867150" y="4660900"/>
            <a:ext cx="0" cy="762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3022600" y="4749800"/>
            <a:ext cx="1689100" cy="508000"/>
          </a:xfrm>
          <a:prstGeom prst="roundRect">
            <a:avLst>
              <a:gd name="adj" fmla="val 10800"/>
            </a:avLst>
          </a:prstGeom>
          <a:solidFill>
            <a:srgbClr val="FDE3E2"/>
          </a:solidFill>
          <a:ln w="12700">
            <a:solidFill>
              <a:srgbClr val="EC8A8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Answer Cache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exact · Tier 2 similar, within plan year + KB version + group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step · intent gate: policy only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965450" y="4692650"/>
            <a:ext cx="127000" cy="127000"/>
          </a:xfrm>
          <a:prstGeom prst="ellipse">
            <a:avLst/>
          </a:prstGeom>
          <a:solidFill>
            <a:srgbClr val="E53935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711700" y="5016500"/>
            <a:ext cx="114300" cy="0"/>
          </a:xfrm>
          <a:prstGeom prst="line">
            <a:avLst/>
          </a:prstGeom>
          <a:noFill/>
          <a:ln w="17780">
            <a:solidFill>
              <a:srgbClr val="E53935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 flipV="1">
            <a:off x="4826000" y="1155700"/>
            <a:ext cx="0" cy="3860800"/>
          </a:xfrm>
          <a:prstGeom prst="line">
            <a:avLst/>
          </a:prstGeom>
          <a:noFill/>
          <a:ln w="17780">
            <a:solidFill>
              <a:srgbClr val="E53935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4826000" y="1155700"/>
            <a:ext cx="266700" cy="0"/>
          </a:xfrm>
          <a:prstGeom prst="line">
            <a:avLst/>
          </a:prstGeom>
          <a:noFill/>
          <a:ln w="17780">
            <a:solidFill>
              <a:srgbClr val="E53935"/>
            </a:solidFill>
            <a:prstDash val="dash"/>
            <a:tailEnd type="triangle"/>
          </a:ln>
        </p:spPr>
      </p:sp>
      <p:sp>
        <p:nvSpPr>
          <p:cNvPr id="62" name="Text 60"/>
          <p:cNvSpPr txBox="1"/>
          <p:nvPr/>
        </p:nvSpPr>
        <p:spPr>
          <a:xfrm>
            <a:off x="4845050" y="5054600"/>
            <a:ext cx="1651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3867150" y="5257800"/>
            <a:ext cx="0" cy="215900"/>
          </a:xfrm>
          <a:prstGeom prst="line">
            <a:avLst/>
          </a:prstGeom>
          <a:noFill/>
          <a:ln w="22860">
            <a:solidFill>
              <a:srgbClr val="2E9E48"/>
            </a:solidFill>
            <a:prstDash val="dash"/>
          </a:ln>
        </p:spPr>
      </p:sp>
      <p:sp>
        <p:nvSpPr>
          <p:cNvPr id="64" name="Text 62"/>
          <p:cNvSpPr txBox="1"/>
          <p:nvPr/>
        </p:nvSpPr>
        <p:spPr>
          <a:xfrm>
            <a:off x="3905250" y="5308600"/>
            <a:ext cx="6985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9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hit: saved answer</a:t>
            </a:r>
            <a:endParaRPr lang="en-US" sz="650" dirty="0"/>
          </a:p>
        </p:txBody>
      </p:sp>
      <p:sp>
        <p:nvSpPr>
          <p:cNvPr id="65" name="Text 63"/>
          <p:cNvSpPr txBox="1"/>
          <p:nvPr/>
        </p:nvSpPr>
        <p:spPr>
          <a:xfrm rot="16200000">
            <a:off x="4254500" y="2667000"/>
            <a:ext cx="11430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query vector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5105400" y="889000"/>
            <a:ext cx="1651000" cy="533400"/>
          </a:xfrm>
          <a:prstGeom prst="roundRect">
            <a:avLst>
              <a:gd name="adj" fmla="val 10286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intent; adaptive retrieval: uses RAG only when policy text is needed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mini model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105400" y="1524000"/>
            <a:ext cx="1651000" cy="381000"/>
          </a:xfrm>
          <a:prstGeom prst="roundRect">
            <a:avLst>
              <a:gd name="adj" fmla="val 14400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Agent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hub-and-spoke; runs the plan (adr-010)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105400" y="2006600"/>
            <a:ext cx="1651000" cy="990600"/>
          </a:xfrm>
          <a:prstGeom prst="roundRect">
            <a:avLst>
              <a:gd name="adj" fmla="val 9231"/>
            </a:avLst>
          </a:prstGeom>
          <a:solidFill>
            <a:srgbClr val="F6F1FE"/>
          </a:solidFill>
          <a:ln w="12700">
            <a:solidFill>
              <a:srgbClr val="7B4FD0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69" name="Text 67"/>
          <p:cNvSpPr txBox="1"/>
          <p:nvPr/>
        </p:nvSpPr>
        <p:spPr>
          <a:xfrm>
            <a:off x="5168900" y="2032000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2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· Evaluator &amp; Optimizer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181600" y="2159000"/>
            <a:ext cx="1498600" cy="381000"/>
          </a:xfrm>
          <a:prstGeom prst="roundRect">
            <a:avLst>
              <a:gd name="adj" fmla="val 14400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Agent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LLM · critique → revise (max N); low → HR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5181600" y="2578100"/>
            <a:ext cx="1498600" cy="355600"/>
          </a:xfrm>
          <a:prstGeom prst="roundRect">
            <a:avLst>
              <a:gd name="adj" fmla="val 15429"/>
            </a:avLst>
          </a:prstGeom>
          <a:solidFill>
            <a:srgbClr val="FDE3E2"/>
          </a:solidFill>
          <a:ln w="12700">
            <a:solidFill>
              <a:srgbClr val="EC8A8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as a Judge Agent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(Selective - Strong LLM · high-risk or low confidence)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105400" y="3073400"/>
            <a:ext cx="1651000" cy="927100"/>
          </a:xfrm>
          <a:prstGeom prst="roundRect">
            <a:avLst>
              <a:gd name="adj" fmla="val 9863"/>
            </a:avLst>
          </a:prstGeom>
          <a:solidFill>
            <a:srgbClr val="ECF8F6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73" name="Text 71"/>
          <p:cNvSpPr txBox="1"/>
          <p:nvPr/>
        </p:nvSpPr>
        <p:spPr>
          <a:xfrm>
            <a:off x="5168900" y="3098800"/>
            <a:ext cx="1524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Guardrails · mini LLM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181600" y="3238500"/>
            <a:ext cx="711200" cy="330200"/>
          </a:xfrm>
          <a:prstGeom prst="roundRect">
            <a:avLst>
              <a:gd name="adj" fmla="val 16615"/>
            </a:avLst>
          </a:prstGeom>
          <a:solidFill>
            <a:srgbClr val="0F766E"/>
          </a:solidFill>
          <a:ln w="12700">
            <a:solidFill>
              <a:srgbClr val="0B5E5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D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match sources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969000" y="3238500"/>
            <a:ext cx="711200" cy="330200"/>
          </a:xfrm>
          <a:prstGeom prst="roundRect">
            <a:avLst>
              <a:gd name="adj" fmla="val 16615"/>
            </a:avLst>
          </a:prstGeom>
          <a:solidFill>
            <a:srgbClr val="0F766E"/>
          </a:solidFill>
          <a:ln w="12700">
            <a:solidFill>
              <a:srgbClr val="0B5E5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D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data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181600" y="3606800"/>
            <a:ext cx="711200" cy="330200"/>
          </a:xfrm>
          <a:prstGeom prst="roundRect">
            <a:avLst>
              <a:gd name="adj" fmla="val 16615"/>
            </a:avLst>
          </a:prstGeom>
          <a:solidFill>
            <a:srgbClr val="0F766E"/>
          </a:solidFill>
          <a:ln w="12700">
            <a:solidFill>
              <a:srgbClr val="0B5E5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scope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D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 policy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969000" y="3606800"/>
            <a:ext cx="711200" cy="330200"/>
          </a:xfrm>
          <a:prstGeom prst="roundRect">
            <a:avLst>
              <a:gd name="adj" fmla="val 16615"/>
            </a:avLst>
          </a:prstGeom>
          <a:solidFill>
            <a:srgbClr val="0F766E"/>
          </a:solidFill>
          <a:ln w="12700">
            <a:solidFill>
              <a:srgbClr val="0B5E5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D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plain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105400" y="4076700"/>
            <a:ext cx="1651000" cy="330200"/>
          </a:xfrm>
          <a:prstGeom prst="roundRect">
            <a:avLst>
              <a:gd name="adj" fmla="val 16615"/>
            </a:avLst>
          </a:prstGeom>
          <a:solidFill>
            <a:srgbClr val="FDE3E2"/>
          </a:solidFill>
          <a:ln w="12700">
            <a:solidFill>
              <a:srgbClr val="EC8A8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Response in Answer Cache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confidence, all checks passed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048250" y="4019550"/>
            <a:ext cx="127000" cy="127000"/>
          </a:xfrm>
          <a:prstGeom prst="ellipse">
            <a:avLst/>
          </a:prstGeom>
          <a:solidFill>
            <a:srgbClr val="E53935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5105400" y="4546600"/>
            <a:ext cx="1651000" cy="419100"/>
          </a:xfrm>
          <a:prstGeom prst="roundRect">
            <a:avLst>
              <a:gd name="adj" fmla="val 13091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Agent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LLM summaries; writes STM / LTM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· runs after the reply is sent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930900" y="1422400"/>
            <a:ext cx="0" cy="889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5930900" y="2997200"/>
            <a:ext cx="0" cy="635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5930900" y="4000500"/>
            <a:ext cx="0" cy="635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5930900" y="4406900"/>
            <a:ext cx="0" cy="127000"/>
          </a:xfrm>
          <a:prstGeom prst="line">
            <a:avLst/>
          </a:prstGeom>
          <a:noFill/>
          <a:ln w="17780">
            <a:solidFill>
              <a:srgbClr val="6B7B8C"/>
            </a:solidFill>
            <a:prstDash val="dash"/>
            <a:tailEnd type="triangle"/>
          </a:ln>
        </p:spPr>
      </p:sp>
      <p:sp>
        <p:nvSpPr>
          <p:cNvPr id="85" name="Shape 83"/>
          <p:cNvSpPr/>
          <p:nvPr/>
        </p:nvSpPr>
        <p:spPr>
          <a:xfrm flipV="1">
            <a:off x="6604000" y="1917700"/>
            <a:ext cx="0" cy="88900"/>
          </a:xfrm>
          <a:prstGeom prst="line">
            <a:avLst/>
          </a:prstGeom>
          <a:noFill/>
          <a:ln w="17780">
            <a:solidFill>
              <a:srgbClr val="B03A2E"/>
            </a:solidFill>
            <a:prstDash val="dash"/>
            <a:tailEnd type="triangle"/>
          </a:ln>
        </p:spPr>
      </p:sp>
      <p:sp>
        <p:nvSpPr>
          <p:cNvPr id="86" name="Shape 84"/>
          <p:cNvSpPr/>
          <p:nvPr/>
        </p:nvSpPr>
        <p:spPr>
          <a:xfrm flipH="1">
            <a:off x="5016500" y="4241800"/>
            <a:ext cx="88900" cy="0"/>
          </a:xfrm>
          <a:prstGeom prst="line">
            <a:avLst/>
          </a:prstGeom>
          <a:noFill/>
          <a:ln w="22860">
            <a:solidFill>
              <a:srgbClr val="2E9E48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5016500" y="4241800"/>
            <a:ext cx="0" cy="1231900"/>
          </a:xfrm>
          <a:prstGeom prst="line">
            <a:avLst/>
          </a:prstGeom>
          <a:noFill/>
          <a:ln w="22860">
            <a:solidFill>
              <a:srgbClr val="2E9E48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 flipH="1">
            <a:off x="171450" y="5473700"/>
            <a:ext cx="4845050" cy="0"/>
          </a:xfrm>
          <a:prstGeom prst="line">
            <a:avLst/>
          </a:prstGeom>
          <a:noFill/>
          <a:ln w="22860">
            <a:solidFill>
              <a:srgbClr val="2E9E48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 flipV="1">
            <a:off x="171450" y="1790700"/>
            <a:ext cx="0" cy="3683000"/>
          </a:xfrm>
          <a:prstGeom prst="line">
            <a:avLst/>
          </a:prstGeom>
          <a:noFill/>
          <a:ln w="22860">
            <a:solidFill>
              <a:srgbClr val="2E9E48"/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>
            <a:off x="171450" y="1790700"/>
            <a:ext cx="25400" cy="0"/>
          </a:xfrm>
          <a:prstGeom prst="line">
            <a:avLst/>
          </a:prstGeom>
          <a:noFill/>
          <a:ln w="22860">
            <a:solidFill>
              <a:srgbClr val="2E9E48"/>
            </a:solidFill>
            <a:prstDash val="dash"/>
            <a:tailEnd type="triangle"/>
          </a:ln>
        </p:spPr>
      </p:sp>
      <p:sp>
        <p:nvSpPr>
          <p:cNvPr id="91" name="Text 89"/>
          <p:cNvSpPr txBox="1"/>
          <p:nvPr/>
        </p:nvSpPr>
        <p:spPr>
          <a:xfrm>
            <a:off x="2794000" y="5422900"/>
            <a:ext cx="20955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9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citations, streamed back via API Gateway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6985000" y="889000"/>
            <a:ext cx="2514600" cy="330200"/>
          </a:xfrm>
          <a:prstGeom prst="roundRect">
            <a:avLst>
              <a:gd name="adj" fmla="val 16615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Registry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of agents and their tools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985000" y="1320800"/>
            <a:ext cx="2514600" cy="2463800"/>
          </a:xfrm>
          <a:prstGeom prst="roundRect">
            <a:avLst>
              <a:gd name="adj" fmla="val 3711"/>
            </a:avLst>
          </a:prstGeom>
          <a:solidFill>
            <a:srgbClr val="F6F1FE"/>
          </a:solidFill>
          <a:ln w="22225">
            <a:solidFill>
              <a:srgbClr val="7B4FD0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94" name="Text 92"/>
          <p:cNvSpPr txBox="1"/>
          <p:nvPr/>
        </p:nvSpPr>
        <p:spPr>
          <a:xfrm>
            <a:off x="7048500" y="1346200"/>
            <a:ext cx="2387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2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Agents (LangGraph) · ∥ = parallel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7061200" y="1562100"/>
            <a:ext cx="2362200" cy="444500"/>
          </a:xfrm>
          <a:prstGeom prst="roundRect">
            <a:avLst>
              <a:gd name="adj" fmla="val 12343"/>
            </a:avLst>
          </a:prstGeom>
          <a:solidFill>
            <a:srgbClr val="4A2B8F"/>
          </a:solidFill>
          <a:ln w="12700">
            <a:solidFill>
              <a:srgbClr val="3A2072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Agent  ∥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9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RAG (mini LLM grader): weak chunks → rewrite query or web search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7061200" y="2057400"/>
            <a:ext cx="2362200" cy="444500"/>
          </a:xfrm>
          <a:prstGeom prst="roundRect">
            <a:avLst>
              <a:gd name="adj" fmla="val 12343"/>
            </a:avLst>
          </a:prstGeom>
          <a:solidFill>
            <a:srgbClr val="4A2B8F"/>
          </a:solidFill>
          <a:ln w="12700">
            <a:solidFill>
              <a:srgbClr val="3A2072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Check  ∥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9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the employee qualifies (plan, tenure, status)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7061200" y="2552700"/>
            <a:ext cx="2362200" cy="444500"/>
          </a:xfrm>
          <a:prstGeom prst="roundRect">
            <a:avLst>
              <a:gd name="adj" fmla="val 12343"/>
            </a:avLst>
          </a:prstGeom>
          <a:solidFill>
            <a:srgbClr val="4A2B8F"/>
          </a:solidFill>
          <a:ln w="12700">
            <a:solidFill>
              <a:srgbClr val="3A2072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 ∥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9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401(k) match, PTO accrual, pay math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7061200" y="3048000"/>
            <a:ext cx="2362200" cy="444500"/>
          </a:xfrm>
          <a:prstGeom prst="roundRect">
            <a:avLst>
              <a:gd name="adj" fmla="val 12343"/>
            </a:avLst>
          </a:prstGeom>
          <a:solidFill>
            <a:srgbClr val="4A2B8F"/>
          </a:solidFill>
          <a:ln w="12700">
            <a:solidFill>
              <a:srgbClr val="3A2072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Ops Agent  (sequential)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9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+ eligibility pre-check; caregiver / unpaid leave goes to HR approval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7061200" y="3543300"/>
            <a:ext cx="2362200" cy="17780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9A74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large model · grounded generation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8242300" y="1219200"/>
            <a:ext cx="0" cy="88900"/>
          </a:xfrm>
          <a:prstGeom prst="line">
            <a:avLst/>
          </a:prstGeom>
          <a:noFill/>
          <a:ln w="17780">
            <a:solidFill>
              <a:srgbClr val="6B7B8C"/>
            </a:solidFill>
            <a:prstDash val="dash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6756400" y="1714500"/>
            <a:ext cx="2159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02" name="Text 100"/>
          <p:cNvSpPr txBox="1"/>
          <p:nvPr/>
        </p:nvSpPr>
        <p:spPr>
          <a:xfrm>
            <a:off x="6769100" y="1612900"/>
            <a:ext cx="2032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3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 flipH="1">
            <a:off x="6769100" y="2349500"/>
            <a:ext cx="2159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04" name="Text 102"/>
          <p:cNvSpPr txBox="1"/>
          <p:nvPr/>
        </p:nvSpPr>
        <p:spPr>
          <a:xfrm>
            <a:off x="6769100" y="2362200"/>
            <a:ext cx="2032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3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650" dirty="0"/>
          </a:p>
        </p:txBody>
      </p:sp>
      <p:sp>
        <p:nvSpPr>
          <p:cNvPr id="105" name="Text 103"/>
          <p:cNvSpPr/>
          <p:nvPr/>
        </p:nvSpPr>
        <p:spPr>
          <a:xfrm>
            <a:off x="6985000" y="3911600"/>
            <a:ext cx="2514600" cy="406400"/>
          </a:xfrm>
          <a:prstGeom prst="roundRect">
            <a:avLst>
              <a:gd name="adj" fmla="val 135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each step to mini / large / strong model; retries, cost logs (adr-005)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985000" y="4419600"/>
            <a:ext cx="2514600" cy="1079500"/>
          </a:xfrm>
          <a:prstGeom prst="roundRect">
            <a:avLst>
              <a:gd name="adj" fmla="val 8471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07" name="Text 105"/>
          <p:cNvSpPr txBox="1"/>
          <p:nvPr/>
        </p:nvSpPr>
        <p:spPr>
          <a:xfrm>
            <a:off x="7048500" y="4445000"/>
            <a:ext cx="2387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(OpenAI)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7061200" y="4635500"/>
            <a:ext cx="1143000" cy="787400"/>
          </a:xfrm>
          <a:prstGeom prst="roundRect">
            <a:avLst>
              <a:gd name="adj" fmla="val 6968"/>
            </a:avLst>
          </a:prstGeom>
          <a:solidFill>
            <a:srgbClr val="FFE7DD"/>
          </a:solidFill>
          <a:ln w="12700">
            <a:solidFill>
              <a:srgbClr val="F4A083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cache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its notes for the fixed prompt start; we control it only by prompt order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7004050" y="4578350"/>
            <a:ext cx="127000" cy="127000"/>
          </a:xfrm>
          <a:prstGeom prst="ellipse">
            <a:avLst/>
          </a:prstGeom>
          <a:solidFill>
            <a:srgbClr val="F4511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8280400" y="4635500"/>
            <a:ext cx="1143000" cy="787400"/>
          </a:xfrm>
          <a:prstGeom prst="roundRect">
            <a:avLst>
              <a:gd name="adj" fmla="val 6968"/>
            </a:avLst>
          </a:prstGeom>
          <a:solidFill>
            <a:srgbClr val="FFF1D8"/>
          </a:solidFill>
          <a:ln w="12700">
            <a:solidFill>
              <a:srgbClr val="F5BD5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→ generate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model's notes for each token while writing one answer; always on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8223250" y="4578350"/>
            <a:ext cx="127000" cy="127000"/>
          </a:xfrm>
          <a:prstGeom prst="ellipse">
            <a:avLst/>
          </a:prstGeom>
          <a:solidFill>
            <a:srgbClr val="F08C0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8204200" y="5029200"/>
            <a:ext cx="635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8242300" y="3784600"/>
            <a:ext cx="0" cy="127000"/>
          </a:xfrm>
          <a:prstGeom prst="line">
            <a:avLst/>
          </a:prstGeom>
          <a:noFill/>
          <a:ln w="17780">
            <a:solidFill>
              <a:srgbClr val="8E63D6"/>
            </a:solidFill>
            <a:prstDash val="dash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8242300" y="4305300"/>
            <a:ext cx="0" cy="101600"/>
          </a:xfrm>
          <a:prstGeom prst="line">
            <a:avLst/>
          </a:prstGeom>
          <a:noFill/>
          <a:ln w="17780">
            <a:solidFill>
              <a:srgbClr val="8E63D6"/>
            </a:solidFill>
            <a:prstDash val="dash"/>
            <a:tailEnd type="triangle"/>
          </a:ln>
        </p:spPr>
      </p:sp>
      <p:sp>
        <p:nvSpPr>
          <p:cNvPr id="115" name="Shape 113"/>
          <p:cNvSpPr/>
          <p:nvPr/>
        </p:nvSpPr>
        <p:spPr>
          <a:xfrm>
            <a:off x="9690100" y="1498600"/>
            <a:ext cx="1155700" cy="2184400"/>
          </a:xfrm>
          <a:prstGeom prst="roundRect">
            <a:avLst>
              <a:gd name="adj" fmla="val 7912"/>
            </a:avLst>
          </a:prstGeom>
          <a:solidFill>
            <a:srgbClr val="ECF8F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9728200" y="3543300"/>
            <a:ext cx="10795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guardrails</a:t>
            </a:r>
            <a:endParaRPr lang="en-US" sz="800" dirty="0"/>
          </a:p>
        </p:txBody>
      </p:sp>
      <p:sp>
        <p:nvSpPr>
          <p:cNvPr id="117" name="Text 115"/>
          <p:cNvSpPr txBox="1"/>
          <p:nvPr/>
        </p:nvSpPr>
        <p:spPr>
          <a:xfrm>
            <a:off x="10909300" y="1384300"/>
            <a:ext cx="10795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Servers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9728200" y="889000"/>
            <a:ext cx="1079500" cy="406400"/>
          </a:xfrm>
          <a:prstGeom prst="roundRect">
            <a:avLst>
              <a:gd name="adj" fmla="val 135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Tool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· used when the KB has no answer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9728200" y="1562100"/>
            <a:ext cx="1079500" cy="444500"/>
          </a:xfrm>
          <a:prstGeom prst="roundRect">
            <a:avLst>
              <a:gd name="adj" fmla="val 12343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KB Retriever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+ rerank top k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9423400" y="1784350"/>
            <a:ext cx="2921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21" name="Text 119"/>
          <p:cNvSpPr/>
          <p:nvPr/>
        </p:nvSpPr>
        <p:spPr>
          <a:xfrm>
            <a:off x="10909300" y="1562100"/>
            <a:ext cx="1079500" cy="393700"/>
          </a:xfrm>
          <a:prstGeom prst="can">
            <a:avLst>
              <a:gd name="adj" fmla="val 13935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(Pinecone)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hr_policies (text, tables, captions)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10807700" y="1784350"/>
            <a:ext cx="889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23" name="Text 121"/>
          <p:cNvSpPr/>
          <p:nvPr/>
        </p:nvSpPr>
        <p:spPr>
          <a:xfrm>
            <a:off x="9728200" y="2057400"/>
            <a:ext cx="1079500" cy="444500"/>
          </a:xfrm>
          <a:prstGeom prst="roundRect">
            <a:avLst>
              <a:gd name="adj" fmla="val 12343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Tool: Rules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rules engine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9423400" y="2279650"/>
            <a:ext cx="2921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25" name="Text 123"/>
          <p:cNvSpPr/>
          <p:nvPr/>
        </p:nvSpPr>
        <p:spPr>
          <a:xfrm>
            <a:off x="10909300" y="2006600"/>
            <a:ext cx="1079500" cy="393700"/>
          </a:xfrm>
          <a:prstGeom prst="roundRect">
            <a:avLst>
              <a:gd name="adj" fmla="val 13935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Database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plan, tenure, status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10807700" y="2279650"/>
            <a:ext cx="889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27" name="Text 125"/>
          <p:cNvSpPr/>
          <p:nvPr/>
        </p:nvSpPr>
        <p:spPr>
          <a:xfrm>
            <a:off x="9728200" y="2552700"/>
            <a:ext cx="1079500" cy="444500"/>
          </a:xfrm>
          <a:prstGeom prst="roundRect">
            <a:avLst>
              <a:gd name="adj" fmla="val 12343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Tool: Calc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401(k), PTO, pay formulas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9423400" y="2774950"/>
            <a:ext cx="2921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29" name="Text 127"/>
          <p:cNvSpPr/>
          <p:nvPr/>
        </p:nvSpPr>
        <p:spPr>
          <a:xfrm>
            <a:off x="10909300" y="2451100"/>
            <a:ext cx="1079500" cy="393700"/>
          </a:xfrm>
          <a:prstGeom prst="roundRect">
            <a:avLst>
              <a:gd name="adj" fmla="val 13935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parameters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tables per plan year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10807700" y="2774950"/>
            <a:ext cx="889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31" name="Text 129"/>
          <p:cNvSpPr/>
          <p:nvPr/>
        </p:nvSpPr>
        <p:spPr>
          <a:xfrm>
            <a:off x="9728200" y="3048000"/>
            <a:ext cx="1079500" cy="444500"/>
          </a:xfrm>
          <a:prstGeom prst="roundRect">
            <a:avLst>
              <a:gd name="adj" fmla="val 12343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OAuth, session, audit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9423400" y="3270250"/>
            <a:ext cx="2921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33" name="Text 131"/>
          <p:cNvSpPr/>
          <p:nvPr/>
        </p:nvSpPr>
        <p:spPr>
          <a:xfrm>
            <a:off x="10909300" y="2908300"/>
            <a:ext cx="1079500" cy="381000"/>
          </a:xfrm>
          <a:prstGeom prst="roundRect">
            <a:avLst>
              <a:gd name="adj" fmla="val 144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HRB_LMS_OPS</a:t>
            </a:r>
            <a:endParaRPr lang="en-US" sz="7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tools: live leave data</a:t>
            </a:r>
            <a:endParaRPr lang="en-US" sz="7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HRB_LMS_OPS_DB</a:t>
            </a:r>
            <a:endParaRPr lang="en-US" sz="750" dirty="0"/>
          </a:p>
        </p:txBody>
      </p:sp>
      <p:sp>
        <p:nvSpPr>
          <p:cNvPr id="134" name="Text 132"/>
          <p:cNvSpPr/>
          <p:nvPr/>
        </p:nvSpPr>
        <p:spPr>
          <a:xfrm>
            <a:off x="10909300" y="3327400"/>
            <a:ext cx="1079500" cy="381000"/>
          </a:xfrm>
          <a:prstGeom prst="roundRect">
            <a:avLst>
              <a:gd name="adj" fmla="val 144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HRB_LMS_ANALYTICS</a:t>
            </a:r>
            <a:endParaRPr lang="en-US" sz="7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tools: history, read-only</a:t>
            </a:r>
            <a:endParaRPr lang="en-US" sz="7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HRB_LMS_ANALYTICS_DB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10807700" y="3098800"/>
            <a:ext cx="889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36" name="Shape 134"/>
          <p:cNvSpPr/>
          <p:nvPr/>
        </p:nvSpPr>
        <p:spPr>
          <a:xfrm>
            <a:off x="10807700" y="3429000"/>
            <a:ext cx="4445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0852150" y="3429000"/>
            <a:ext cx="0" cy="889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852150" y="3517900"/>
            <a:ext cx="4445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39" name="Shape 137"/>
          <p:cNvSpPr/>
          <p:nvPr/>
        </p:nvSpPr>
        <p:spPr>
          <a:xfrm flipV="1">
            <a:off x="10267950" y="1308100"/>
            <a:ext cx="0" cy="254000"/>
          </a:xfrm>
          <a:prstGeom prst="line">
            <a:avLst/>
          </a:prstGeom>
          <a:noFill/>
          <a:ln w="17780">
            <a:solidFill>
              <a:srgbClr val="6B7B8C"/>
            </a:solidFill>
            <a:prstDash val="dash"/>
            <a:tailEnd type="triangle"/>
          </a:ln>
        </p:spPr>
      </p:sp>
      <p:sp>
        <p:nvSpPr>
          <p:cNvPr id="140" name="Text 138"/>
          <p:cNvSpPr txBox="1"/>
          <p:nvPr/>
        </p:nvSpPr>
        <p:spPr>
          <a:xfrm>
            <a:off x="10312400" y="1409700"/>
            <a:ext cx="3175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miss</a:t>
            </a:r>
            <a:endParaRPr lang="en-US" sz="650" dirty="0"/>
          </a:p>
        </p:txBody>
      </p:sp>
      <p:sp>
        <p:nvSpPr>
          <p:cNvPr id="141" name="Text 139"/>
          <p:cNvSpPr/>
          <p:nvPr/>
        </p:nvSpPr>
        <p:spPr>
          <a:xfrm>
            <a:off x="190500" y="5118100"/>
            <a:ext cx="749300" cy="215900"/>
          </a:xfrm>
          <a:prstGeom prst="roundRect">
            <a:avLst>
              <a:gd name="adj" fmla="val 21176"/>
            </a:avLst>
          </a:prstGeom>
          <a:solidFill>
            <a:srgbClr val="1F2A4A"/>
          </a:solidFill>
          <a:ln w="6350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· request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RAG Retrieval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9690100" y="3771900"/>
            <a:ext cx="2336800" cy="546100"/>
          </a:xfrm>
          <a:prstGeom prst="roundRect">
            <a:avLst>
              <a:gd name="adj" fmla="val 16744"/>
            </a:avLst>
          </a:prstGeom>
          <a:solidFill>
            <a:srgbClr val="FDF2F8"/>
          </a:solidFill>
          <a:ln w="12700">
            <a:solidFill>
              <a:srgbClr val="BE185D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43" name="Text 141"/>
          <p:cNvSpPr txBox="1"/>
          <p:nvPr/>
        </p:nvSpPr>
        <p:spPr>
          <a:xfrm>
            <a:off x="9753600" y="3797300"/>
            <a:ext cx="22098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(LangGraph interrupt)</a:t>
            </a:r>
            <a:endParaRPr lang="en-US" sz="850" dirty="0"/>
          </a:p>
        </p:txBody>
      </p:sp>
      <p:sp>
        <p:nvSpPr>
          <p:cNvPr id="144" name="Text 142"/>
          <p:cNvSpPr/>
          <p:nvPr/>
        </p:nvSpPr>
        <p:spPr>
          <a:xfrm>
            <a:off x="9753600" y="3937000"/>
            <a:ext cx="698500" cy="317500"/>
          </a:xfrm>
          <a:prstGeom prst="roundRect">
            <a:avLst>
              <a:gd name="adj" fmla="val 17280"/>
            </a:avLst>
          </a:prstGeom>
          <a:solidFill>
            <a:srgbClr val="BE185D"/>
          </a:solidFill>
          <a:ln w="12700">
            <a:solidFill>
              <a:srgbClr val="9D174D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approval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10515600" y="3937000"/>
            <a:ext cx="698500" cy="317500"/>
          </a:xfrm>
          <a:prstGeom prst="roundRect">
            <a:avLst>
              <a:gd name="adj" fmla="val 17280"/>
            </a:avLst>
          </a:prstGeom>
          <a:solidFill>
            <a:srgbClr val="BE185D"/>
          </a:solidFill>
          <a:ln w="12700">
            <a:solidFill>
              <a:srgbClr val="9D174D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escalation</a:t>
            </a:r>
            <a:endParaRPr lang="en-US" sz="850" dirty="0"/>
          </a:p>
        </p:txBody>
      </p:sp>
      <p:sp>
        <p:nvSpPr>
          <p:cNvPr id="146" name="Text 144"/>
          <p:cNvSpPr/>
          <p:nvPr/>
        </p:nvSpPr>
        <p:spPr>
          <a:xfrm>
            <a:off x="11277600" y="3937000"/>
            <a:ext cx="698500" cy="317500"/>
          </a:xfrm>
          <a:prstGeom prst="roundRect">
            <a:avLst>
              <a:gd name="adj" fmla="val 17280"/>
            </a:avLst>
          </a:prstGeom>
          <a:solidFill>
            <a:srgbClr val="BE185D"/>
          </a:solidFill>
          <a:ln w="12700">
            <a:solidFill>
              <a:srgbClr val="9D174D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review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9423400" y="3429000"/>
            <a:ext cx="177800" cy="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601200" y="3429000"/>
            <a:ext cx="0" cy="66675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601200" y="4095750"/>
            <a:ext cx="139700" cy="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150" name="Shape 148"/>
          <p:cNvSpPr/>
          <p:nvPr/>
        </p:nvSpPr>
        <p:spPr>
          <a:xfrm flipV="1">
            <a:off x="9906000" y="3505200"/>
            <a:ext cx="0" cy="43180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151" name="Text 149"/>
          <p:cNvSpPr txBox="1"/>
          <p:nvPr/>
        </p:nvSpPr>
        <p:spPr>
          <a:xfrm>
            <a:off x="9944100" y="3683000"/>
            <a:ext cx="6985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→ submit</a:t>
            </a:r>
            <a:endParaRPr lang="en-US" sz="650" dirty="0"/>
          </a:p>
        </p:txBody>
      </p:sp>
      <p:sp>
        <p:nvSpPr>
          <p:cNvPr id="152" name="Shape 150"/>
          <p:cNvSpPr/>
          <p:nvPr/>
        </p:nvSpPr>
        <p:spPr>
          <a:xfrm flipH="1">
            <a:off x="9620250" y="4191000"/>
            <a:ext cx="69850" cy="0"/>
          </a:xfrm>
          <a:prstGeom prst="line">
            <a:avLst/>
          </a:prstGeom>
          <a:noFill/>
          <a:ln w="17780">
            <a:solidFill>
              <a:srgbClr val="BE185D"/>
            </a:solidFill>
            <a:prstDash val="dash"/>
          </a:ln>
        </p:spPr>
      </p:sp>
      <p:sp>
        <p:nvSpPr>
          <p:cNvPr id="153" name="Shape 151"/>
          <p:cNvSpPr/>
          <p:nvPr/>
        </p:nvSpPr>
        <p:spPr>
          <a:xfrm>
            <a:off x="9620250" y="4191000"/>
            <a:ext cx="0" cy="1441450"/>
          </a:xfrm>
          <a:prstGeom prst="line">
            <a:avLst/>
          </a:prstGeom>
          <a:noFill/>
          <a:ln w="17780">
            <a:solidFill>
              <a:srgbClr val="BE185D"/>
            </a:solidFill>
            <a:prstDash val="dash"/>
          </a:ln>
        </p:spPr>
      </p:sp>
      <p:sp>
        <p:nvSpPr>
          <p:cNvPr id="154" name="Shape 152"/>
          <p:cNvSpPr/>
          <p:nvPr/>
        </p:nvSpPr>
        <p:spPr>
          <a:xfrm flipH="1">
            <a:off x="1028700" y="5632450"/>
            <a:ext cx="8591550" cy="0"/>
          </a:xfrm>
          <a:prstGeom prst="line">
            <a:avLst/>
          </a:prstGeom>
          <a:noFill/>
          <a:ln w="17780">
            <a:solidFill>
              <a:srgbClr val="BE185D"/>
            </a:solidFill>
            <a:prstDash val="dash"/>
          </a:ln>
        </p:spPr>
      </p:sp>
      <p:sp>
        <p:nvSpPr>
          <p:cNvPr id="155" name="Shape 153"/>
          <p:cNvSpPr/>
          <p:nvPr/>
        </p:nvSpPr>
        <p:spPr>
          <a:xfrm flipV="1">
            <a:off x="1028700" y="4965700"/>
            <a:ext cx="0" cy="666750"/>
          </a:xfrm>
          <a:prstGeom prst="line">
            <a:avLst/>
          </a:prstGeom>
          <a:noFill/>
          <a:ln w="17780">
            <a:solidFill>
              <a:srgbClr val="BE185D"/>
            </a:solidFill>
            <a:prstDash val="dash"/>
            <a:tailEnd type="triangle"/>
          </a:ln>
        </p:spPr>
      </p:sp>
      <p:sp>
        <p:nvSpPr>
          <p:cNvPr id="156" name="Text 154"/>
          <p:cNvSpPr txBox="1"/>
          <p:nvPr/>
        </p:nvSpPr>
        <p:spPr>
          <a:xfrm>
            <a:off x="3556000" y="5556250"/>
            <a:ext cx="2413000" cy="889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console tasks (decisions resume the graph)</a:t>
            </a:r>
            <a:endParaRPr lang="en-US" sz="650" dirty="0"/>
          </a:p>
        </p:txBody>
      </p:sp>
      <p:sp>
        <p:nvSpPr>
          <p:cNvPr id="157" name="Text 155"/>
          <p:cNvSpPr/>
          <p:nvPr/>
        </p:nvSpPr>
        <p:spPr>
          <a:xfrm>
            <a:off x="9728200" y="4381500"/>
            <a:ext cx="2260600" cy="368300"/>
          </a:xfrm>
          <a:prstGeom prst="can">
            <a:avLst>
              <a:gd name="adj" fmla="val 14897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answers (exact + vector) · ② embeddings · rate limits</a:t>
            </a:r>
            <a:endParaRPr lang="en-US" sz="850" dirty="0"/>
          </a:p>
        </p:txBody>
      </p:sp>
      <p:sp>
        <p:nvSpPr>
          <p:cNvPr id="158" name="Text 156"/>
          <p:cNvSpPr/>
          <p:nvPr/>
        </p:nvSpPr>
        <p:spPr>
          <a:xfrm>
            <a:off x="9728200" y="4800600"/>
            <a:ext cx="2260600" cy="368300"/>
          </a:xfrm>
          <a:prstGeom prst="can">
            <a:avLst>
              <a:gd name="adj" fmla="val 14897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hr_chatbot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STM, LTM, sessions, HITL checkpoints, audit, feedback</a:t>
            </a:r>
            <a:endParaRPr lang="en-US" sz="850" dirty="0"/>
          </a:p>
        </p:txBody>
      </p:sp>
      <p:sp>
        <p:nvSpPr>
          <p:cNvPr id="159" name="Text 157"/>
          <p:cNvSpPr/>
          <p:nvPr/>
        </p:nvSpPr>
        <p:spPr>
          <a:xfrm>
            <a:off x="9728200" y="5219700"/>
            <a:ext cx="2260600" cy="317500"/>
          </a:xfrm>
          <a:prstGeom prst="roundRect">
            <a:avLst>
              <a:gd name="adj" fmla="val 17280"/>
            </a:avLst>
          </a:prstGeom>
          <a:solidFill>
            <a:srgbClr val="FFFBEA"/>
          </a:solidFill>
          <a:ln w="12700">
            <a:solidFill>
              <a:srgbClr val="E0C35A"/>
            </a:solidFill>
            <a:prstDash val="dash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invalidation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doc version clears ① · admin endpoints clear ① / ②</a:t>
            </a:r>
            <a:endParaRPr lang="en-US" sz="850" dirty="0"/>
          </a:p>
        </p:txBody>
      </p:sp>
      <p:sp>
        <p:nvSpPr>
          <p:cNvPr id="160" name="Shape 158"/>
          <p:cNvSpPr/>
          <p:nvPr/>
        </p:nvSpPr>
        <p:spPr>
          <a:xfrm>
            <a:off x="127000" y="5676900"/>
            <a:ext cx="11938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dash"/>
          </a:ln>
        </p:spPr>
      </p:sp>
      <p:sp>
        <p:nvSpPr>
          <p:cNvPr id="161" name="Text 159"/>
          <p:cNvSpPr txBox="1"/>
          <p:nvPr/>
        </p:nvSpPr>
        <p:spPr>
          <a:xfrm>
            <a:off x="215900" y="5740400"/>
            <a:ext cx="149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Ingestion</a:t>
            </a:r>
            <a:endParaRPr lang="en-US" sz="1100" dirty="0"/>
          </a:p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· on document change</a:t>
            </a:r>
            <a:endParaRPr lang="en-US" sz="1100" dirty="0"/>
          </a:p>
        </p:txBody>
      </p:sp>
      <p:sp>
        <p:nvSpPr>
          <p:cNvPr id="162" name="Text 160"/>
          <p:cNvSpPr/>
          <p:nvPr/>
        </p:nvSpPr>
        <p:spPr>
          <a:xfrm>
            <a:off x="215900" y="6083300"/>
            <a:ext cx="444500" cy="114300"/>
          </a:xfrm>
          <a:prstGeom prst="roundRect">
            <a:avLst>
              <a:gd name="adj" fmla="val 40000"/>
            </a:avLst>
          </a:prstGeom>
          <a:solidFill>
            <a:srgbClr val="5B6B7A"/>
          </a:solidFill>
          <a:ln w="6350">
            <a:solidFill>
              <a:srgbClr val="5B6B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700" dirty="0"/>
          </a:p>
        </p:txBody>
      </p:sp>
      <p:sp>
        <p:nvSpPr>
          <p:cNvPr id="163" name="Text 161"/>
          <p:cNvSpPr/>
          <p:nvPr/>
        </p:nvSpPr>
        <p:spPr>
          <a:xfrm>
            <a:off x="1841500" y="5867400"/>
            <a:ext cx="1397000" cy="381000"/>
          </a:xfrm>
          <a:prstGeom prst="roundRect">
            <a:avLst>
              <a:gd name="adj" fmla="val 144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documents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Excel, PPT, scans · doc_id + version</a:t>
            </a:r>
            <a:endParaRPr lang="en-US" sz="850" dirty="0"/>
          </a:p>
        </p:txBody>
      </p:sp>
      <p:sp>
        <p:nvSpPr>
          <p:cNvPr id="164" name="Text 162"/>
          <p:cNvSpPr/>
          <p:nvPr/>
        </p:nvSpPr>
        <p:spPr>
          <a:xfrm>
            <a:off x="3429000" y="5867400"/>
            <a:ext cx="1397000" cy="381000"/>
          </a:xfrm>
          <a:prstGeom prst="roundRect">
            <a:avLst>
              <a:gd name="adj" fmla="val 144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Parser (Multi-Modal)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text, tables, images · tool [INSERT]</a:t>
            </a:r>
            <a:endParaRPr lang="en-US" sz="800" dirty="0"/>
          </a:p>
        </p:txBody>
      </p:sp>
      <p:sp>
        <p:nvSpPr>
          <p:cNvPr id="165" name="Text 163"/>
          <p:cNvSpPr/>
          <p:nvPr/>
        </p:nvSpPr>
        <p:spPr>
          <a:xfrm>
            <a:off x="5080000" y="5867400"/>
            <a:ext cx="1587500" cy="381000"/>
          </a:xfrm>
          <a:prstGeom prst="roundRect">
            <a:avLst>
              <a:gd name="adj" fmla="val 144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section-aware chunks</a:t>
            </a:r>
            <a:endParaRPr lang="en-US" sz="850" dirty="0"/>
          </a:p>
        </p:txBody>
      </p:sp>
      <p:sp>
        <p:nvSpPr>
          <p:cNvPr id="166" name="Text 164"/>
          <p:cNvSpPr/>
          <p:nvPr/>
        </p:nvSpPr>
        <p:spPr>
          <a:xfrm>
            <a:off x="6794500" y="5867400"/>
            <a:ext cx="1714500" cy="381000"/>
          </a:xfrm>
          <a:prstGeom prst="roundRect">
            <a:avLst>
              <a:gd name="adj" fmla="val 14400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full table + short summary for search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LLM</a:t>
            </a:r>
            <a:endParaRPr lang="en-US" sz="850" dirty="0"/>
          </a:p>
        </p:txBody>
      </p:sp>
      <p:sp>
        <p:nvSpPr>
          <p:cNvPr id="167" name="Text 165"/>
          <p:cNvSpPr/>
          <p:nvPr/>
        </p:nvSpPr>
        <p:spPr>
          <a:xfrm>
            <a:off x="8636000" y="5867400"/>
            <a:ext cx="1651000" cy="381000"/>
          </a:xfrm>
          <a:prstGeom prst="roundRect">
            <a:avLst>
              <a:gd name="adj" fmla="val 14400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/ scans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caption for search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 [INSERT]</a:t>
            </a:r>
            <a:endParaRPr lang="en-US" sz="850" dirty="0"/>
          </a:p>
        </p:txBody>
      </p:sp>
      <p:sp>
        <p:nvSpPr>
          <p:cNvPr id="168" name="Text 166"/>
          <p:cNvSpPr/>
          <p:nvPr/>
        </p:nvSpPr>
        <p:spPr>
          <a:xfrm>
            <a:off x="10477500" y="5867400"/>
            <a:ext cx="1498600" cy="381000"/>
          </a:xfrm>
          <a:prstGeom prst="roundRect">
            <a:avLst>
              <a:gd name="adj" fmla="val 14400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store (S3)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tables and images for citations</a:t>
            </a:r>
            <a:endParaRPr lang="en-US" sz="850" dirty="0"/>
          </a:p>
        </p:txBody>
      </p:sp>
      <p:sp>
        <p:nvSpPr>
          <p:cNvPr id="169" name="Shape 167"/>
          <p:cNvSpPr/>
          <p:nvPr/>
        </p:nvSpPr>
        <p:spPr>
          <a:xfrm>
            <a:off x="3238500" y="6045200"/>
            <a:ext cx="1778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70" name="Shape 168"/>
          <p:cNvSpPr/>
          <p:nvPr/>
        </p:nvSpPr>
        <p:spPr>
          <a:xfrm flipV="1">
            <a:off x="4127500" y="5816600"/>
            <a:ext cx="0" cy="508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127500" y="5816600"/>
            <a:ext cx="174625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5873750" y="5816600"/>
            <a:ext cx="0" cy="381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73" name="Shape 171"/>
          <p:cNvSpPr/>
          <p:nvPr/>
        </p:nvSpPr>
        <p:spPr>
          <a:xfrm>
            <a:off x="5873750" y="5816600"/>
            <a:ext cx="17780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651750" y="5816600"/>
            <a:ext cx="0" cy="381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75" name="Shape 173"/>
          <p:cNvSpPr/>
          <p:nvPr/>
        </p:nvSpPr>
        <p:spPr>
          <a:xfrm>
            <a:off x="7651750" y="5816600"/>
            <a:ext cx="180975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9461500" y="5816600"/>
            <a:ext cx="0" cy="381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77" name="Shape 175"/>
          <p:cNvSpPr/>
          <p:nvPr/>
        </p:nvSpPr>
        <p:spPr>
          <a:xfrm>
            <a:off x="10287000" y="6045200"/>
            <a:ext cx="1778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>
            <a:off x="5873750" y="6248400"/>
            <a:ext cx="0" cy="762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651750" y="6248400"/>
            <a:ext cx="0" cy="762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461500" y="6248400"/>
            <a:ext cx="0" cy="762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flipH="1">
            <a:off x="2635250" y="6324600"/>
            <a:ext cx="682625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2635250" y="6324600"/>
            <a:ext cx="0" cy="635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83" name="Text 181"/>
          <p:cNvSpPr/>
          <p:nvPr/>
        </p:nvSpPr>
        <p:spPr>
          <a:xfrm>
            <a:off x="1841500" y="6400800"/>
            <a:ext cx="1587500" cy="381000"/>
          </a:xfrm>
          <a:prstGeom prst="roundRect">
            <a:avLst>
              <a:gd name="adj" fmla="val 144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+ hash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modality, plan, year, version · hash</a:t>
            </a:r>
            <a:endParaRPr lang="en-US" sz="850" dirty="0"/>
          </a:p>
        </p:txBody>
      </p:sp>
      <p:sp>
        <p:nvSpPr>
          <p:cNvPr id="184" name="Text 182"/>
          <p:cNvSpPr/>
          <p:nvPr/>
        </p:nvSpPr>
        <p:spPr>
          <a:xfrm>
            <a:off x="3619500" y="6400800"/>
            <a:ext cx="1587500" cy="381000"/>
          </a:xfrm>
          <a:prstGeom prst="roundRect">
            <a:avLst>
              <a:gd name="adj" fmla="val 14400"/>
            </a:avLst>
          </a:prstGeom>
          <a:solidFill>
            <a:srgbClr val="EEE6FB"/>
          </a:solidFill>
          <a:ln w="12700">
            <a:solidFill>
              <a:srgbClr val="AE8FE3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Cache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hit: reuse vector for unchanged chunks</a:t>
            </a:r>
            <a:endParaRPr lang="en-US" sz="850" dirty="0"/>
          </a:p>
        </p:txBody>
      </p:sp>
      <p:sp>
        <p:nvSpPr>
          <p:cNvPr id="185" name="Text 183"/>
          <p:cNvSpPr/>
          <p:nvPr/>
        </p:nvSpPr>
        <p:spPr>
          <a:xfrm>
            <a:off x="3562350" y="6343650"/>
            <a:ext cx="127000" cy="127000"/>
          </a:xfrm>
          <a:prstGeom prst="ellipse">
            <a:avLst/>
          </a:prstGeom>
          <a:solidFill>
            <a:srgbClr val="6A3FC8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86" name="Text 184"/>
          <p:cNvSpPr/>
          <p:nvPr/>
        </p:nvSpPr>
        <p:spPr>
          <a:xfrm>
            <a:off x="5397500" y="6400800"/>
            <a:ext cx="1714500" cy="381000"/>
          </a:xfrm>
          <a:prstGeom prst="roundRect">
            <a:avLst>
              <a:gd name="adj" fmla="val 144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 · changed chunks only</a:t>
            </a:r>
            <a:endParaRPr lang="en-US" sz="850" dirty="0"/>
          </a:p>
        </p:txBody>
      </p:sp>
      <p:sp>
        <p:nvSpPr>
          <p:cNvPr id="187" name="Text 185"/>
          <p:cNvSpPr/>
          <p:nvPr/>
        </p:nvSpPr>
        <p:spPr>
          <a:xfrm>
            <a:off x="9525000" y="6400800"/>
            <a:ext cx="2451100" cy="381000"/>
          </a:xfrm>
          <a:prstGeom prst="roundRect">
            <a:avLst>
              <a:gd name="adj" fmla="val 14400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into ChromaDB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hr_policies by chunk id · text, table summaries, image captions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3429000" y="6578600"/>
            <a:ext cx="1778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89" name="Shape 187"/>
          <p:cNvSpPr/>
          <p:nvPr/>
        </p:nvSpPr>
        <p:spPr>
          <a:xfrm>
            <a:off x="5207000" y="6578600"/>
            <a:ext cx="177800" cy="0"/>
          </a:xfrm>
          <a:prstGeom prst="line">
            <a:avLst/>
          </a:prstGeom>
          <a:noFill/>
          <a:ln w="17780">
            <a:solidFill>
              <a:srgbClr val="E53935"/>
            </a:solidFill>
            <a:prstDash val="dash"/>
            <a:tailEnd type="triangle"/>
          </a:ln>
        </p:spPr>
      </p:sp>
      <p:sp>
        <p:nvSpPr>
          <p:cNvPr id="190" name="Text 188"/>
          <p:cNvSpPr txBox="1"/>
          <p:nvPr/>
        </p:nvSpPr>
        <p:spPr>
          <a:xfrm>
            <a:off x="5219700" y="6451600"/>
            <a:ext cx="16510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600" dirty="0"/>
          </a:p>
        </p:txBody>
      </p:sp>
      <p:sp>
        <p:nvSpPr>
          <p:cNvPr id="191" name="Shape 189"/>
          <p:cNvSpPr/>
          <p:nvPr/>
        </p:nvSpPr>
        <p:spPr>
          <a:xfrm>
            <a:off x="7112000" y="6578600"/>
            <a:ext cx="24003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92" name="Shape 190"/>
          <p:cNvSpPr/>
          <p:nvPr/>
        </p:nvSpPr>
        <p:spPr>
          <a:xfrm>
            <a:off x="11976100" y="6515100"/>
            <a:ext cx="88900" cy="0"/>
          </a:xfrm>
          <a:prstGeom prst="line">
            <a:avLst/>
          </a:prstGeom>
          <a:noFill/>
          <a:ln w="17780">
            <a:solidFill>
              <a:srgbClr val="C49100"/>
            </a:solidFill>
            <a:prstDash val="dash"/>
          </a:ln>
        </p:spPr>
      </p:sp>
      <p:sp>
        <p:nvSpPr>
          <p:cNvPr id="193" name="Shape 191"/>
          <p:cNvSpPr/>
          <p:nvPr/>
        </p:nvSpPr>
        <p:spPr>
          <a:xfrm flipV="1">
            <a:off x="12065000" y="5378450"/>
            <a:ext cx="0" cy="1136650"/>
          </a:xfrm>
          <a:prstGeom prst="line">
            <a:avLst/>
          </a:prstGeom>
          <a:noFill/>
          <a:ln w="17780">
            <a:solidFill>
              <a:srgbClr val="C49100"/>
            </a:solidFill>
            <a:prstDash val="dash"/>
          </a:ln>
        </p:spPr>
      </p:sp>
      <p:sp>
        <p:nvSpPr>
          <p:cNvPr id="194" name="Shape 192"/>
          <p:cNvSpPr/>
          <p:nvPr/>
        </p:nvSpPr>
        <p:spPr>
          <a:xfrm flipH="1">
            <a:off x="12001500" y="5378450"/>
            <a:ext cx="63500" cy="0"/>
          </a:xfrm>
          <a:prstGeom prst="line">
            <a:avLst/>
          </a:prstGeom>
          <a:noFill/>
          <a:ln w="17780">
            <a:solidFill>
              <a:srgbClr val="C49100"/>
            </a:solidFill>
            <a:prstDash val="dash"/>
            <a:tailEnd type="triangle"/>
          </a:ln>
        </p:spPr>
      </p:sp>
      <p:sp>
        <p:nvSpPr>
          <p:cNvPr id="195" name="Shape 193"/>
          <p:cNvSpPr/>
          <p:nvPr/>
        </p:nvSpPr>
        <p:spPr>
          <a:xfrm>
            <a:off x="11976100" y="6654800"/>
            <a:ext cx="1524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dash"/>
          </a:ln>
        </p:spPr>
      </p:sp>
      <p:sp>
        <p:nvSpPr>
          <p:cNvPr id="196" name="Shape 194"/>
          <p:cNvSpPr/>
          <p:nvPr/>
        </p:nvSpPr>
        <p:spPr>
          <a:xfrm flipV="1">
            <a:off x="12128500" y="1784350"/>
            <a:ext cx="0" cy="4870450"/>
          </a:xfrm>
          <a:prstGeom prst="line">
            <a:avLst/>
          </a:prstGeom>
          <a:noFill/>
          <a:ln w="17780">
            <a:solidFill>
              <a:srgbClr val="6B7B8C"/>
            </a:solidFill>
            <a:prstDash val="dash"/>
          </a:ln>
        </p:spPr>
      </p:sp>
      <p:sp>
        <p:nvSpPr>
          <p:cNvPr id="197" name="Shape 195"/>
          <p:cNvSpPr/>
          <p:nvPr/>
        </p:nvSpPr>
        <p:spPr>
          <a:xfrm flipH="1">
            <a:off x="12001500" y="1784350"/>
            <a:ext cx="1270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dash"/>
            <a:tailEnd type="triangle"/>
          </a:ln>
        </p:spPr>
      </p:sp>
      <p:sp>
        <p:nvSpPr>
          <p:cNvPr id="198" name="Shape 196"/>
          <p:cNvSpPr/>
          <p:nvPr/>
        </p:nvSpPr>
        <p:spPr>
          <a:xfrm>
            <a:off x="127000" y="6870700"/>
            <a:ext cx="119380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solid"/>
          </a:ln>
        </p:spPr>
      </p:sp>
      <p:sp>
        <p:nvSpPr>
          <p:cNvPr id="199" name="Text 197"/>
          <p:cNvSpPr txBox="1"/>
          <p:nvPr/>
        </p:nvSpPr>
        <p:spPr>
          <a:xfrm>
            <a:off x="215900" y="6908800"/>
            <a:ext cx="11747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  </a:t>
            </a:r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manager, audit log, encryption      </a:t>
            </a:r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per step, tokens, cost, cache hit rate      </a:t>
            </a:r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 (specs/06), LLM-as-judge + human review, release gate · feedback loop: thumbs → eval set + cache delete</a:t>
            </a:r>
            <a:endParaRPr lang="en-US" sz="850" dirty="0"/>
          </a:p>
        </p:txBody>
      </p:sp>
      <p:sp>
        <p:nvSpPr>
          <p:cNvPr id="200" name="Text 198"/>
          <p:cNvSpPr txBox="1"/>
          <p:nvPr/>
        </p:nvSpPr>
        <p:spPr>
          <a:xfrm>
            <a:off x="215900" y="7099300"/>
            <a:ext cx="444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201" name="Shape 199"/>
          <p:cNvSpPr/>
          <p:nvPr/>
        </p:nvSpPr>
        <p:spPr>
          <a:xfrm>
            <a:off x="698500" y="7150100"/>
            <a:ext cx="190500" cy="0"/>
          </a:xfrm>
          <a:prstGeom prst="line">
            <a:avLst/>
          </a:prstGeom>
          <a:noFill/>
          <a:ln w="20320">
            <a:solidFill>
              <a:srgbClr val="334E7A"/>
            </a:solidFill>
            <a:prstDash val="solid"/>
          </a:ln>
        </p:spPr>
      </p:sp>
      <p:sp>
        <p:nvSpPr>
          <p:cNvPr id="202" name="Text 200"/>
          <p:cNvSpPr txBox="1"/>
          <p:nvPr/>
        </p:nvSpPr>
        <p:spPr>
          <a:xfrm>
            <a:off x="927100" y="7099300"/>
            <a:ext cx="62738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750" dirty="0"/>
          </a:p>
        </p:txBody>
      </p:sp>
      <p:sp>
        <p:nvSpPr>
          <p:cNvPr id="203" name="Shape 201"/>
          <p:cNvSpPr/>
          <p:nvPr/>
        </p:nvSpPr>
        <p:spPr>
          <a:xfrm>
            <a:off x="1630680" y="7150100"/>
            <a:ext cx="190500" cy="0"/>
          </a:xfrm>
          <a:prstGeom prst="line">
            <a:avLst/>
          </a:prstGeom>
          <a:noFill/>
          <a:ln w="20320">
            <a:solidFill>
              <a:srgbClr val="2E9E48"/>
            </a:solidFill>
            <a:prstDash val="dash"/>
          </a:ln>
        </p:spPr>
      </p:sp>
      <p:sp>
        <p:nvSpPr>
          <p:cNvPr id="204" name="Text 202"/>
          <p:cNvSpPr txBox="1"/>
          <p:nvPr/>
        </p:nvSpPr>
        <p:spPr>
          <a:xfrm>
            <a:off x="1859280" y="7099300"/>
            <a:ext cx="10033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/ cache hit</a:t>
            </a:r>
            <a:endParaRPr lang="en-US" sz="750" dirty="0"/>
          </a:p>
        </p:txBody>
      </p:sp>
      <p:sp>
        <p:nvSpPr>
          <p:cNvPr id="205" name="Shape 203"/>
          <p:cNvSpPr/>
          <p:nvPr/>
        </p:nvSpPr>
        <p:spPr>
          <a:xfrm>
            <a:off x="2938780" y="7150100"/>
            <a:ext cx="190500" cy="0"/>
          </a:xfrm>
          <a:prstGeom prst="line">
            <a:avLst/>
          </a:prstGeom>
          <a:noFill/>
          <a:ln w="20320">
            <a:solidFill>
              <a:srgbClr val="E53935"/>
            </a:solidFill>
            <a:prstDash val="dash"/>
          </a:ln>
        </p:spPr>
      </p:sp>
      <p:sp>
        <p:nvSpPr>
          <p:cNvPr id="206" name="Text 204"/>
          <p:cNvSpPr txBox="1"/>
          <p:nvPr/>
        </p:nvSpPr>
        <p:spPr>
          <a:xfrm>
            <a:off x="3167380" y="7099300"/>
            <a:ext cx="5334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</a:t>
            </a:r>
            <a:endParaRPr lang="en-US" sz="750" dirty="0"/>
          </a:p>
        </p:txBody>
      </p:sp>
      <p:sp>
        <p:nvSpPr>
          <p:cNvPr id="207" name="Shape 205"/>
          <p:cNvSpPr/>
          <p:nvPr/>
        </p:nvSpPr>
        <p:spPr>
          <a:xfrm>
            <a:off x="3776980" y="7150100"/>
            <a:ext cx="190500" cy="0"/>
          </a:xfrm>
          <a:prstGeom prst="line">
            <a:avLst/>
          </a:prstGeom>
          <a:noFill/>
          <a:ln w="20320">
            <a:solidFill>
              <a:srgbClr val="6B7B8C"/>
            </a:solidFill>
            <a:prstDash val="solid"/>
          </a:ln>
        </p:spPr>
      </p:sp>
      <p:sp>
        <p:nvSpPr>
          <p:cNvPr id="208" name="Text 206"/>
          <p:cNvSpPr txBox="1"/>
          <p:nvPr/>
        </p:nvSpPr>
        <p:spPr>
          <a:xfrm>
            <a:off x="4005580" y="7099300"/>
            <a:ext cx="81534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data call</a:t>
            </a:r>
            <a:endParaRPr lang="en-US" sz="750" dirty="0"/>
          </a:p>
        </p:txBody>
      </p:sp>
      <p:sp>
        <p:nvSpPr>
          <p:cNvPr id="209" name="Shape 207"/>
          <p:cNvSpPr/>
          <p:nvPr/>
        </p:nvSpPr>
        <p:spPr>
          <a:xfrm>
            <a:off x="4897120" y="7150100"/>
            <a:ext cx="190500" cy="0"/>
          </a:xfrm>
          <a:prstGeom prst="line">
            <a:avLst/>
          </a:prstGeom>
          <a:noFill/>
          <a:ln w="20320">
            <a:solidFill>
              <a:srgbClr val="8E63D6"/>
            </a:solidFill>
            <a:prstDash val="dash"/>
          </a:ln>
        </p:spPr>
      </p:sp>
      <p:sp>
        <p:nvSpPr>
          <p:cNvPr id="210" name="Text 208"/>
          <p:cNvSpPr txBox="1"/>
          <p:nvPr/>
        </p:nvSpPr>
        <p:spPr>
          <a:xfrm>
            <a:off x="5125720" y="7099300"/>
            <a:ext cx="43942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</a:t>
            </a:r>
            <a:endParaRPr lang="en-US" sz="750" dirty="0"/>
          </a:p>
        </p:txBody>
      </p:sp>
      <p:sp>
        <p:nvSpPr>
          <p:cNvPr id="211" name="Shape 209"/>
          <p:cNvSpPr/>
          <p:nvPr/>
        </p:nvSpPr>
        <p:spPr>
          <a:xfrm>
            <a:off x="5641340" y="7105650"/>
            <a:ext cx="139700" cy="88900"/>
          </a:xfrm>
          <a:prstGeom prst="roundRect">
            <a:avLst>
              <a:gd name="adj" fmla="val 30857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</p:spPr>
      </p:sp>
      <p:sp>
        <p:nvSpPr>
          <p:cNvPr id="212" name="Text 210"/>
          <p:cNvSpPr txBox="1"/>
          <p:nvPr/>
        </p:nvSpPr>
        <p:spPr>
          <a:xfrm>
            <a:off x="5819140" y="7099300"/>
            <a:ext cx="43942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750" dirty="0"/>
          </a:p>
        </p:txBody>
      </p:sp>
      <p:sp>
        <p:nvSpPr>
          <p:cNvPr id="213" name="Shape 211"/>
          <p:cNvSpPr/>
          <p:nvPr/>
        </p:nvSpPr>
        <p:spPr>
          <a:xfrm>
            <a:off x="6296660" y="7105650"/>
            <a:ext cx="139700" cy="88900"/>
          </a:xfrm>
          <a:prstGeom prst="roundRect">
            <a:avLst>
              <a:gd name="adj" fmla="val 30857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</p:spPr>
      </p:sp>
      <p:sp>
        <p:nvSpPr>
          <p:cNvPr id="214" name="Text 212"/>
          <p:cNvSpPr txBox="1"/>
          <p:nvPr/>
        </p:nvSpPr>
        <p:spPr>
          <a:xfrm>
            <a:off x="6474460" y="7099300"/>
            <a:ext cx="39243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step</a:t>
            </a:r>
            <a:endParaRPr lang="en-US" sz="750" dirty="0"/>
          </a:p>
        </p:txBody>
      </p:sp>
      <p:sp>
        <p:nvSpPr>
          <p:cNvPr id="215" name="Shape 213"/>
          <p:cNvSpPr/>
          <p:nvPr/>
        </p:nvSpPr>
        <p:spPr>
          <a:xfrm>
            <a:off x="6904990" y="7105650"/>
            <a:ext cx="139700" cy="88900"/>
          </a:xfrm>
          <a:prstGeom prst="roundRect">
            <a:avLst>
              <a:gd name="adj" fmla="val 30857"/>
            </a:avLst>
          </a:prstGeom>
          <a:solidFill>
            <a:srgbClr val="4A2B8F"/>
          </a:solidFill>
          <a:ln w="12700">
            <a:solidFill>
              <a:srgbClr val="3A2072"/>
            </a:solidFill>
            <a:prstDash val="solid"/>
          </a:ln>
        </p:spPr>
      </p:sp>
      <p:sp>
        <p:nvSpPr>
          <p:cNvPr id="216" name="Text 214"/>
          <p:cNvSpPr txBox="1"/>
          <p:nvPr/>
        </p:nvSpPr>
        <p:spPr>
          <a:xfrm>
            <a:off x="7082790" y="7099300"/>
            <a:ext cx="62738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agent</a:t>
            </a:r>
            <a:endParaRPr lang="en-US" sz="750" dirty="0"/>
          </a:p>
        </p:txBody>
      </p:sp>
      <p:sp>
        <p:nvSpPr>
          <p:cNvPr id="217" name="Shape 215"/>
          <p:cNvSpPr/>
          <p:nvPr/>
        </p:nvSpPr>
        <p:spPr>
          <a:xfrm>
            <a:off x="7748270" y="7105650"/>
            <a:ext cx="139700" cy="88900"/>
          </a:xfrm>
          <a:prstGeom prst="roundRect">
            <a:avLst>
              <a:gd name="adj" fmla="val 30857"/>
            </a:avLst>
          </a:prstGeom>
          <a:solidFill>
            <a:srgbClr val="1F3B63"/>
          </a:solidFill>
          <a:ln w="12700">
            <a:solidFill>
              <a:srgbClr val="16304F"/>
            </a:solidFill>
            <a:prstDash val="solid"/>
          </a:ln>
        </p:spPr>
      </p:sp>
      <p:sp>
        <p:nvSpPr>
          <p:cNvPr id="218" name="Text 216"/>
          <p:cNvSpPr txBox="1"/>
          <p:nvPr/>
        </p:nvSpPr>
        <p:spPr>
          <a:xfrm>
            <a:off x="7926070" y="7099300"/>
            <a:ext cx="43942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50" dirty="0"/>
          </a:p>
        </p:txBody>
      </p:sp>
      <p:sp>
        <p:nvSpPr>
          <p:cNvPr id="219" name="Shape 217"/>
          <p:cNvSpPr/>
          <p:nvPr/>
        </p:nvSpPr>
        <p:spPr>
          <a:xfrm>
            <a:off x="8403590" y="7105650"/>
            <a:ext cx="139700" cy="88900"/>
          </a:xfrm>
          <a:prstGeom prst="roundRect">
            <a:avLst>
              <a:gd name="adj" fmla="val 30857"/>
            </a:avLst>
          </a:prstGeom>
          <a:solidFill>
            <a:srgbClr val="0F766E"/>
          </a:solidFill>
          <a:ln w="12700">
            <a:solidFill>
              <a:srgbClr val="0B5E57"/>
            </a:solidFill>
            <a:prstDash val="solid"/>
          </a:ln>
        </p:spPr>
      </p:sp>
      <p:sp>
        <p:nvSpPr>
          <p:cNvPr id="220" name="Text 218"/>
          <p:cNvSpPr txBox="1"/>
          <p:nvPr/>
        </p:nvSpPr>
        <p:spPr>
          <a:xfrm>
            <a:off x="8581390" y="7099300"/>
            <a:ext cx="5334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750" dirty="0"/>
          </a:p>
        </p:txBody>
      </p:sp>
      <p:sp>
        <p:nvSpPr>
          <p:cNvPr id="221" name="Shape 219"/>
          <p:cNvSpPr/>
          <p:nvPr/>
        </p:nvSpPr>
        <p:spPr>
          <a:xfrm>
            <a:off x="9152890" y="7105650"/>
            <a:ext cx="139700" cy="88900"/>
          </a:xfrm>
          <a:prstGeom prst="roundRect">
            <a:avLst>
              <a:gd name="adj" fmla="val 30857"/>
            </a:avLst>
          </a:prstGeom>
          <a:solidFill>
            <a:srgbClr val="BE185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222" name="Text 220"/>
          <p:cNvSpPr txBox="1"/>
          <p:nvPr/>
        </p:nvSpPr>
        <p:spPr>
          <a:xfrm>
            <a:off x="9330690" y="7099300"/>
            <a:ext cx="86233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750" dirty="0"/>
          </a:p>
        </p:txBody>
      </p:sp>
      <p:sp>
        <p:nvSpPr>
          <p:cNvPr id="223" name="Shape 221"/>
          <p:cNvSpPr/>
          <p:nvPr/>
        </p:nvSpPr>
        <p:spPr>
          <a:xfrm>
            <a:off x="10231120" y="7105650"/>
            <a:ext cx="139700" cy="88900"/>
          </a:xfrm>
          <a:prstGeom prst="roundRect">
            <a:avLst>
              <a:gd name="adj" fmla="val 30857"/>
            </a:avLst>
          </a:prstGeom>
          <a:solidFill>
            <a:srgbClr val="FFF1D6"/>
          </a:solidFill>
          <a:ln w="12700">
            <a:solidFill>
              <a:srgbClr val="E9B04E"/>
            </a:solidFill>
            <a:prstDash val="solid"/>
          </a:ln>
        </p:spPr>
      </p:sp>
      <p:sp>
        <p:nvSpPr>
          <p:cNvPr id="224" name="Text 222"/>
          <p:cNvSpPr txBox="1"/>
          <p:nvPr/>
        </p:nvSpPr>
        <p:spPr>
          <a:xfrm>
            <a:off x="10408920" y="7099300"/>
            <a:ext cx="39243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750" dirty="0"/>
          </a:p>
        </p:txBody>
      </p:sp>
      <p:sp>
        <p:nvSpPr>
          <p:cNvPr id="225" name="Shape 223"/>
          <p:cNvSpPr/>
          <p:nvPr/>
        </p:nvSpPr>
        <p:spPr>
          <a:xfrm>
            <a:off x="10839450" y="7105650"/>
            <a:ext cx="139700" cy="88900"/>
          </a:xfrm>
          <a:prstGeom prst="roundRect">
            <a:avLst>
              <a:gd name="adj" fmla="val 30857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</p:spPr>
      </p:sp>
      <p:sp>
        <p:nvSpPr>
          <p:cNvPr id="226" name="Text 224"/>
          <p:cNvSpPr txBox="1"/>
          <p:nvPr/>
        </p:nvSpPr>
        <p:spPr>
          <a:xfrm>
            <a:off x="11017250" y="7099300"/>
            <a:ext cx="5334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750" dirty="0"/>
          </a:p>
        </p:txBody>
      </p:sp>
      <p:sp>
        <p:nvSpPr>
          <p:cNvPr id="227" name="Shape 225"/>
          <p:cNvSpPr/>
          <p:nvPr/>
        </p:nvSpPr>
        <p:spPr>
          <a:xfrm>
            <a:off x="11588750" y="7105650"/>
            <a:ext cx="139700" cy="88900"/>
          </a:xfrm>
          <a:prstGeom prst="roundRect">
            <a:avLst>
              <a:gd name="adj" fmla="val 30857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</p:spPr>
      </p:sp>
      <p:sp>
        <p:nvSpPr>
          <p:cNvPr id="228" name="Text 226"/>
          <p:cNvSpPr txBox="1"/>
          <p:nvPr/>
        </p:nvSpPr>
        <p:spPr>
          <a:xfrm>
            <a:off x="11766550" y="7099300"/>
            <a:ext cx="43942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750" dirty="0"/>
          </a:p>
        </p:txBody>
      </p:sp>
      <p:sp>
        <p:nvSpPr>
          <p:cNvPr id="229" name="Text 227"/>
          <p:cNvSpPr/>
          <p:nvPr/>
        </p:nvSpPr>
        <p:spPr>
          <a:xfrm>
            <a:off x="698500" y="7321550"/>
            <a:ext cx="127000" cy="127000"/>
          </a:xfrm>
          <a:prstGeom prst="ellipse">
            <a:avLst/>
          </a:prstGeom>
          <a:solidFill>
            <a:srgbClr val="E53935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230" name="Text 228"/>
          <p:cNvSpPr txBox="1"/>
          <p:nvPr/>
        </p:nvSpPr>
        <p:spPr>
          <a:xfrm>
            <a:off x="838200" y="7327900"/>
            <a:ext cx="62738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cache</a:t>
            </a:r>
            <a:endParaRPr lang="en-US" sz="750" dirty="0"/>
          </a:p>
        </p:txBody>
      </p:sp>
      <p:sp>
        <p:nvSpPr>
          <p:cNvPr id="231" name="Text 229"/>
          <p:cNvSpPr/>
          <p:nvPr/>
        </p:nvSpPr>
        <p:spPr>
          <a:xfrm>
            <a:off x="1516380" y="7321550"/>
            <a:ext cx="127000" cy="127000"/>
          </a:xfrm>
          <a:prstGeom prst="ellipse">
            <a:avLst/>
          </a:prstGeom>
          <a:solidFill>
            <a:srgbClr val="6A3FC8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232" name="Text 230"/>
          <p:cNvSpPr txBox="1"/>
          <p:nvPr/>
        </p:nvSpPr>
        <p:spPr>
          <a:xfrm>
            <a:off x="1656080" y="7327900"/>
            <a:ext cx="76835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cache</a:t>
            </a:r>
            <a:endParaRPr lang="en-US" sz="750" dirty="0"/>
          </a:p>
        </p:txBody>
      </p:sp>
      <p:sp>
        <p:nvSpPr>
          <p:cNvPr id="233" name="Text 231"/>
          <p:cNvSpPr/>
          <p:nvPr/>
        </p:nvSpPr>
        <p:spPr>
          <a:xfrm>
            <a:off x="2475230" y="7321550"/>
            <a:ext cx="127000" cy="127000"/>
          </a:xfrm>
          <a:prstGeom prst="ellipse">
            <a:avLst/>
          </a:prstGeom>
          <a:solidFill>
            <a:srgbClr val="F4511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234" name="Text 232"/>
          <p:cNvSpPr txBox="1"/>
          <p:nvPr/>
        </p:nvSpPr>
        <p:spPr>
          <a:xfrm>
            <a:off x="2614930" y="7327900"/>
            <a:ext cx="62738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cache</a:t>
            </a:r>
            <a:endParaRPr lang="en-US" sz="750" dirty="0"/>
          </a:p>
        </p:txBody>
      </p:sp>
      <p:sp>
        <p:nvSpPr>
          <p:cNvPr id="235" name="Text 233"/>
          <p:cNvSpPr/>
          <p:nvPr/>
        </p:nvSpPr>
        <p:spPr>
          <a:xfrm>
            <a:off x="3293110" y="7321550"/>
            <a:ext cx="127000" cy="127000"/>
          </a:xfrm>
          <a:prstGeom prst="ellipse">
            <a:avLst/>
          </a:prstGeom>
          <a:solidFill>
            <a:srgbClr val="F08C0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236" name="Text 234"/>
          <p:cNvSpPr txBox="1"/>
          <p:nvPr/>
        </p:nvSpPr>
        <p:spPr>
          <a:xfrm>
            <a:off x="3432810" y="7327900"/>
            <a:ext cx="43942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</a:t>
            </a:r>
            <a:endParaRPr lang="en-US" sz="750" dirty="0"/>
          </a:p>
        </p:txBody>
      </p:sp>
      <p:sp>
        <p:nvSpPr>
          <p:cNvPr id="237" name="Text 235"/>
          <p:cNvSpPr txBox="1"/>
          <p:nvPr/>
        </p:nvSpPr>
        <p:spPr>
          <a:xfrm>
            <a:off x="3973830" y="7321550"/>
            <a:ext cx="8027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 </a:t>
            </a:r>
            <a:pPr indent="0" marL="0">
              <a:buNone/>
            </a:pPr>
            <a:r>
              <a:rPr lang="en-US" sz="75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LLM 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routing, rewrite / decomposition, CRAG grading, Reviewer, memory summaries   </a:t>
            </a:r>
            <a:pPr indent="0" marL="0">
              <a:buNone/>
            </a:pPr>
            <a:r>
              <a:rPr lang="en-US" sz="750" b="1" dirty="0">
                <a:solidFill>
                  <a:srgbClr val="3A2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LLM 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agents   </a:t>
            </a:r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LLM 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(selective)   </a:t>
            </a:r>
            <a:pPr indent="0" marL="0">
              <a:buNone/>
            </a:pPr>
            <a:r>
              <a:rPr lang="en-US" sz="7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and pay math</a:t>
            </a:r>
            <a:endParaRPr lang="en-US" sz="750" dirty="0"/>
          </a:p>
        </p:txBody>
      </p:sp>
      <p:sp>
        <p:nvSpPr>
          <p:cNvPr id="239" name="Text 236"/>
          <p:cNvSpPr/>
          <p:nvPr/>
        </p:nvSpPr>
        <p:spPr>
          <a:xfrm>
            <a:off x="10637520" y="368300"/>
            <a:ext cx="1465580" cy="95250"/>
          </a:xfrm>
          <a:prstGeom prst="roundRect">
            <a:avLst>
              <a:gd name="adj" fmla="val 48000"/>
            </a:avLst>
          </a:prstGeom>
          <a:solidFill>
            <a:srgbClr val="F5BD5C"/>
          </a:solidFill>
          <a:ln w="6350">
            <a:solidFill>
              <a:srgbClr val="F5BD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logical steps (one request)</a:t>
            </a:r>
            <a:endParaRPr lang="en-US" sz="650" dirty="0"/>
          </a:p>
        </p:txBody>
      </p:sp>
      <p:sp>
        <p:nvSpPr>
          <p:cNvPr id="240" name="Text 237"/>
          <p:cNvSpPr/>
          <p:nvPr/>
        </p:nvSpPr>
        <p:spPr>
          <a:xfrm>
            <a:off x="1320800" y="787400"/>
            <a:ext cx="550418" cy="101600"/>
          </a:xfrm>
          <a:prstGeom prst="roundRect">
            <a:avLst>
              <a:gd name="adj" fmla="val 45000"/>
            </a:avLst>
          </a:prstGeom>
          <a:solidFill>
            <a:srgbClr val="8793A3"/>
          </a:solidFill>
          <a:ln w="9525">
            <a:solidFill>
              <a:srgbClr val="8793A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managed</a:t>
            </a:r>
            <a:endParaRPr lang="en-US" sz="600" dirty="0"/>
          </a:p>
        </p:txBody>
      </p:sp>
      <p:sp>
        <p:nvSpPr>
          <p:cNvPr id="241" name="Text 238"/>
          <p:cNvSpPr/>
          <p:nvPr/>
        </p:nvSpPr>
        <p:spPr>
          <a:xfrm>
            <a:off x="2984500" y="787400"/>
            <a:ext cx="1816799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Chat Gateway · Conversation · Retrieval (cache)</a:t>
            </a:r>
            <a:endParaRPr lang="en-US" sz="550" dirty="0"/>
          </a:p>
        </p:txBody>
      </p:sp>
      <p:sp>
        <p:nvSpPr>
          <p:cNvPr id="242" name="Text 239"/>
          <p:cNvSpPr/>
          <p:nvPr/>
        </p:nvSpPr>
        <p:spPr>
          <a:xfrm>
            <a:off x="4902200" y="787400"/>
            <a:ext cx="1816799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Agent Orchestrator · output guardrails: Gateway</a:t>
            </a:r>
            <a:endParaRPr lang="en-US" sz="550" dirty="0"/>
          </a:p>
        </p:txBody>
      </p:sp>
      <p:sp>
        <p:nvSpPr>
          <p:cNvPr id="243" name="Text 240"/>
          <p:cNvSpPr/>
          <p:nvPr/>
        </p:nvSpPr>
        <p:spPr>
          <a:xfrm>
            <a:off x="6946900" y="787400"/>
            <a:ext cx="1885252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Agent Orchestrator (agents) · LLM gateway library</a:t>
            </a:r>
            <a:endParaRPr lang="en-US" sz="550" dirty="0"/>
          </a:p>
        </p:txBody>
      </p:sp>
      <p:sp>
        <p:nvSpPr>
          <p:cNvPr id="244" name="Text 241"/>
          <p:cNvSpPr/>
          <p:nvPr/>
        </p:nvSpPr>
        <p:spPr>
          <a:xfrm>
            <a:off x="9690100" y="787400"/>
            <a:ext cx="1919478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Retrieval · Rules &amp; Calc · LMS MCP ×2 · HR Console</a:t>
            </a:r>
            <a:endParaRPr lang="en-US" sz="550" dirty="0"/>
          </a:p>
        </p:txBody>
      </p:sp>
      <p:sp>
        <p:nvSpPr>
          <p:cNvPr id="245" name="Text 242"/>
          <p:cNvSpPr/>
          <p:nvPr/>
        </p:nvSpPr>
        <p:spPr>
          <a:xfrm>
            <a:off x="215900" y="6540500"/>
            <a:ext cx="1035812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Upload API + 4 WORKERS</a:t>
            </a:r>
            <a:endParaRPr lang="en-US" sz="600" dirty="0"/>
          </a:p>
        </p:txBody>
      </p:sp>
      <p:pic>
        <p:nvPicPr>
          <p:cNvPr id="246" name="Image 0" descr="/tmp/claude-0/-home-claude/464e32f6-6cab-5bf8-83b9-d9d9487214ed/scratchpad/icons/png/elasticach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85600" y="4406900"/>
            <a:ext cx="165100" cy="165100"/>
          </a:xfrm>
          <a:prstGeom prst="rect">
            <a:avLst/>
          </a:prstGeom>
        </p:spPr>
      </p:pic>
      <p:pic>
        <p:nvPicPr>
          <p:cNvPr id="247" name="Image 1" descr="/tmp/claude-0/-home-claude/464e32f6-6cab-5bf8-83b9-d9d9487214ed/scratchpad/icons/png/r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5600" y="4826000"/>
            <a:ext cx="165100" cy="165100"/>
          </a:xfrm>
          <a:prstGeom prst="rect">
            <a:avLst/>
          </a:prstGeom>
        </p:spPr>
      </p:pic>
      <p:pic>
        <p:nvPicPr>
          <p:cNvPr id="248" name="Image 2" descr="/tmp/claude-0/-home-claude/464e32f6-6cab-5bf8-83b9-d9d9487214ed/scratchpad/icons/png/s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2900" y="5892800"/>
            <a:ext cx="165100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2600"/>
          </a:xfrm>
          <a:prstGeom prst="rect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77800" y="63500"/>
            <a:ext cx="793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in HRB, Explained with Real Questions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128000" y="63500"/>
            <a:ext cx="388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the architecture slide · ① ② ③ ④ match the diagram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27000" y="609600"/>
            <a:ext cx="2895600" cy="2095500"/>
          </a:xfrm>
          <a:prstGeom prst="roundRect">
            <a:avLst>
              <a:gd name="adj" fmla="val 3491"/>
            </a:avLst>
          </a:prstGeom>
          <a:solidFill>
            <a:srgbClr val="FDE3E2"/>
          </a:solidFill>
          <a:ln w="19050">
            <a:solidFill>
              <a:srgbClr val="EC8A8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3200" y="698500"/>
            <a:ext cx="177800" cy="177800"/>
          </a:xfrm>
          <a:prstGeom prst="ellipse">
            <a:avLst/>
          </a:prstGeom>
          <a:solidFill>
            <a:srgbClr val="E53935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31800" y="698500"/>
            <a:ext cx="2514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response cache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31800" y="863600"/>
            <a:ext cx="2514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 · Redis (exact key + vector index, TTL)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241300" y="1054100"/>
            <a:ext cx="2667000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Stores: </a:t>
            </a:r>
            <a:pPr algn="l"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answers to policy questions, with citations</a:t>
            </a:r>
            <a:endParaRPr lang="en-US" sz="8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 example: </a:t>
            </a:r>
            <a:pPr algn="l"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PTO days do I get?" answered once; later "What is my vacation allowance?" from the same group gets the saved answer</a:t>
            </a:r>
            <a:endParaRPr lang="en-US" sz="8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Saves: </a:t>
            </a:r>
            <a:pPr algn="l"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all agents, and every LLM call for that question</a:t>
            </a:r>
            <a:endParaRPr lang="en-US" sz="8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</a:t>
            </a:r>
            <a:pPr algn="l"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includes plan year + KB version + employee group; never cache personal answers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24200" y="609600"/>
            <a:ext cx="2895600" cy="2095500"/>
          </a:xfrm>
          <a:prstGeom prst="roundRect">
            <a:avLst>
              <a:gd name="adj" fmla="val 3491"/>
            </a:avLst>
          </a:prstGeom>
          <a:solidFill>
            <a:srgbClr val="EEE6FB"/>
          </a:solidFill>
          <a:ln w="19050">
            <a:solidFill>
              <a:srgbClr val="AE8FE3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698500"/>
            <a:ext cx="177800" cy="177800"/>
          </a:xfrm>
          <a:prstGeom prst="ellipse">
            <a:avLst/>
          </a:prstGeom>
          <a:solidFill>
            <a:srgbClr val="6A3FC8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698500"/>
            <a:ext cx="2514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cache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863600"/>
            <a:ext cx="2514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 · in-memory LRU + Redis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3238500" y="1054100"/>
            <a:ext cx="2667000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Stores: </a:t>
            </a:r>
            <a:pPr algn="l"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vector, keyed by a hash of the exact text + model</a:t>
            </a:r>
            <a:endParaRPr lang="en-US" sz="8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 example: </a:t>
            </a:r>
            <a:pPr algn="l"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401(k) plan PDF updated on one page: only the changed chunks are embedded again; the rest reuse saved vectors</a:t>
            </a:r>
            <a:endParaRPr lang="en-US" sz="8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Saves: </a:t>
            </a:r>
            <a:pPr algn="l"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API calls, mostly during re-indexing</a:t>
            </a:r>
            <a:endParaRPr lang="en-US" sz="8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</a:t>
            </a:r>
            <a:pPr algn="l"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text only; a new embedding model means rebuilding all vectors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21400" y="609600"/>
            <a:ext cx="2895600" cy="2095500"/>
          </a:xfrm>
          <a:prstGeom prst="roundRect">
            <a:avLst>
              <a:gd name="adj" fmla="val 3491"/>
            </a:avLst>
          </a:prstGeom>
          <a:solidFill>
            <a:srgbClr val="FFE7DD"/>
          </a:solidFill>
          <a:ln w="19050">
            <a:solidFill>
              <a:srgbClr val="F4A083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97600" y="698500"/>
            <a:ext cx="177800" cy="177800"/>
          </a:xfrm>
          <a:prstGeom prst="ellipse">
            <a:avLst/>
          </a:prstGeom>
          <a:solidFill>
            <a:srgbClr val="F4511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426200" y="698500"/>
            <a:ext cx="2514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cache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426200" y="863600"/>
            <a:ext cx="2514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· we control prompt order only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235700" y="1054100"/>
            <a:ext cx="2667000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Stores: </a:t>
            </a:r>
            <a:pPr algn="l"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notes for the fixed START of a recent prompt (system prompt, guardrail rules, tool schemas)</a:t>
            </a:r>
            <a:endParaRPr lang="en-US" sz="8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 example: </a:t>
            </a:r>
            <a:pPr algn="l"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asks 3 follow-ups in 5 minutes: each call re-reads only history, chunks, and the new question</a:t>
            </a:r>
            <a:endParaRPr lang="en-US" sz="8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Saves: </a:t>
            </a:r>
            <a:pPr algn="l"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input-token cost and time to first word; the LLM still writes a new answer</a:t>
            </a:r>
            <a:endParaRPr lang="en-US" sz="8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</a:t>
            </a:r>
            <a:pPr algn="l"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changed word at the top (timestamp, name) breaks it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118600" y="609600"/>
            <a:ext cx="2895600" cy="2095500"/>
          </a:xfrm>
          <a:prstGeom prst="roundRect">
            <a:avLst>
              <a:gd name="adj" fmla="val 3491"/>
            </a:avLst>
          </a:prstGeom>
          <a:solidFill>
            <a:srgbClr val="FFF1D8"/>
          </a:solidFill>
          <a:ln w="19050">
            <a:solidFill>
              <a:srgbClr val="F5BD5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94800" y="698500"/>
            <a:ext cx="177800" cy="177800"/>
          </a:xfrm>
          <a:prstGeom prst="ellipse">
            <a:avLst/>
          </a:prstGeom>
          <a:solidFill>
            <a:srgbClr val="F08C0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423400" y="698500"/>
            <a:ext cx="2514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9423400" y="863600"/>
            <a:ext cx="2514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model · always on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9232900" y="1054100"/>
            <a:ext cx="2667000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Stores: </a:t>
            </a:r>
            <a:pPr algn="l"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working notes for every token while it writes ONE answer</a:t>
            </a:r>
            <a:endParaRPr lang="en-US" sz="8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 example: </a:t>
            </a:r>
            <a:pPr algn="l"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300-word answer about dental coverage streams smoothly after the first word appears</a:t>
            </a:r>
            <a:endParaRPr lang="en-US" sz="8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Saves: </a:t>
            </a:r>
            <a:pPr algn="l"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re-reading the whole prompt for every new word</a:t>
            </a:r>
            <a:endParaRPr lang="en-US" sz="8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</a:t>
            </a:r>
            <a:pPr algn="l"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build with a hosted API; thrown away after the answer (it is not a response cache)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27000" y="2794000"/>
            <a:ext cx="762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Walkthrough: five HRB questions in one morning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" y="2984500"/>
          <a:ext cx="7683500" cy="914400"/>
        </p:xfrm>
        <a:graphic>
          <a:graphicData uri="http://schemas.openxmlformats.org/drawingml/2006/table">
            <a:tbl>
              <a:tblPr/>
              <a:tblGrid>
                <a:gridCol w="343305"/>
                <a:gridCol w="1757396"/>
                <a:gridCol w="2901747"/>
                <a:gridCol w="1512178"/>
                <a:gridCol w="1168873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(who)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Caches that help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calls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"How many PTO days do I get?" (Priya, full-time)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saved answer. Full flow: planner → Policy Agent (RAG) → reviewer → guardrails. Answer is stored.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miss · ① miss → stored · ③ first call warms 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(planner, agent, reviewer)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"What is my annual vacation allowance?" (Raj, full-time, 10 min later)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words, same meaning, same scope → saved answer returned.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hit (Tier 2 semantic)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"Can I carry unused days into next year?" (Priya, follow-up)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question → agents run. The prompt start is identical to Q1, so the provider reuses its notes.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miss · ③ hit · ④ streams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cheaper input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"What is my current leave balance?" (Priya)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data → Leave Ops Agent reads via HRB_LMS_OPS MCP. Never stored in ①.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hit · ① skipped by design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(planner, agent)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uploads a new 401(k) PDF (1 page changed)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Indexing re-embeds 1 page; saved answers citing the old PDF are deleted.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hit for unchanged chunks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(embedding only)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7912100" y="2794000"/>
            <a:ext cx="4152900" cy="2463800"/>
          </a:xfrm>
          <a:prstGeom prst="roundRect">
            <a:avLst>
              <a:gd name="adj" fmla="val 2969"/>
            </a:avLst>
          </a:prstGeom>
          <a:solidFill>
            <a:srgbClr val="FFFFFF"/>
          </a:solidFill>
          <a:ln w="15875">
            <a:solidFill>
              <a:srgbClr val="B6C2D4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039100" y="2870200"/>
            <a:ext cx="393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caching cuts cost and speeds answers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8039100" y="3086100"/>
            <a:ext cx="3898900" cy="342900"/>
          </a:xfrm>
          <a:prstGeom prst="roundRect">
            <a:avLst>
              <a:gd name="adj" fmla="val 21333"/>
            </a:avLst>
          </a:prstGeom>
          <a:solidFill>
            <a:srgbClr val="E5F5E3"/>
          </a:solidFill>
          <a:ln w="15875">
            <a:solidFill>
              <a:srgbClr val="E5F5E3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8128000" y="3124200"/>
            <a:ext cx="3746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 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① hit skips every LLM call for that question. ③ bills cached input tokens at a discount. ② removes repeat embedding calls.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039100" y="3479800"/>
            <a:ext cx="3898900" cy="342900"/>
          </a:xfrm>
          <a:prstGeom prst="roundRect">
            <a:avLst>
              <a:gd name="adj" fmla="val 21333"/>
            </a:avLst>
          </a:prstGeom>
          <a:solidFill>
            <a:srgbClr val="E6EEF9"/>
          </a:solidFill>
          <a:ln w="15875">
            <a:solidFill>
              <a:srgbClr val="E6EEF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8128000" y="3517900"/>
            <a:ext cx="3746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answers  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① hit returns in milliseconds instead of seconds. ③ shortens time to the first word. ④ keeps streaming fast.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8039100" y="3873500"/>
            <a:ext cx="3898900" cy="342900"/>
          </a:xfrm>
          <a:prstGeom prst="roundRect">
            <a:avLst>
              <a:gd name="adj" fmla="val 21333"/>
            </a:avLst>
          </a:prstGeom>
          <a:solidFill>
            <a:srgbClr val="F1EAFC"/>
          </a:solidFill>
          <a:ln w="15875">
            <a:solidFill>
              <a:srgbClr val="F1EAF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8128000" y="3911600"/>
            <a:ext cx="3746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users per dollar  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LLM calls means less rate-limit pressure, so the same quota serves more employees.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8039100" y="4267200"/>
            <a:ext cx="3898900" cy="342900"/>
          </a:xfrm>
          <a:prstGeom prst="roundRect">
            <a:avLst>
              <a:gd name="adj" fmla="val 21333"/>
            </a:avLst>
          </a:prstGeom>
          <a:solidFill>
            <a:srgbClr val="FFF1D6"/>
          </a:solidFill>
          <a:ln w="15875">
            <a:solidFill>
              <a:srgbClr val="FFF1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8128000" y="4305300"/>
            <a:ext cx="3746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answers  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policy question gets the same reviewed answer, until the policy document changes.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8039100" y="4686300"/>
            <a:ext cx="389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it: </a:t>
            </a:r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per cache · cached vs uncached input tokens · p95 latency on hit vs miss · cost per answer</a:t>
            </a:r>
            <a:endParaRPr lang="en-US" sz="8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</a:t>
            </a:r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frequent policy questions; never personal ones</a:t>
            </a:r>
            <a:endParaRPr lang="en-US" sz="850" dirty="0"/>
          </a:p>
        </p:txBody>
      </p:sp>
      <p:sp>
        <p:nvSpPr>
          <p:cNvPr id="38" name="Text 35"/>
          <p:cNvSpPr txBox="1"/>
          <p:nvPr/>
        </p:nvSpPr>
        <p:spPr>
          <a:xfrm>
            <a:off x="127000" y="5308600"/>
            <a:ext cx="1193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cost goes in one HRB answer, and which cache removes it</a:t>
            </a:r>
            <a:endParaRPr lang="en-US" sz="85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" y="5499100"/>
          <a:ext cx="11938000" cy="914400"/>
        </p:xfrm>
        <a:graphic>
          <a:graphicData uri="http://schemas.openxmlformats.org/drawingml/2006/table">
            <a:tbl>
              <a:tblPr/>
              <a:tblGrid>
                <a:gridCol w="3457158"/>
                <a:gridCol w="1296434"/>
                <a:gridCol w="1836615"/>
                <a:gridCol w="1836615"/>
                <a:gridCol w="1836615"/>
                <a:gridCol w="1674561"/>
              </a:tblGrid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in one answer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cost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answer cache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embedding cache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prompt cache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 KV cache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 the question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skipped on hit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skipped on hit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 (mini model)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skipped on hit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start reused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speeds writing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agent (large model, most tokens)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skipped on hit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start reused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speeds writing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 critique / Judge (selective)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skipped on hit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start reused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speeds writing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Text 36"/>
          <p:cNvSpPr/>
          <p:nvPr/>
        </p:nvSpPr>
        <p:spPr>
          <a:xfrm>
            <a:off x="11031220" y="368300"/>
            <a:ext cx="1071880" cy="95250"/>
          </a:xfrm>
          <a:prstGeom prst="roundRect">
            <a:avLst>
              <a:gd name="adj" fmla="val 48000"/>
            </a:avLst>
          </a:prstGeom>
          <a:solidFill>
            <a:srgbClr val="F5BD5C"/>
          </a:solidFill>
          <a:ln w="6350">
            <a:solidFill>
              <a:srgbClr val="F5BD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caching explained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2600"/>
          </a:xfrm>
          <a:prstGeom prst="rect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77800" y="63500"/>
            <a:ext cx="793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Workflows in HRB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128000" y="63500"/>
            <a:ext cx="388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the architecture slide · LangGraph interrupt → resume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27000" y="584200"/>
            <a:ext cx="11938000" cy="3086100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 w="15875">
            <a:solidFill>
              <a:srgbClr val="DB7AA5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28600" y="635000"/>
            <a:ext cx="571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Leave approval: caregiver leave and unpaid leave (live, blocks the request)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69980" y="660400"/>
            <a:ext cx="642620" cy="114300"/>
          </a:xfrm>
          <a:prstGeom prst="roundRect">
            <a:avLst>
              <a:gd name="adj" fmla="val 40000"/>
            </a:avLst>
          </a:prstGeom>
          <a:solidFill>
            <a:srgbClr val="BE185D"/>
          </a:solidFill>
          <a:ln w="6350">
            <a:solidFill>
              <a:srgbClr val="BE185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specialist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576560" y="660400"/>
            <a:ext cx="642620" cy="114300"/>
          </a:xfrm>
          <a:prstGeom prst="roundRect">
            <a:avLst>
              <a:gd name="adj" fmla="val 40000"/>
            </a:avLst>
          </a:prstGeom>
          <a:solidFill>
            <a:srgbClr val="F2F4F7"/>
          </a:solidFill>
          <a:ln w="6350">
            <a:solidFill>
              <a:srgbClr val="F2F4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system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720580" y="660400"/>
            <a:ext cx="805180" cy="114300"/>
          </a:xfrm>
          <a:prstGeom prst="roundRect">
            <a:avLst>
              <a:gd name="adj" fmla="val 40000"/>
            </a:avLst>
          </a:prstGeom>
          <a:solidFill>
            <a:srgbClr val="F1EAFC"/>
          </a:solidFill>
          <a:ln w="6350">
            <a:solidFill>
              <a:srgbClr val="F1EAF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LangGraph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230360" y="660400"/>
            <a:ext cx="439420" cy="114300"/>
          </a:xfrm>
          <a:prstGeom prst="roundRect">
            <a:avLst>
              <a:gd name="adj" fmla="val 40000"/>
            </a:avLst>
          </a:prstGeom>
          <a:solidFill>
            <a:srgbClr val="E6EEF9"/>
          </a:solidFill>
          <a:ln w="6350">
            <a:solidFill>
              <a:srgbClr val="E6EEF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54000" y="952500"/>
            <a:ext cx="1397000" cy="558800"/>
          </a:xfrm>
          <a:prstGeom prst="roundRect">
            <a:avLst>
              <a:gd name="adj" fmla="val 9818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asks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caregiver leave for my mother, 3 weeks from Nov 3"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54200" y="876300"/>
            <a:ext cx="1016000" cy="7112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BE185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Eligible?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(tools check)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86100" y="952500"/>
            <a:ext cx="1524000" cy="558800"/>
          </a:xfrm>
          <a:prstGeom prst="roundRect">
            <a:avLst>
              <a:gd name="adj" fmla="val 9818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Ops Agent drafts request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the reason and supporting documents (upload)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26000" y="952500"/>
            <a:ext cx="1524000" cy="558800"/>
          </a:xfrm>
          <a:prstGeom prst="roundRect">
            <a:avLst>
              <a:gd name="adj" fmla="val 9818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confirms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dates, reason, documents; taps Submit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65900" y="952500"/>
            <a:ext cx="1714500" cy="558800"/>
          </a:xfrm>
          <a:prstGeom prst="roundRect">
            <a:avLst>
              <a:gd name="adj" fmla="val 9818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Interrupt: HR case created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pauses; state saved in Postgres; case sent to HR queue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51000" y="1231900"/>
            <a:ext cx="1905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870200" y="1231900"/>
            <a:ext cx="2032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10100" y="1231900"/>
            <a:ext cx="2032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50000" y="1231900"/>
            <a:ext cx="2032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882900" y="1117600"/>
            <a:ext cx="1905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790700" y="1841500"/>
            <a:ext cx="1143000" cy="444500"/>
          </a:xfrm>
          <a:prstGeom prst="roundRect">
            <a:avLst>
              <a:gd name="adj" fmla="val 12343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eligible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which rule failed; offer HR contact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62200" y="1587500"/>
            <a:ext cx="0" cy="241300"/>
          </a:xfrm>
          <a:prstGeom prst="line">
            <a:avLst/>
          </a:prstGeom>
          <a:noFill/>
          <a:ln w="17780">
            <a:solidFill>
              <a:srgbClr val="B03A2E"/>
            </a:solidFill>
            <a:prstDash val="dash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2400300" y="1663700"/>
            <a:ext cx="127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565900" y="2489200"/>
            <a:ext cx="1714500" cy="558800"/>
          </a:xfrm>
          <a:prstGeom prst="roundRect">
            <a:avLst>
              <a:gd name="adj" fmla="val 9818"/>
            </a:avLst>
          </a:prstGeom>
          <a:solidFill>
            <a:srgbClr val="BE185D"/>
          </a:solidFill>
          <a:ln w="12700">
            <a:solidFill>
              <a:srgbClr val="9D174D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specialist reviews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reason, documents, and leave in the last 12 months (history from HRB_LMS_ANALYTICS)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72100" y="2413000"/>
            <a:ext cx="1016000" cy="7112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BE185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decision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56000" y="2489200"/>
            <a:ext cx="1587500" cy="558800"/>
          </a:xfrm>
          <a:prstGeom prst="roundRect">
            <a:avLst>
              <a:gd name="adj" fmla="val 9818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graph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Ops Agent submits through the MCP gateway (HRB_LMS_OPS)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41500" y="2489200"/>
            <a:ext cx="1498600" cy="558800"/>
          </a:xfrm>
          <a:prstGeom prst="roundRect">
            <a:avLst>
              <a:gd name="adj" fmla="val 9818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notified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decision, dates, balance after; reject includes the reason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23150" y="1511300"/>
            <a:ext cx="0" cy="96520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6400800" y="2768600"/>
            <a:ext cx="1651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>
            <a:off x="5156200" y="2768600"/>
            <a:ext cx="2159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3352800" y="2768600"/>
            <a:ext cx="2032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118100" y="2616200"/>
            <a:ext cx="3175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 flipV="1">
            <a:off x="5880100" y="1524000"/>
            <a:ext cx="0" cy="889000"/>
          </a:xfrm>
          <a:prstGeom prst="line">
            <a:avLst/>
          </a:prstGeom>
          <a:noFill/>
          <a:ln w="17780">
            <a:solidFill>
              <a:srgbClr val="C2410C"/>
            </a:solidFill>
            <a:prstDash val="dash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5918200" y="1905000"/>
            <a:ext cx="12065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documents (15 days)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880100" y="3124200"/>
            <a:ext cx="0" cy="114300"/>
          </a:xfrm>
          <a:prstGeom prst="line">
            <a:avLst/>
          </a:prstGeom>
          <a:noFill/>
          <a:ln w="17780">
            <a:solidFill>
              <a:srgbClr val="B03A2E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 flipH="1">
            <a:off x="2590800" y="3238500"/>
            <a:ext cx="3289300" cy="0"/>
          </a:xfrm>
          <a:prstGeom prst="line">
            <a:avLst/>
          </a:prstGeom>
          <a:noFill/>
          <a:ln w="17780">
            <a:solidFill>
              <a:srgbClr val="B03A2E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 flipV="1">
            <a:off x="2590800" y="3060700"/>
            <a:ext cx="0" cy="177800"/>
          </a:xfrm>
          <a:prstGeom prst="line">
            <a:avLst/>
          </a:prstGeom>
          <a:noFill/>
          <a:ln w="17780">
            <a:solidFill>
              <a:srgbClr val="B03A2E"/>
            </a:solidFill>
            <a:prstDash val="dash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4064000" y="3162300"/>
            <a:ext cx="508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483600" y="889000"/>
            <a:ext cx="3467100" cy="1270000"/>
          </a:xfrm>
          <a:prstGeom prst="roundRect">
            <a:avLst>
              <a:gd name="adj" fmla="val 5760"/>
            </a:avLst>
          </a:prstGeom>
          <a:solidFill>
            <a:srgbClr val="F6F8FA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585200" y="952500"/>
            <a:ext cx="32766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rules (checked by tools before HR)</a:t>
            </a:r>
            <a:endParaRPr lang="en-US" sz="8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 least 1 year of service</a:t>
            </a:r>
            <a:endParaRPr lang="en-US" sz="8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caregiver leave taken in the last 12 months</a:t>
            </a:r>
            <a:endParaRPr lang="en-US" sz="8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continuous block, up to 4 weeks</a:t>
            </a:r>
            <a:endParaRPr lang="en-US" sz="8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short-term / long-term unpaid leave: same path, own rules [INSERT]</a:t>
            </a:r>
            <a:endParaRPr lang="en-US" sz="8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800" i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still judges the reason and documents; tools only pre-screen.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483600" y="2235200"/>
            <a:ext cx="3467100" cy="1358900"/>
          </a:xfrm>
          <a:prstGeom prst="roundRect">
            <a:avLst>
              <a:gd name="adj" fmla="val 5383"/>
            </a:avLst>
          </a:prstGeom>
          <a:solidFill>
            <a:srgbClr val="FFF7ED"/>
          </a:solidFill>
          <a:ln w="12700">
            <a:solidFill>
              <a:srgbClr val="F5BD5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8585200" y="2298700"/>
            <a:ext cx="3276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(defaults, replace later) [INSERT]</a:t>
            </a:r>
            <a:endParaRPr lang="en-US" sz="8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draft not submitted: kept 24 h, then cancelled</a:t>
            </a:r>
            <a:endParaRPr lang="en-US" sz="8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HR decision: 5 business days; reminder on day 3; escalate to HR manager on day 5</a:t>
            </a:r>
            <a:endParaRPr lang="en-US" sz="8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documents requested: employee has 15 calendar days, then the request closes</a:t>
            </a:r>
            <a:endParaRPr lang="en-US" sz="8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paused runs stay in the Postgres checkpointer until resumed or closed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27000" y="3759200"/>
            <a:ext cx="11938000" cy="1841500"/>
          </a:xfrm>
          <a:prstGeom prst="roundRect">
            <a:avLst>
              <a:gd name="adj" fmla="val 3972"/>
            </a:avLst>
          </a:prstGeom>
          <a:solidFill>
            <a:srgbClr val="FFFFFF"/>
          </a:solidFill>
          <a:ln w="15875">
            <a:solidFill>
              <a:srgbClr val="DB7AA5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228600" y="3810000"/>
            <a:ext cx="571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HR escalation (live, answer moves to a person)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9603740" y="3835400"/>
            <a:ext cx="2308860" cy="114300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 w="6350">
            <a:solidFill>
              <a:srgbClr val="FFF7E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SLA: first HR reply in 1 business day [INSERT]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54000" y="4064000"/>
            <a:ext cx="1905000" cy="952500"/>
          </a:xfrm>
          <a:prstGeom prst="roundRect">
            <a:avLst>
              <a:gd name="adj" fmla="val 5760"/>
            </a:avLst>
          </a:prstGeom>
          <a:solidFill>
            <a:srgbClr val="FCE7F3"/>
          </a:solidFill>
          <a:ln w="12700">
            <a:solidFill>
              <a:srgbClr val="DB7AA5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Reviewer / Judge still low after max N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sensitive topic from input guardrails (FMLA, harassment, bereavement)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employee asks for a person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frustration detected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387600" y="4267200"/>
            <a:ext cx="1587500" cy="558800"/>
          </a:xfrm>
          <a:prstGeom prst="roundRect">
            <a:avLst>
              <a:gd name="adj" fmla="val 9818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employee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needs HR. A specialist will reply within 1 business day."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203700" y="4267200"/>
            <a:ext cx="1714500" cy="558800"/>
          </a:xfrm>
          <a:prstGeom prst="roundRect">
            <a:avLst>
              <a:gd name="adj" fmla="val 9818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HR ticket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summary + citations; graph paused, state saved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46800" y="4267200"/>
            <a:ext cx="1714500" cy="558800"/>
          </a:xfrm>
          <a:prstGeom prst="roundRect">
            <a:avLst>
              <a:gd name="adj" fmla="val 9818"/>
            </a:avLst>
          </a:prstGeom>
          <a:solidFill>
            <a:srgbClr val="BE185D"/>
          </a:solidFill>
          <a:ln w="12700">
            <a:solidFill>
              <a:srgbClr val="9D174D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specialist answers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HR console; can reuse the agent draft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89900" y="4267200"/>
            <a:ext cx="1714500" cy="558800"/>
          </a:xfrm>
          <a:prstGeom prst="roundRect">
            <a:avLst>
              <a:gd name="adj" fmla="val 9818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employee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chat (or email); conversation closed and logged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033000" y="4267200"/>
            <a:ext cx="1905000" cy="558800"/>
          </a:xfrm>
          <a:prstGeom prst="roundRect">
            <a:avLst>
              <a:gd name="adj" fmla="val 9818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dash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gap found?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files a KB fix request, goes to HR answer review (lane 3)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159000" y="4546600"/>
            <a:ext cx="2159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3975100" y="4546600"/>
            <a:ext cx="2159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5918200" y="4546600"/>
            <a:ext cx="2159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7861300" y="4546600"/>
            <a:ext cx="2159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9804400" y="4546600"/>
            <a:ext cx="2159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dash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2387600" y="495300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  </a:t>
            </a:r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is never left waiting silently. HR sees what the agent found, so they do not start from zero. The HR reply is not stored in the answer cache ① if it is personal.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27000" y="5676900"/>
            <a:ext cx="11938000" cy="1841500"/>
          </a:xfrm>
          <a:prstGeom prst="roundRect">
            <a:avLst>
              <a:gd name="adj" fmla="val 3972"/>
            </a:avLst>
          </a:prstGeom>
          <a:solidFill>
            <a:srgbClr val="FFFFFF"/>
          </a:solidFill>
          <a:ln w="15875">
            <a:solidFill>
              <a:srgbClr val="DB7AA5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59" name="Text 57"/>
          <p:cNvSpPr txBox="1"/>
          <p:nvPr/>
        </p:nvSpPr>
        <p:spPr>
          <a:xfrm>
            <a:off x="228600" y="5727700"/>
            <a:ext cx="571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HR answer review (async and offline, does not block anyone)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0497820" y="5753100"/>
            <a:ext cx="1414780" cy="114300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 w="6350">
            <a:solidFill>
              <a:srgbClr val="FFF7E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cadence: weekly [INSERT]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254000" y="5981700"/>
            <a:ext cx="1905000" cy="952500"/>
          </a:xfrm>
          <a:prstGeom prst="roundRect">
            <a:avLst>
              <a:gd name="adj" fmla="val 5760"/>
            </a:avLst>
          </a:prstGeom>
          <a:solidFill>
            <a:srgbClr val="FCE7F3"/>
          </a:solidFill>
          <a:ln w="12700">
            <a:solidFill>
              <a:srgbClr val="DB7AA5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as a Judge Agent flags an answer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5% random sample of answers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employee thumbs-down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KB fix requests from lane 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387600" y="6184900"/>
            <a:ext cx="1587500" cy="558800"/>
          </a:xfrm>
          <a:prstGeom prst="roundRect">
            <a:avLst>
              <a:gd name="adj" fmla="val 9818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question, citations, and reviewer / judge scores together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203700" y="6184900"/>
            <a:ext cx="1905000" cy="558800"/>
          </a:xfrm>
          <a:prstGeom prst="roundRect">
            <a:avLst>
              <a:gd name="adj" fmla="val 9818"/>
            </a:avLst>
          </a:prstGeom>
          <a:solidFill>
            <a:srgbClr val="BE185D"/>
          </a:solidFill>
          <a:ln w="12700">
            <a:solidFill>
              <a:srgbClr val="9D174D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expert reviews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correct, partly, or wrong; writes the right answer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159000" y="6464300"/>
            <a:ext cx="2159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3975100" y="6464300"/>
            <a:ext cx="2159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6413500" y="5981700"/>
            <a:ext cx="2692400" cy="406400"/>
          </a:xfrm>
          <a:prstGeom prst="roundRect">
            <a:avLst>
              <a:gd name="adj" fmla="val 135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eval case; release gate re-runs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207500" y="5981700"/>
            <a:ext cx="2692400" cy="406400"/>
          </a:xfrm>
          <a:prstGeom prst="roundRect">
            <a:avLst>
              <a:gd name="adj" fmla="val 135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correction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policy text, re-index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413500" y="6464300"/>
            <a:ext cx="2692400" cy="406400"/>
          </a:xfrm>
          <a:prstGeom prst="roundRect">
            <a:avLst>
              <a:gd name="adj" fmla="val 135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saved answers ①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cached answers deleted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207500" y="6464300"/>
            <a:ext cx="2692400" cy="406400"/>
          </a:xfrm>
          <a:prstGeom prst="roundRect">
            <a:avLst>
              <a:gd name="adj" fmla="val 135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/ guardrail tuning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of mistakes fixed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108700" y="6464300"/>
            <a:ext cx="1524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6261100" y="6184900"/>
            <a:ext cx="0" cy="2794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61100" y="6184900"/>
            <a:ext cx="1397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6261100" y="6464300"/>
            <a:ext cx="0" cy="2032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61100" y="6667500"/>
            <a:ext cx="1397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75" name="Text 73"/>
          <p:cNvSpPr txBox="1"/>
          <p:nvPr/>
        </p:nvSpPr>
        <p:spPr>
          <a:xfrm>
            <a:off x="6413500" y="6985000"/>
            <a:ext cx="552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</a:t>
            </a:r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human correction becomes a test case and a KB fix, so the same mistake does not repeat.</a:t>
            </a:r>
            <a:endParaRPr lang="en-US" sz="850" dirty="0"/>
          </a:p>
        </p:txBody>
      </p:sp>
      <p:sp>
        <p:nvSpPr>
          <p:cNvPr id="77" name="Text 74"/>
          <p:cNvSpPr/>
          <p:nvPr/>
        </p:nvSpPr>
        <p:spPr>
          <a:xfrm>
            <a:off x="11149330" y="368300"/>
            <a:ext cx="953770" cy="95250"/>
          </a:xfrm>
          <a:prstGeom prst="roundRect">
            <a:avLst>
              <a:gd name="adj" fmla="val 48000"/>
            </a:avLst>
          </a:prstGeom>
          <a:solidFill>
            <a:srgbClr val="F5BD5C"/>
          </a:solidFill>
          <a:ln w="6350">
            <a:solidFill>
              <a:srgbClr val="F5BD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HITL workflows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2600"/>
          </a:xfrm>
          <a:prstGeom prst="rect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77800" y="63500"/>
            <a:ext cx="793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Patterns and NLP Use Cases in HRB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128000" y="63500"/>
            <a:ext cx="388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the architecture slide · where each pattern sits and why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27000" y="596900"/>
            <a:ext cx="3911600" cy="1422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3350" y="603250"/>
            <a:ext cx="3898900" cy="254000"/>
          </a:xfrm>
          <a:prstGeom prst="roundRect">
            <a:avLst>
              <a:gd name="adj" fmla="val 28800"/>
            </a:avLst>
          </a:prstGeom>
          <a:solidFill>
            <a:srgbClr val="F1EAFC"/>
          </a:solidFill>
          <a:ln w="12700">
            <a:solidFill>
              <a:srgbClr val="F1EA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5900" y="6350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decomposition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01060" y="673100"/>
            <a:ext cx="548640" cy="1143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Low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651760" y="673100"/>
            <a:ext cx="711200" cy="114300"/>
          </a:xfrm>
          <a:prstGeom prst="roundRect">
            <a:avLst>
              <a:gd name="adj" fmla="val 40000"/>
            </a:avLst>
          </a:prstGeom>
          <a:solidFill>
            <a:srgbClr val="6A3FC8"/>
          </a:solidFill>
          <a:ln w="6350">
            <a:solidFill>
              <a:srgbClr val="6A3F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(mini)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186940" y="673100"/>
            <a:ext cx="426720" cy="1143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215900" y="914400"/>
            <a:ext cx="373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 multi-part question into sub-questions. Runs after input guardrails, because PII must be masked before any LLM sees the text.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3200" y="1447800"/>
            <a:ext cx="3759200" cy="508000"/>
          </a:xfrm>
          <a:prstGeom prst="roundRect">
            <a:avLst>
              <a:gd name="adj" fmla="val 9000"/>
            </a:avLst>
          </a:prstGeom>
          <a:solidFill>
            <a:srgbClr val="F7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6700" y="1485900"/>
            <a:ext cx="3632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 example  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 I eligible for the HSA and how much can I put in?" → (1) HSA eligibility, (2) 2026 contribution limit.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40200" y="596900"/>
            <a:ext cx="3911600" cy="1422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46550" y="603250"/>
            <a:ext cx="3898900" cy="254000"/>
          </a:xfrm>
          <a:prstGeom prst="roundRect">
            <a:avLst>
              <a:gd name="adj" fmla="val 28800"/>
            </a:avLst>
          </a:prstGeom>
          <a:solidFill>
            <a:srgbClr val="F1EAFC"/>
          </a:solidFill>
          <a:ln w="12700">
            <a:solidFill>
              <a:srgbClr val="F1EA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29100" y="6350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retrieval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414260" y="673100"/>
            <a:ext cx="548640" cy="1143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Low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624320" y="673100"/>
            <a:ext cx="751840" cy="114300"/>
          </a:xfrm>
          <a:prstGeom prst="roundRect">
            <a:avLst>
              <a:gd name="adj" fmla="val 40000"/>
            </a:avLst>
          </a:prstGeom>
          <a:solidFill>
            <a:srgbClr val="6A3FC8"/>
          </a:solidFill>
          <a:ln w="6350">
            <a:solidFill>
              <a:srgbClr val="6A3F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decision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159500" y="673100"/>
            <a:ext cx="426720" cy="1143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4229100" y="914400"/>
            <a:ext cx="373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per question whether retrieval is needed at all. Saves tokens and avoids noisy context.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16400" y="1447800"/>
            <a:ext cx="3759200" cy="508000"/>
          </a:xfrm>
          <a:prstGeom prst="roundRect">
            <a:avLst>
              <a:gd name="adj" fmla="val 9000"/>
            </a:avLst>
          </a:prstGeom>
          <a:solidFill>
            <a:srgbClr val="F7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79900" y="1485900"/>
            <a:ext cx="3632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 example  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"Hi" → no RAG · "PTO for 3 years tenure?" → calculator only · "Dental deductible?" → RAG · "HSA vs FSA?" → RAG, two searches.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153400" y="596900"/>
            <a:ext cx="3911600" cy="1422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59750" y="603250"/>
            <a:ext cx="3898900" cy="254000"/>
          </a:xfrm>
          <a:prstGeom prst="roundRect">
            <a:avLst>
              <a:gd name="adj" fmla="val 28800"/>
            </a:avLst>
          </a:prstGeom>
          <a:solidFill>
            <a:srgbClr val="E4F4F0"/>
          </a:solidFill>
          <a:ln w="12700">
            <a:solidFill>
              <a:srgbClr val="E4F4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42300" y="6350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RAG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05540" y="673100"/>
            <a:ext cx="670560" cy="1143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Medium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474960" y="673100"/>
            <a:ext cx="792480" cy="114300"/>
          </a:xfrm>
          <a:prstGeom prst="roundRect">
            <a:avLst>
              <a:gd name="adj" fmla="val 40000"/>
            </a:avLst>
          </a:prstGeom>
          <a:solidFill>
            <a:srgbClr val="1F7A68"/>
          </a:solidFill>
          <a:ln w="6350">
            <a:solidFill>
              <a:srgbClr val="1F7A6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grader + code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9969500" y="673100"/>
            <a:ext cx="467360" cy="1143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8242300" y="914400"/>
            <a:ext cx="373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retrieved chunks. Weak or off-topic → rewrite the query and search again, then fall back to web search.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229600" y="1447800"/>
            <a:ext cx="3759200" cy="508000"/>
          </a:xfrm>
          <a:prstGeom prst="roundRect">
            <a:avLst>
              <a:gd name="adj" fmla="val 9000"/>
            </a:avLst>
          </a:prstGeom>
          <a:solidFill>
            <a:srgbClr val="F7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100" y="1485900"/>
            <a:ext cx="3632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F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 example  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"Bereavement leave for in-laws?" → first chunks cover sick leave only → rewrite to "bereavement policy family definition" → correct section found.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27000" y="2095500"/>
            <a:ext cx="3911600" cy="1422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F5BD5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33350" y="2101850"/>
            <a:ext cx="3898900" cy="254000"/>
          </a:xfrm>
          <a:prstGeom prst="roundRect">
            <a:avLst>
              <a:gd name="adj" fmla="val 28800"/>
            </a:avLst>
          </a:prstGeom>
          <a:solidFill>
            <a:srgbClr val="FFF1D8"/>
          </a:solidFill>
          <a:ln w="12700">
            <a:solidFill>
              <a:srgbClr val="FFF1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5900" y="21336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fan-out  ∥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01060" y="2171700"/>
            <a:ext cx="548640" cy="1143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Low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001520" y="2171700"/>
            <a:ext cx="1361440" cy="114300"/>
          </a:xfrm>
          <a:prstGeom prst="roundRect">
            <a:avLst>
              <a:gd name="adj" fmla="val 40000"/>
            </a:avLst>
          </a:prstGeom>
          <a:solidFill>
            <a:srgbClr val="B86A00"/>
          </a:solidFill>
          <a:ln w="6350">
            <a:solidFill>
              <a:srgbClr val="B86A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Send / parallel edges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496060" y="2171700"/>
            <a:ext cx="467360" cy="1143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215900" y="2413000"/>
            <a:ext cx="373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independent, read-only agents at the same time, then merges results. Write actions stay sequential.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03200" y="2946400"/>
            <a:ext cx="3759200" cy="508000"/>
          </a:xfrm>
          <a:prstGeom prst="roundRect">
            <a:avLst>
              <a:gd name="adj" fmla="val 9000"/>
            </a:avLst>
          </a:prstGeom>
          <a:solidFill>
            <a:srgbClr val="F7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66700" y="2984500"/>
            <a:ext cx="3632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 example  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 I eligible for the 401(k) match and what would I get at 6%?" → Eligibility ∥ Calculator, then one combined answer.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140200" y="2095500"/>
            <a:ext cx="3911600" cy="1422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EC8A8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146550" y="2101850"/>
            <a:ext cx="3898900" cy="254000"/>
          </a:xfrm>
          <a:prstGeom prst="roundRect">
            <a:avLst>
              <a:gd name="adj" fmla="val 28800"/>
            </a:avLst>
          </a:prstGeom>
          <a:solidFill>
            <a:srgbClr val="FDE3E2"/>
          </a:solidFill>
          <a:ln w="12700">
            <a:solidFill>
              <a:srgbClr val="FDE3E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229100" y="21336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Evaluator-optimizer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292340" y="2171700"/>
            <a:ext cx="670560" cy="1143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Medium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339840" y="2171700"/>
            <a:ext cx="914400" cy="114300"/>
          </a:xfrm>
          <a:prstGeom prst="roundRect">
            <a:avLst>
              <a:gd name="adj" fmla="val 40000"/>
            </a:avLst>
          </a:prstGeom>
          <a:solidFill>
            <a:srgbClr val="C0392B"/>
          </a:solidFill>
          <a:ln w="6350">
            <a:solidFill>
              <a:srgbClr val="C039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call, loop max 2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915660" y="2171700"/>
            <a:ext cx="386080" cy="1143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4229100" y="2413000"/>
            <a:ext cx="373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agent checks the draft against its citations and sends specific feedback; the agent revises. Not complex: one conditional edge in LangGraph.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216400" y="2946400"/>
            <a:ext cx="3759200" cy="508000"/>
          </a:xfrm>
          <a:prstGeom prst="roundRect">
            <a:avLst>
              <a:gd name="adj" fmla="val 9000"/>
            </a:avLst>
          </a:prstGeom>
          <a:solidFill>
            <a:srgbClr val="F7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279900" y="2984500"/>
            <a:ext cx="3632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 example  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Draft: "company matches 100%." Reviewer: "cited text says 100% of first 3%, 50% of next 2%; add the math." Revised answer passes.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153400" y="2095500"/>
            <a:ext cx="3911600" cy="1422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EC8A8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159750" y="2101850"/>
            <a:ext cx="3898900" cy="254000"/>
          </a:xfrm>
          <a:prstGeom prst="roundRect">
            <a:avLst>
              <a:gd name="adj" fmla="val 28800"/>
            </a:avLst>
          </a:prstGeom>
          <a:solidFill>
            <a:srgbClr val="FDE3E2"/>
          </a:solidFill>
          <a:ln w="12700">
            <a:solidFill>
              <a:srgbClr val="FDE3E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242300" y="21336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1305540" y="2171700"/>
            <a:ext cx="670560" cy="1143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Medium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0149840" y="2171700"/>
            <a:ext cx="1117600" cy="114300"/>
          </a:xfrm>
          <a:prstGeom prst="roundRect">
            <a:avLst>
              <a:gd name="adj" fmla="val 40000"/>
            </a:avLst>
          </a:prstGeom>
          <a:solidFill>
            <a:srgbClr val="C0392B"/>
          </a:solidFill>
          <a:ln w="6350">
            <a:solidFill>
              <a:srgbClr val="C039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model, selective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9725660" y="2171700"/>
            <a:ext cx="386080" cy="1143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700" dirty="0"/>
          </a:p>
        </p:txBody>
      </p:sp>
      <p:sp>
        <p:nvSpPr>
          <p:cNvPr id="56" name="Text 54"/>
          <p:cNvSpPr txBox="1"/>
          <p:nvPr/>
        </p:nvSpPr>
        <p:spPr>
          <a:xfrm>
            <a:off x="8242300" y="2413000"/>
            <a:ext cx="373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LLM as a Judge Agent, used only when it pays off: high-risk topics, low reviewer confidence, a 5% sample for quality scores, and the release gate.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229600" y="2946400"/>
            <a:ext cx="3759200" cy="508000"/>
          </a:xfrm>
          <a:prstGeom prst="roundRect">
            <a:avLst>
              <a:gd name="adj" fmla="val 9000"/>
            </a:avLst>
          </a:prstGeom>
          <a:solidFill>
            <a:srgbClr val="F7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293100" y="2984500"/>
            <a:ext cx="3632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 example  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"Can I take FMLA leave for my father?" → judged before sending. Offline: nightly score of sampled answers on the golden dataset.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27000" y="3594100"/>
            <a:ext cx="3911600" cy="1422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133350" y="3600450"/>
            <a:ext cx="3898900" cy="254000"/>
          </a:xfrm>
          <a:prstGeom prst="roundRect">
            <a:avLst>
              <a:gd name="adj" fmla="val 28800"/>
            </a:avLst>
          </a:prstGeom>
          <a:solidFill>
            <a:srgbClr val="ECF8F6"/>
          </a:solidFill>
          <a:ln w="12700">
            <a:solidFill>
              <a:srgbClr val="ECF8F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15900" y="36322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approval (HITL)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279140" y="3670300"/>
            <a:ext cx="670560" cy="1143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Medium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367280" y="3670300"/>
            <a:ext cx="873760" cy="114300"/>
          </a:xfrm>
          <a:prstGeom prst="roundRect">
            <a:avLst>
              <a:gd name="adj" fmla="val 40000"/>
            </a:avLst>
          </a:prstGeom>
          <a:solidFill>
            <a:srgbClr val="0B5E57"/>
          </a:solidFill>
          <a:ln w="6350">
            <a:solidFill>
              <a:srgbClr val="0B5E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interrupt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983740" y="3670300"/>
            <a:ext cx="345440" cy="1143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700" dirty="0"/>
          </a:p>
        </p:txBody>
      </p:sp>
      <p:sp>
        <p:nvSpPr>
          <p:cNvPr id="65" name="Text 63"/>
          <p:cNvSpPr txBox="1"/>
          <p:nvPr/>
        </p:nvSpPr>
        <p:spPr>
          <a:xfrm>
            <a:off x="215900" y="3911600"/>
            <a:ext cx="373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that needs HR judgment pauses the graph until an HR specialist decides; ordinary PTO needs no approval. See the HITL slide.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03200" y="4445000"/>
            <a:ext cx="3759200" cy="508000"/>
          </a:xfrm>
          <a:prstGeom prst="roundRect">
            <a:avLst>
              <a:gd name="adj" fmla="val 9000"/>
            </a:avLst>
          </a:prstGeom>
          <a:solidFill>
            <a:srgbClr val="F7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66700" y="4483100"/>
            <a:ext cx="3632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 example  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"Caregiver leave for my mother, 3 weeks from Nov 3" → tools check 1 year of service; HRB_LMS_ANALYTICS checks the last 12 months → HR reviews reason and documents → approve → MCP submit.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140200" y="3594100"/>
            <a:ext cx="3911600" cy="1422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146550" y="3600450"/>
            <a:ext cx="3898900" cy="254000"/>
          </a:xfrm>
          <a:prstGeom prst="roundRect">
            <a:avLst>
              <a:gd name="adj" fmla="val 28800"/>
            </a:avLst>
          </a:prstGeom>
          <a:solidFill>
            <a:srgbClr val="ECF8F6"/>
          </a:solidFill>
          <a:ln w="12700">
            <a:solidFill>
              <a:srgbClr val="ECF8F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229100" y="36322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guardrails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414260" y="3670300"/>
            <a:ext cx="548640" cy="1143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Low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7112000" y="3670300"/>
            <a:ext cx="264160" cy="114300"/>
          </a:xfrm>
          <a:prstGeom prst="roundRect">
            <a:avLst>
              <a:gd name="adj" fmla="val 40000"/>
            </a:avLst>
          </a:prstGeom>
          <a:solidFill>
            <a:srgbClr val="0B5E57"/>
          </a:solidFill>
          <a:ln w="6350">
            <a:solidFill>
              <a:srgbClr val="0B5E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728460" y="3670300"/>
            <a:ext cx="345440" cy="1143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700" dirty="0"/>
          </a:p>
        </p:txBody>
      </p:sp>
      <p:sp>
        <p:nvSpPr>
          <p:cNvPr id="74" name="Text 72"/>
          <p:cNvSpPr txBox="1"/>
          <p:nvPr/>
        </p:nvSpPr>
        <p:spPr>
          <a:xfrm>
            <a:off x="4229100" y="3911600"/>
            <a:ext cx="373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gets an allow-list of tools; arguments are schema-checked; tools act only for the signed-in employee.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216400" y="4445000"/>
            <a:ext cx="3759200" cy="508000"/>
          </a:xfrm>
          <a:prstGeom prst="roundRect">
            <a:avLst>
              <a:gd name="adj" fmla="val 9000"/>
            </a:avLst>
          </a:prstGeom>
          <a:solidFill>
            <a:srgbClr val="F7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279900" y="4483100"/>
            <a:ext cx="3632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 example  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Ops Agent cannot call the calculator's admin endpoints; a request for another employee's balance is refused.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8153400" y="3594100"/>
            <a:ext cx="3911600" cy="1422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8159750" y="3600450"/>
            <a:ext cx="3898900" cy="254000"/>
          </a:xfrm>
          <a:prstGeom prst="roundRect">
            <a:avLst>
              <a:gd name="adj" fmla="val 28800"/>
            </a:avLst>
          </a:prstGeom>
          <a:solidFill>
            <a:srgbClr val="F1EAFC"/>
          </a:solidFill>
          <a:ln w="12700">
            <a:solidFill>
              <a:srgbClr val="F1EAFC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242300" y="36322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handoffs (LangGraph)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11427460" y="3670300"/>
            <a:ext cx="548640" cy="1143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Low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0922000" y="3670300"/>
            <a:ext cx="467360" cy="114300"/>
          </a:xfrm>
          <a:prstGeom prst="roundRect">
            <a:avLst>
              <a:gd name="adj" fmla="val 40000"/>
            </a:avLst>
          </a:prstGeom>
          <a:solidFill>
            <a:srgbClr val="6A3FC8"/>
          </a:solidFill>
          <a:ln w="6350">
            <a:solidFill>
              <a:srgbClr val="6A3F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10457180" y="3670300"/>
            <a:ext cx="426720" cy="1143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700" dirty="0"/>
          </a:p>
        </p:txBody>
      </p:sp>
      <p:sp>
        <p:nvSpPr>
          <p:cNvPr id="83" name="Text 81"/>
          <p:cNvSpPr txBox="1"/>
          <p:nvPr/>
        </p:nvSpPr>
        <p:spPr>
          <a:xfrm>
            <a:off x="8242300" y="3911600"/>
            <a:ext cx="373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graph state and a Postgres checkpointer carry context between agents and survive restarts. This is in-process handoff, not the A2A network protocol (adr-010).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229600" y="4445000"/>
            <a:ext cx="3759200" cy="508000"/>
          </a:xfrm>
          <a:prstGeom prst="roundRect">
            <a:avLst>
              <a:gd name="adj" fmla="val 9000"/>
            </a:avLst>
          </a:prstGeom>
          <a:solidFill>
            <a:srgbClr val="F7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8293100" y="4483100"/>
            <a:ext cx="3632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 example  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writes the plan to state; Orchestration reads it; Reviewer adds feedback; a crashed run resumes from the last checkpoint.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127000" y="5156200"/>
            <a:ext cx="11938000" cy="2336800"/>
          </a:xfrm>
          <a:prstGeom prst="roundRect">
            <a:avLst>
              <a:gd name="adj" fmla="val 3130"/>
            </a:avLst>
          </a:prstGeom>
          <a:solidFill>
            <a:srgbClr val="FFFFFF"/>
          </a:solidFill>
          <a:ln w="15875">
            <a:solidFill>
              <a:srgbClr val="B6C2D4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87" name="Text 85"/>
          <p:cNvSpPr txBox="1"/>
          <p:nvPr/>
        </p:nvSpPr>
        <p:spPr>
          <a:xfrm>
            <a:off x="228600" y="5219700"/>
            <a:ext cx="7620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NLP use cases to demonstrate (no LLM needed, cheap and fast)</a:t>
            </a:r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NLP handles easy, high-volume steps; the LLM handles reasoning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228600" y="5448300"/>
            <a:ext cx="2260600" cy="1955800"/>
          </a:xfrm>
          <a:prstGeom prst="roundRect">
            <a:avLst>
              <a:gd name="adj" fmla="val 3740"/>
            </a:avLst>
          </a:prstGeom>
          <a:solidFill>
            <a:srgbClr val="F6F8FA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89" name="Text 87"/>
          <p:cNvSpPr txBox="1"/>
          <p:nvPr/>
        </p:nvSpPr>
        <p:spPr>
          <a:xfrm>
            <a:off x="317500" y="5511800"/>
            <a:ext cx="208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317500" y="5702300"/>
            <a:ext cx="1282700" cy="114300"/>
          </a:xfrm>
          <a:prstGeom prst="roundRect">
            <a:avLst>
              <a:gd name="adj" fmla="val 40000"/>
            </a:avLst>
          </a:prstGeom>
          <a:solidFill>
            <a:srgbClr val="2F5F9E"/>
          </a:solidFill>
          <a:ln w="6350">
            <a:solidFill>
              <a:srgbClr val="2F5F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NER + Microsoft Presidio</a:t>
            </a:r>
            <a:endParaRPr lang="en-US" sz="700" dirty="0"/>
          </a:p>
        </p:txBody>
      </p:sp>
      <p:sp>
        <p:nvSpPr>
          <p:cNvPr id="91" name="Text 89"/>
          <p:cNvSpPr txBox="1"/>
          <p:nvPr/>
        </p:nvSpPr>
        <p:spPr>
          <a:xfrm>
            <a:off x="317500" y="5880100"/>
            <a:ext cx="2082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into: </a:t>
            </a:r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guardrails</a:t>
            </a:r>
            <a:endParaRPr lang="en-US" sz="850" dirty="0"/>
          </a:p>
        </p:txBody>
      </p:sp>
      <p:sp>
        <p:nvSpPr>
          <p:cNvPr id="92" name="Text 90"/>
          <p:cNvSpPr txBox="1"/>
          <p:nvPr/>
        </p:nvSpPr>
        <p:spPr>
          <a:xfrm>
            <a:off x="317500" y="6045200"/>
            <a:ext cx="208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names, SSNs, and account numbers before any LLM call or log write.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304800" y="6692900"/>
            <a:ext cx="2108200" cy="635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368300" y="6743700"/>
            <a:ext cx="19812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SSN is 123-45-6789" → "My SSN is &lt;SSN&gt;"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2590800" y="5448300"/>
            <a:ext cx="2260600" cy="1955800"/>
          </a:xfrm>
          <a:prstGeom prst="roundRect">
            <a:avLst>
              <a:gd name="adj" fmla="val 3740"/>
            </a:avLst>
          </a:prstGeom>
          <a:solidFill>
            <a:srgbClr val="F6F8FA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96" name="Text 94"/>
          <p:cNvSpPr txBox="1"/>
          <p:nvPr/>
        </p:nvSpPr>
        <p:spPr>
          <a:xfrm>
            <a:off x="2679700" y="5511800"/>
            <a:ext cx="208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Cache-key normalization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2679700" y="5702300"/>
            <a:ext cx="1203960" cy="114300"/>
          </a:xfrm>
          <a:prstGeom prst="roundRect">
            <a:avLst>
              <a:gd name="adj" fmla="val 40000"/>
            </a:avLst>
          </a:prstGeom>
          <a:solidFill>
            <a:srgbClr val="2F5F9E"/>
          </a:solidFill>
          <a:ln w="6350">
            <a:solidFill>
              <a:srgbClr val="2F5F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lemmatizer, stop words</a:t>
            </a:r>
            <a:endParaRPr lang="en-US" sz="700" dirty="0"/>
          </a:p>
        </p:txBody>
      </p:sp>
      <p:sp>
        <p:nvSpPr>
          <p:cNvPr id="98" name="Text 96"/>
          <p:cNvSpPr txBox="1"/>
          <p:nvPr/>
        </p:nvSpPr>
        <p:spPr>
          <a:xfrm>
            <a:off x="2679700" y="5880100"/>
            <a:ext cx="2082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into: </a:t>
            </a:r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/ ① cache keys</a:t>
            </a:r>
            <a:endParaRPr lang="en-US" sz="850" dirty="0"/>
          </a:p>
        </p:txBody>
      </p:sp>
      <p:sp>
        <p:nvSpPr>
          <p:cNvPr id="99" name="Text 97"/>
          <p:cNvSpPr txBox="1"/>
          <p:nvPr/>
        </p:nvSpPr>
        <p:spPr>
          <a:xfrm>
            <a:off x="2679700" y="6045200"/>
            <a:ext cx="208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small wording differences into the same key, so Tier 1 exact hits go up.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2667000" y="6692900"/>
            <a:ext cx="2108200" cy="635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2730500" y="6743700"/>
            <a:ext cx="19812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PTO days do I get?" = "how many pto day get"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4953000" y="5448300"/>
            <a:ext cx="2260600" cy="1955800"/>
          </a:xfrm>
          <a:prstGeom prst="roundRect">
            <a:avLst>
              <a:gd name="adj" fmla="val 3740"/>
            </a:avLst>
          </a:prstGeom>
          <a:solidFill>
            <a:srgbClr val="F6F8FA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03" name="Text 101"/>
          <p:cNvSpPr txBox="1"/>
          <p:nvPr/>
        </p:nvSpPr>
        <p:spPr>
          <a:xfrm>
            <a:off x="5041900" y="5511800"/>
            <a:ext cx="208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and amount extraction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5041900" y="5702300"/>
            <a:ext cx="1125220" cy="114300"/>
          </a:xfrm>
          <a:prstGeom prst="roundRect">
            <a:avLst>
              <a:gd name="adj" fmla="val 40000"/>
            </a:avLst>
          </a:prstGeom>
          <a:solidFill>
            <a:srgbClr val="2F5F9E"/>
          </a:solidFill>
          <a:ln w="6350">
            <a:solidFill>
              <a:srgbClr val="2F5F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dateparser + regex / spaCy</a:t>
            </a:r>
            <a:endParaRPr lang="en-US" sz="700" dirty="0"/>
          </a:p>
        </p:txBody>
      </p:sp>
      <p:sp>
        <p:nvSpPr>
          <p:cNvPr id="105" name="Text 103"/>
          <p:cNvSpPr txBox="1"/>
          <p:nvPr/>
        </p:nvSpPr>
        <p:spPr>
          <a:xfrm>
            <a:off x="5041900" y="5880100"/>
            <a:ext cx="2082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into: </a:t>
            </a:r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Ops Agent, Calculator</a:t>
            </a:r>
            <a:endParaRPr lang="en-US" sz="850" dirty="0"/>
          </a:p>
        </p:txBody>
      </p:sp>
      <p:sp>
        <p:nvSpPr>
          <p:cNvPr id="106" name="Text 104"/>
          <p:cNvSpPr txBox="1"/>
          <p:nvPr/>
        </p:nvSpPr>
        <p:spPr>
          <a:xfrm>
            <a:off x="5041900" y="6045200"/>
            <a:ext cx="208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dates and money from the question into clean tool arguments.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5029200" y="6692900"/>
            <a:ext cx="2108200" cy="635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5092700" y="6743700"/>
            <a:ext cx="19812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"next Friday to the 30th" → 2026-10-09 to 2026-10-30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7315200" y="5448300"/>
            <a:ext cx="2260600" cy="1955800"/>
          </a:xfrm>
          <a:prstGeom prst="roundRect">
            <a:avLst>
              <a:gd name="adj" fmla="val 3740"/>
            </a:avLst>
          </a:prstGeom>
          <a:solidFill>
            <a:srgbClr val="F6F8FA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10" name="Text 108"/>
          <p:cNvSpPr txBox="1"/>
          <p:nvPr/>
        </p:nvSpPr>
        <p:spPr>
          <a:xfrm>
            <a:off x="7404100" y="5511800"/>
            <a:ext cx="208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intent pre-router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7404100" y="5702300"/>
            <a:ext cx="1203960" cy="114300"/>
          </a:xfrm>
          <a:prstGeom prst="roundRect">
            <a:avLst>
              <a:gd name="adj" fmla="val 40000"/>
            </a:avLst>
          </a:prstGeom>
          <a:solidFill>
            <a:srgbClr val="2F5F9E"/>
          </a:solidFill>
          <a:ln w="6350">
            <a:solidFill>
              <a:srgbClr val="2F5F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</a:t>
            </a:r>
            <a:endParaRPr lang="en-US" sz="700" dirty="0"/>
          </a:p>
        </p:txBody>
      </p:sp>
      <p:sp>
        <p:nvSpPr>
          <p:cNvPr id="112" name="Text 110"/>
          <p:cNvSpPr txBox="1"/>
          <p:nvPr/>
        </p:nvSpPr>
        <p:spPr>
          <a:xfrm>
            <a:off x="7404100" y="5880100"/>
            <a:ext cx="2082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into: </a:t>
            </a:r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Planner</a:t>
            </a:r>
            <a:endParaRPr lang="en-US" sz="850" dirty="0"/>
          </a:p>
        </p:txBody>
      </p:sp>
      <p:sp>
        <p:nvSpPr>
          <p:cNvPr id="113" name="Text 111"/>
          <p:cNvSpPr txBox="1"/>
          <p:nvPr/>
        </p:nvSpPr>
        <p:spPr>
          <a:xfrm>
            <a:off x="7404100" y="6045200"/>
            <a:ext cx="208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greetings and FAQ-type questions down a cheap path; only unclear ones go to the LLM planner.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7391400" y="6692900"/>
            <a:ext cx="2108200" cy="635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7454900" y="6743700"/>
            <a:ext cx="19812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"thanks!" → greeting, no LLM · "401k loan rules?" → policy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9677400" y="5448300"/>
            <a:ext cx="2260600" cy="1955800"/>
          </a:xfrm>
          <a:prstGeom prst="roundRect">
            <a:avLst>
              <a:gd name="adj" fmla="val 3740"/>
            </a:avLst>
          </a:prstGeom>
          <a:solidFill>
            <a:srgbClr val="F6F8FA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17" name="Text 115"/>
          <p:cNvSpPr txBox="1"/>
          <p:nvPr/>
        </p:nvSpPr>
        <p:spPr>
          <a:xfrm>
            <a:off x="9766300" y="5511800"/>
            <a:ext cx="208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 detection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9766300" y="5702300"/>
            <a:ext cx="1558290" cy="114300"/>
          </a:xfrm>
          <a:prstGeom prst="roundRect">
            <a:avLst>
              <a:gd name="adj" fmla="val 40000"/>
            </a:avLst>
          </a:prstGeom>
          <a:solidFill>
            <a:srgbClr val="2F5F9E"/>
          </a:solidFill>
          <a:ln w="6350">
            <a:solidFill>
              <a:srgbClr val="2F5F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sentiment or a small classifier</a:t>
            </a:r>
            <a:endParaRPr lang="en-US" sz="700" dirty="0"/>
          </a:p>
        </p:txBody>
      </p:sp>
      <p:sp>
        <p:nvSpPr>
          <p:cNvPr id="119" name="Text 117"/>
          <p:cNvSpPr txBox="1"/>
          <p:nvPr/>
        </p:nvSpPr>
        <p:spPr>
          <a:xfrm>
            <a:off x="9766300" y="5880100"/>
            <a:ext cx="2082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into: </a:t>
            </a:r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escalation</a:t>
            </a:r>
            <a:endParaRPr lang="en-US" sz="850" dirty="0"/>
          </a:p>
        </p:txBody>
      </p:sp>
      <p:sp>
        <p:nvSpPr>
          <p:cNvPr id="120" name="Text 118"/>
          <p:cNvSpPr txBox="1"/>
          <p:nvPr/>
        </p:nvSpPr>
        <p:spPr>
          <a:xfrm>
            <a:off x="9766300" y="6045200"/>
            <a:ext cx="208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an upset employee and offers a person early.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9753600" y="6692900"/>
            <a:ext cx="2108200" cy="635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9817100" y="6743700"/>
            <a:ext cx="19812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the third time I'm asking!!" → offer HR contact</a:t>
            </a:r>
            <a:endParaRPr lang="en-US" sz="850" dirty="0"/>
          </a:p>
        </p:txBody>
      </p:sp>
      <p:sp>
        <p:nvSpPr>
          <p:cNvPr id="124" name="Text 121"/>
          <p:cNvSpPr/>
          <p:nvPr/>
        </p:nvSpPr>
        <p:spPr>
          <a:xfrm>
            <a:off x="11070590" y="368300"/>
            <a:ext cx="1032510" cy="95250"/>
          </a:xfrm>
          <a:prstGeom prst="roundRect">
            <a:avLst>
              <a:gd name="adj" fmla="val 48000"/>
            </a:avLst>
          </a:prstGeom>
          <a:solidFill>
            <a:srgbClr val="F5BD5C"/>
          </a:solidFill>
          <a:ln w="6350">
            <a:solidFill>
              <a:srgbClr val="F5BD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agentic patterns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2600"/>
          </a:xfrm>
          <a:prstGeom prst="rect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77800" y="63500"/>
            <a:ext cx="793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Done Right: Keys, Freshness, Lineage, Evals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128000" y="63500"/>
            <a:ext cx="388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slides 1 and 2 · ① answer cache · ② embedding cache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27000" y="584200"/>
            <a:ext cx="2184400" cy="3429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2700">
            <a:solidFill>
              <a:srgbClr val="0B5E5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D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masked first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11400" y="755650"/>
            <a:ext cx="2032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527300" y="584200"/>
            <a:ext cx="2184400" cy="342900"/>
          </a:xfrm>
          <a:prstGeom prst="roundRect">
            <a:avLst>
              <a:gd name="adj" fmla="val 16000"/>
            </a:avLst>
          </a:prstGeom>
          <a:solidFill>
            <a:srgbClr val="FFF1D6"/>
          </a:solidFill>
          <a:ln w="12700">
            <a:solidFill>
              <a:srgbClr val="E9B04E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Builder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→ standalone question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11700" y="755650"/>
            <a:ext cx="2032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927600" y="584200"/>
            <a:ext cx="2184400" cy="342900"/>
          </a:xfrm>
          <a:prstGeom prst="roundRect">
            <a:avLst>
              <a:gd name="adj" fmla="val 16000"/>
            </a:avLst>
          </a:prstGeom>
          <a:solidFill>
            <a:srgbClr val="EEE6FB"/>
          </a:solidFill>
          <a:ln w="12700">
            <a:solidFill>
              <a:srgbClr val="AE8FE3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User Query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embedding cache first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112000" y="755650"/>
            <a:ext cx="2032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327900" y="584200"/>
            <a:ext cx="2184400" cy="342900"/>
          </a:xfrm>
          <a:prstGeom prst="roundRect">
            <a:avLst>
              <a:gd name="adj" fmla="val 16000"/>
            </a:avLst>
          </a:prstGeom>
          <a:solidFill>
            <a:srgbClr val="FFFBEA"/>
          </a:solidFill>
          <a:ln w="12700">
            <a:solidFill>
              <a:srgbClr val="E0C35A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gate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questions only; personal → skip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512300" y="755650"/>
            <a:ext cx="2032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728200" y="584200"/>
            <a:ext cx="2184400" cy="342900"/>
          </a:xfrm>
          <a:prstGeom prst="roundRect">
            <a:avLst>
              <a:gd name="adj" fmla="val 16000"/>
            </a:avLst>
          </a:prstGeom>
          <a:solidFill>
            <a:srgbClr val="FDE3E2"/>
          </a:solidFill>
          <a:ln w="12700">
            <a:solidFill>
              <a:srgbClr val="EC8A8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Answer Cache ①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step, not an agent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7000" y="1028700"/>
            <a:ext cx="3937000" cy="2794000"/>
          </a:xfrm>
          <a:prstGeom prst="roundRect">
            <a:avLst>
              <a:gd name="adj" fmla="val 1964"/>
            </a:avLst>
          </a:prstGeom>
          <a:solidFill>
            <a:srgbClr val="FFFFFF"/>
          </a:solidFill>
          <a:ln w="15875">
            <a:solidFill>
              <a:srgbClr val="EC8A8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28600" y="1092200"/>
            <a:ext cx="374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Keys and reuse rules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228600" y="1282700"/>
            <a:ext cx="3746500" cy="248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key (Tier 1):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of the cleaned standalone question + plan year + employee group + KB version + prompt version + model version.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 (Tier 2):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only vectors from the same embedding model and version; store the model id with every vector; same text cleaning; cosine on normalized vectors.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 check: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(can / can't), numbers and years, plan names (HMO / PPO); a mini LLM "does this saved answer fit?" check on Tier 2 hits.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embedding ②: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after PII masking; trim, fix Unicode form, lowercase; never drop words.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cache: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data, low-confidence answers, answers sent to HR review, web-search answers (or give them a short TTL).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misses at once: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single-flight lock, so identical new questions cause one LLM call.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Redis DB or instance for cache and rate limits.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65600" y="1028700"/>
            <a:ext cx="3937000" cy="2794000"/>
          </a:xfrm>
          <a:prstGeom prst="roundRect">
            <a:avLst>
              <a:gd name="adj" fmla="val 1964"/>
            </a:avLst>
          </a:prstGeom>
          <a:solidFill>
            <a:srgbClr val="FFFFFF"/>
          </a:solidFill>
          <a:ln w="15875">
            <a:solidFill>
              <a:srgbClr val="AE8FE3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267200" y="1092200"/>
            <a:ext cx="374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Freshness: refresh and recycle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67200" y="1295400"/>
          <a:ext cx="3733800" cy="914400"/>
        </p:xfrm>
        <a:graphic>
          <a:graphicData uri="http://schemas.openxmlformats.org/drawingml/2006/table">
            <a:tbl>
              <a:tblPr/>
              <a:tblGrid>
                <a:gridCol w="987097"/>
                <a:gridCol w="1373352"/>
                <a:gridCol w="1373352"/>
              </a:tblGrid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answer cache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embedding cache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Expiry (TTL)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7–30 days [INSERT]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long; content hash changes with the text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change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entries citing that doc (doc_id → cache_id index)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chunk hash = miss by itself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year / KB version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namespace; old entries miss, then expire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or prompt change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is in the key = clean miss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model: new namespace; rebuild, then switch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full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volatile-lru + memory limit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or manual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thumbs-down, HR correction, or admin clear endpoint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clear endpoint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4267200" y="3657600"/>
            <a:ext cx="3733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used: "serve stale while refreshing". Correct policy answers matter more than speed.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8204200" y="1028700"/>
            <a:ext cx="3860800" cy="2794000"/>
          </a:xfrm>
          <a:prstGeom prst="roundRect">
            <a:avLst>
              <a:gd name="adj" fmla="val 1964"/>
            </a:avLst>
          </a:prstGeom>
          <a:solidFill>
            <a:srgbClr val="FFFFFF"/>
          </a:solidFill>
          <a:ln w="15875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305800" y="1092200"/>
            <a:ext cx="3670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Lineage and archive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305800" y="1282700"/>
            <a:ext cx="3670300" cy="248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record: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cache_id, cleaned question + hash, scope, embedding model + version, answer, citations (doc_id, doc version, chunk_ids), prompt version, LLM model, reviewer score, judge result, created_at, TTL, hit_count, last_hit, trace_id.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index: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doc_id → cache_ids (a Redis set), used to invalidate answers when a document changes.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log: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hit records cache_id + the request trace_id, so you can answer "who received this answer?" if it was wrong.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can lose data, so cache events (created, hit, invalidated, evicted + reason) go to a Postgres cache_events table; older rows move to S3 [INSERT schedule].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link: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trace_id opens the full run (retrieval, agents, reviewer) in Langfuse or LangSmith [INSERT].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27000" y="3924300"/>
            <a:ext cx="7493000" cy="2413000"/>
          </a:xfrm>
          <a:prstGeom prst="roundRect">
            <a:avLst>
              <a:gd name="adj" fmla="val 2274"/>
            </a:avLst>
          </a:prstGeom>
          <a:solidFill>
            <a:srgbClr val="FFFFFF"/>
          </a:solidFill>
          <a:ln w="15875">
            <a:solidFill>
              <a:srgbClr val="B6C2D4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228600" y="3987800"/>
            <a:ext cx="730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Evals for caching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28600" y="4203700"/>
            <a:ext cx="3568700" cy="952500"/>
          </a:xfrm>
          <a:prstGeom prst="roundRect">
            <a:avLst>
              <a:gd name="adj" fmla="val 5760"/>
            </a:avLst>
          </a:prstGeom>
          <a:solidFill>
            <a:srgbClr val="E6EEF9"/>
          </a:solidFill>
          <a:ln w="9525">
            <a:solidFill>
              <a:srgbClr val="E6EEF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317500" y="4267200"/>
            <a:ext cx="3390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pair set</a:t>
            </a:r>
            <a:endParaRPr lang="en-US" sz="8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pairs: "should hit" (paraphrases) and "must not hit" (negation, other year, personal vs policy). Measure precision and recall at each threshold; pick the threshold from the data.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898900" y="4203700"/>
            <a:ext cx="3568700" cy="952500"/>
          </a:xfrm>
          <a:prstGeom prst="roundRect">
            <a:avLst>
              <a:gd name="adj" fmla="val 5760"/>
            </a:avLst>
          </a:prstGeom>
          <a:solidFill>
            <a:srgbClr val="F1EAFC"/>
          </a:solidFill>
          <a:ln w="9525">
            <a:solidFill>
              <a:srgbClr val="F1EAF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3987800" y="4267200"/>
            <a:ext cx="3390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sampling</a:t>
            </a:r>
            <a:endParaRPr lang="en-US" sz="8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on about 5% of hits [INSERT]: "does the saved answer fit this new question?" Failures go to HR review and delete the entry.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28600" y="5245100"/>
            <a:ext cx="3568700" cy="952500"/>
          </a:xfrm>
          <a:prstGeom prst="roundRect">
            <a:avLst>
              <a:gd name="adj" fmla="val 5760"/>
            </a:avLst>
          </a:prstGeom>
          <a:solidFill>
            <a:srgbClr val="FFF1D6"/>
          </a:solidFill>
          <a:ln w="9525">
            <a:solidFill>
              <a:srgbClr val="FFF1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317500" y="5308600"/>
            <a:ext cx="3390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document change</a:t>
            </a:r>
            <a:endParaRPr lang="en-US" sz="8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check: no hit may cite an old doc version. Alert if one does.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898900" y="5245100"/>
            <a:ext cx="3568700" cy="952500"/>
          </a:xfrm>
          <a:prstGeom prst="roundRect">
            <a:avLst>
              <a:gd name="adj" fmla="val 5760"/>
            </a:avLst>
          </a:prstGeom>
          <a:solidFill>
            <a:srgbClr val="E4F4F0"/>
          </a:solidFill>
          <a:ln w="9525">
            <a:solidFill>
              <a:srgbClr val="E4F4F0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3987800" y="5308600"/>
            <a:ext cx="3390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</a:t>
            </a:r>
            <a:endParaRPr lang="en-US" sz="8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pair set when the threshold, embedding model, or prompt changes. Block the release if false hits go up.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7721600" y="3924300"/>
            <a:ext cx="4343400" cy="2413000"/>
          </a:xfrm>
          <a:prstGeom prst="roundRect">
            <a:avLst>
              <a:gd name="adj" fmla="val 2274"/>
            </a:avLst>
          </a:prstGeom>
          <a:solidFill>
            <a:srgbClr val="FFFFFF"/>
          </a:solidFill>
          <a:ln w="15875">
            <a:solidFill>
              <a:srgbClr val="B6C2D4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7823200" y="3987800"/>
            <a:ext cx="412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Cache metrics to watch</a:t>
            </a:r>
            <a:endParaRPr lang="en-US" sz="8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23200" y="4191000"/>
          <a:ext cx="4140200" cy="914400"/>
        </p:xfrm>
        <a:graphic>
          <a:graphicData uri="http://schemas.openxmlformats.org/drawingml/2006/table">
            <a:tbl>
              <a:tblPr/>
              <a:tblGrid>
                <a:gridCol w="1514707"/>
                <a:gridCol w="1413727"/>
                <a:gridCol w="1211766"/>
              </a:tblGrid>
              <a:tr h="279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rate per tier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of the cache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False-hit 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answer served fast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1% [INSERT]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Stale-hit 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policy served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latency: hit vs miss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benefit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300 ms / &lt; 6 s [INSERT]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saved per day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calls avoided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up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Eviction rate, memory used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sized right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70% memory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Shape 33"/>
          <p:cNvSpPr/>
          <p:nvPr/>
        </p:nvSpPr>
        <p:spPr>
          <a:xfrm>
            <a:off x="127000" y="6438900"/>
            <a:ext cx="11938000" cy="1079500"/>
          </a:xfrm>
          <a:prstGeom prst="roundRect">
            <a:avLst>
              <a:gd name="adj" fmla="val 5082"/>
            </a:avLst>
          </a:prstGeom>
          <a:solidFill>
            <a:srgbClr val="FDF2F2"/>
          </a:solidFill>
          <a:ln w="12700">
            <a:solidFill>
              <a:srgbClr val="EC8A8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38" name="Text 34"/>
          <p:cNvSpPr txBox="1"/>
          <p:nvPr/>
        </p:nvSpPr>
        <p:spPr>
          <a:xfrm>
            <a:off x="228600" y="650240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to avoid in code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228600" y="6718300"/>
            <a:ext cx="2260600" cy="698500"/>
          </a:xfrm>
          <a:prstGeom prst="roundRect">
            <a:avLst>
              <a:gd name="adj" fmla="val 7855"/>
            </a:avLst>
          </a:prstGeom>
          <a:solidFill>
            <a:srgbClr val="FFFFFF"/>
          </a:solidFill>
          <a:ln w="9525">
            <a:solidFill>
              <a:srgbClr val="F2B8B5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40" name="Text 36"/>
          <p:cNvSpPr txBox="1"/>
          <p:nvPr/>
        </p:nvSpPr>
        <p:spPr>
          <a:xfrm>
            <a:off x="317500" y="6769100"/>
            <a:ext cx="2082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vectors made by two different embedding models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2590800" y="6718300"/>
            <a:ext cx="2260600" cy="698500"/>
          </a:xfrm>
          <a:prstGeom prst="roundRect">
            <a:avLst>
              <a:gd name="adj" fmla="val 7855"/>
            </a:avLst>
          </a:prstGeom>
          <a:solidFill>
            <a:srgbClr val="FFFFFF"/>
          </a:solidFill>
          <a:ln w="9525">
            <a:solidFill>
              <a:srgbClr val="F2B8B5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42" name="Text 38"/>
          <p:cNvSpPr txBox="1"/>
          <p:nvPr/>
        </p:nvSpPr>
        <p:spPr>
          <a:xfrm>
            <a:off x="2679700" y="6769100"/>
            <a:ext cx="2082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up the cache before the follow-up question is rewritten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4953000" y="6718300"/>
            <a:ext cx="2260600" cy="698500"/>
          </a:xfrm>
          <a:prstGeom prst="roundRect">
            <a:avLst>
              <a:gd name="adj" fmla="val 7855"/>
            </a:avLst>
          </a:prstGeom>
          <a:solidFill>
            <a:srgbClr val="FFFFFF"/>
          </a:solidFill>
          <a:ln w="9525">
            <a:solidFill>
              <a:srgbClr val="F2B8B5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44" name="Text 40"/>
          <p:cNvSpPr txBox="1"/>
          <p:nvPr/>
        </p:nvSpPr>
        <p:spPr>
          <a:xfrm>
            <a:off x="5041900" y="6769100"/>
            <a:ext cx="2082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semantic hit that answers a personal question with a policy answer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7315200" y="6718300"/>
            <a:ext cx="2260600" cy="698500"/>
          </a:xfrm>
          <a:prstGeom prst="roundRect">
            <a:avLst>
              <a:gd name="adj" fmla="val 7855"/>
            </a:avLst>
          </a:prstGeom>
          <a:solidFill>
            <a:srgbClr val="FFFFFF"/>
          </a:solidFill>
          <a:ln w="9525">
            <a:solidFill>
              <a:srgbClr val="F2B8B5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46" name="Text 42"/>
          <p:cNvSpPr txBox="1"/>
          <p:nvPr/>
        </p:nvSpPr>
        <p:spPr>
          <a:xfrm>
            <a:off x="7404100" y="6769100"/>
            <a:ext cx="2082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prompt or model without a version bump in the key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9677400" y="6718300"/>
            <a:ext cx="2260600" cy="698500"/>
          </a:xfrm>
          <a:prstGeom prst="roundRect">
            <a:avLst>
              <a:gd name="adj" fmla="val 7855"/>
            </a:avLst>
          </a:prstGeom>
          <a:solidFill>
            <a:srgbClr val="FFFFFF"/>
          </a:solidFill>
          <a:ln w="9525">
            <a:solidFill>
              <a:srgbClr val="F2B8B5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48" name="Text 44"/>
          <p:cNvSpPr txBox="1"/>
          <p:nvPr/>
        </p:nvSpPr>
        <p:spPr>
          <a:xfrm>
            <a:off x="9766300" y="6769100"/>
            <a:ext cx="20828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doc_id → cache index, so a document update leaves stale answers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11188700" y="368300"/>
            <a:ext cx="914400" cy="95250"/>
          </a:xfrm>
          <a:prstGeom prst="roundRect">
            <a:avLst>
              <a:gd name="adj" fmla="val 48000"/>
            </a:avLst>
          </a:prstGeom>
          <a:solidFill>
            <a:srgbClr val="F5BD5C"/>
          </a:solidFill>
          <a:ln w="6350">
            <a:solidFill>
              <a:srgbClr val="F5BD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caching rules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2600"/>
          </a:xfrm>
          <a:prstGeom prst="rect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77800" y="63500"/>
            <a:ext cx="793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View: RAG Services and Their Data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128000" y="63500"/>
            <a:ext cx="388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service does and where its data lives · FR = functional requirement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27000" y="571500"/>
            <a:ext cx="11938000" cy="287020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" y="622300"/>
            <a:ext cx="571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Ingestion (offline)</a:t>
            </a:r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documents → searchable chunks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48600" y="647700"/>
            <a:ext cx="4114800" cy="114300"/>
          </a:xfrm>
          <a:prstGeom prst="roundRect">
            <a:avLst>
              <a:gd name="adj" fmla="val 40000"/>
            </a:avLst>
          </a:prstGeom>
          <a:solidFill>
            <a:srgbClr val="5B6B7A"/>
          </a:solidFill>
          <a:ln w="6350">
            <a:solidFill>
              <a:srgbClr val="5B6B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one ingestion-worker runs these stages as modules · target: one service per stage (slide 12)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28600" y="952500"/>
            <a:ext cx="1079500" cy="749300"/>
          </a:xfrm>
          <a:prstGeom prst="roundRect">
            <a:avLst>
              <a:gd name="adj" fmla="val 7322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Upload UI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picks files · PDF, Word, Excel, PPT, images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98600" y="952500"/>
            <a:ext cx="1270000" cy="749300"/>
          </a:xfrm>
          <a:prstGeom prst="roundRect">
            <a:avLst>
              <a:gd name="adj" fmla="val 7322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API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doc, presigned upload, sync + batch · FR1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59100" y="952500"/>
            <a:ext cx="1079500" cy="749300"/>
          </a:xfrm>
          <a:prstGeom prst="roundRect">
            <a:avLst>
              <a:gd name="adj" fmla="val 7322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event → SQS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created → queue (+ DLQ)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29100" y="952500"/>
            <a:ext cx="1270000" cy="749300"/>
          </a:xfrm>
          <a:prstGeom prst="roundRect">
            <a:avLst>
              <a:gd name="adj" fmla="val 7322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doc_load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parser per format · FR2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89600" y="952500"/>
            <a:ext cx="1524000" cy="749300"/>
          </a:xfrm>
          <a:prstGeom prst="roundRect">
            <a:avLst>
              <a:gd name="adj" fmla="val 7322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extract_chunk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tables (+ summary), images (OCR + caption) · page context · FR3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04100" y="952500"/>
            <a:ext cx="1333500" cy="749300"/>
          </a:xfrm>
          <a:prstGeom prst="roundRect">
            <a:avLst>
              <a:gd name="adj" fmla="val 7322"/>
            </a:avLst>
          </a:prstGeom>
          <a:solidFill>
            <a:srgbClr val="EEE6FB"/>
          </a:solidFill>
          <a:ln w="12700">
            <a:solidFill>
              <a:srgbClr val="AE8FE3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cache first · model-version tagged · FR4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46950" y="895350"/>
            <a:ext cx="127000" cy="127000"/>
          </a:xfrm>
          <a:prstGeom prst="ellipse">
            <a:avLst/>
          </a:prstGeom>
          <a:solidFill>
            <a:srgbClr val="6A3FC8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928100" y="952500"/>
            <a:ext cx="1397000" cy="749300"/>
          </a:xfrm>
          <a:prstGeom prst="roundRect">
            <a:avLst>
              <a:gd name="adj" fmla="val 7322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writer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upsert · clears ① entries for changed docs · FR5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308100" y="1327150"/>
            <a:ext cx="1778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768600" y="1327150"/>
            <a:ext cx="1778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038600" y="1327150"/>
            <a:ext cx="1778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99100" y="1327150"/>
            <a:ext cx="1778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13600" y="1327150"/>
            <a:ext cx="1778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737600" y="1327150"/>
            <a:ext cx="1778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499100" y="1206500"/>
            <a:ext cx="1905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600" dirty="0"/>
          </a:p>
        </p:txBody>
      </p:sp>
      <p:sp>
        <p:nvSpPr>
          <p:cNvPr id="23" name="Text 21"/>
          <p:cNvSpPr txBox="1"/>
          <p:nvPr/>
        </p:nvSpPr>
        <p:spPr>
          <a:xfrm>
            <a:off x="7213600" y="1206500"/>
            <a:ext cx="1905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1498600" y="2222500"/>
            <a:ext cx="1270000" cy="736600"/>
          </a:xfrm>
          <a:prstGeom prst="can">
            <a:avLst>
              <a:gd name="adj" fmla="val 7448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Postgres: ingestion state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metadata · REGISTERED → … → INDEXED | FAILED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59100" y="2222500"/>
            <a:ext cx="1079500" cy="736600"/>
          </a:xfrm>
          <a:prstGeom prst="can">
            <a:avLst>
              <a:gd name="adj" fmla="val 7448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 raw documents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originals, versioned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89600" y="2222500"/>
            <a:ext cx="1524000" cy="736600"/>
          </a:xfrm>
          <a:prstGeom prst="can">
            <a:avLst>
              <a:gd name="adj" fmla="val 7448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 derived assets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files, images, chunk audit, entitlement tags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04100" y="2222500"/>
            <a:ext cx="1333500" cy="736600"/>
          </a:xfrm>
          <a:prstGeom prst="can">
            <a:avLst>
              <a:gd name="adj" fmla="val 7448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②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cache: text hash + model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928100" y="2222500"/>
            <a:ext cx="1397000" cy="736600"/>
          </a:xfrm>
          <a:prstGeom prst="can">
            <a:avLst>
              <a:gd name="adj" fmla="val 7448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hr_policies · dense + sparse · versioned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0" y="952500"/>
            <a:ext cx="1447800" cy="749300"/>
          </a:xfrm>
          <a:prstGeom prst="roundRect">
            <a:avLst>
              <a:gd name="adj" fmla="val 7322"/>
            </a:avLst>
          </a:prstGeom>
          <a:solidFill>
            <a:srgbClr val="FFFBEA"/>
          </a:solidFill>
          <a:ln w="12700">
            <a:solidFill>
              <a:srgbClr val="E0C35A"/>
            </a:solidFill>
            <a:prstDash val="dash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doc_version_changed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(SNS → SQS) · consumed by the retrieval-owned cache handler below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33600" y="1701800"/>
            <a:ext cx="0" cy="5080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498850" y="1701800"/>
            <a:ext cx="0" cy="5080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51600" y="1701800"/>
            <a:ext cx="0" cy="5080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070850" y="1701800"/>
            <a:ext cx="0" cy="5080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26600" y="1701800"/>
            <a:ext cx="0" cy="5080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325100" y="1327150"/>
            <a:ext cx="177800" cy="0"/>
          </a:xfrm>
          <a:prstGeom prst="line">
            <a:avLst/>
          </a:prstGeom>
          <a:noFill/>
          <a:ln w="17780">
            <a:solidFill>
              <a:srgbClr val="C49100"/>
            </a:solidFill>
            <a:prstDash val="dash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864100" y="1701800"/>
            <a:ext cx="0" cy="279400"/>
          </a:xfrm>
          <a:prstGeom prst="line">
            <a:avLst/>
          </a:prstGeom>
          <a:noFill/>
          <a:ln w="17780">
            <a:solidFill>
              <a:srgbClr val="6B7B8C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 flipH="1">
            <a:off x="2349500" y="1981200"/>
            <a:ext cx="25146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2349500" y="1981200"/>
            <a:ext cx="0" cy="228600"/>
          </a:xfrm>
          <a:prstGeom prst="line">
            <a:avLst/>
          </a:prstGeom>
          <a:noFill/>
          <a:ln w="17780">
            <a:solidFill>
              <a:srgbClr val="6B7B8C"/>
            </a:solidFill>
            <a:prstDash val="dash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2984500" y="1879600"/>
            <a:ext cx="18415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writes its state (idempotent, retry, DLQ)</a:t>
            </a:r>
            <a:endParaRPr lang="en-US" sz="650" dirty="0"/>
          </a:p>
        </p:txBody>
      </p:sp>
      <p:sp>
        <p:nvSpPr>
          <p:cNvPr id="40" name="Text 38"/>
          <p:cNvSpPr txBox="1"/>
          <p:nvPr/>
        </p:nvSpPr>
        <p:spPr>
          <a:xfrm>
            <a:off x="228600" y="3124200"/>
            <a:ext cx="1168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rule: </a:t>
            </a:r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stage calls the next one directly; each reads from a queue and writes its state, so a failed stage retries alone.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27000" y="3530600"/>
            <a:ext cx="11938000" cy="3479800"/>
          </a:xfrm>
          <a:prstGeom prst="roundRect">
            <a:avLst>
              <a:gd name="adj" fmla="val 2628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28600" y="3581400"/>
            <a:ext cx="571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(online)</a:t>
            </a:r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question → grounded answer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848600" y="3606800"/>
            <a:ext cx="4114800" cy="114300"/>
          </a:xfrm>
          <a:prstGeom prst="roundRect">
            <a:avLst>
              <a:gd name="adj" fmla="val 40000"/>
            </a:avLst>
          </a:prstGeom>
          <a:solidFill>
            <a:srgbClr val="5B6B7A"/>
          </a:solidFill>
          <a:ln w="6350">
            <a:solidFill>
              <a:srgbClr val="5B6B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modules inside hrb-api · MCP servers are their own services · ① owned by retrieval only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28600" y="3911600"/>
            <a:ext cx="1079500" cy="711200"/>
          </a:xfrm>
          <a:prstGeom prst="roundRect">
            <a:avLst>
              <a:gd name="adj" fmla="val 7714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asks · answer streams back (SSE)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498600" y="3911600"/>
            <a:ext cx="1270000" cy="711200"/>
          </a:xfrm>
          <a:prstGeom prst="roundRect">
            <a:avLst>
              <a:gd name="adj" fmla="val 7714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API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check, rate limit, streaming · FR6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959100" y="3911600"/>
            <a:ext cx="1397000" cy="711200"/>
          </a:xfrm>
          <a:prstGeom prst="roundRect">
            <a:avLst>
              <a:gd name="adj" fmla="val 7714"/>
            </a:avLst>
          </a:prstGeom>
          <a:solidFill>
            <a:srgbClr val="0F766E"/>
          </a:solidFill>
          <a:ln w="12700">
            <a:solidFill>
              <a:srgbClr val="0B5E5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+ context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D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guardrails · session + memory read · query rewrite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46600" y="3911600"/>
            <a:ext cx="1270000" cy="711200"/>
          </a:xfrm>
          <a:prstGeom prst="roundRect">
            <a:avLst>
              <a:gd name="adj" fmla="val 7714"/>
            </a:avLst>
          </a:prstGeom>
          <a:solidFill>
            <a:srgbClr val="FDE3E2"/>
          </a:solidFill>
          <a:ln w="12700">
            <a:solidFill>
              <a:srgbClr val="EC8A8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cache check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gate · Tier 1 / Tier 2 · FR6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489450" y="3854450"/>
            <a:ext cx="127000" cy="127000"/>
          </a:xfrm>
          <a:prstGeom prst="ellipse">
            <a:avLst/>
          </a:prstGeom>
          <a:solidFill>
            <a:srgbClr val="E53935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007100" y="3911600"/>
            <a:ext cx="1714500" cy="711200"/>
          </a:xfrm>
          <a:prstGeom prst="roundRect">
            <a:avLst>
              <a:gd name="adj" fmla="val 7714"/>
            </a:avLst>
          </a:prstGeom>
          <a:solidFill>
            <a:srgbClr val="4A2B8F"/>
          </a:solidFill>
          <a:ln w="12700">
            <a:solidFill>
              <a:srgbClr val="3A2072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(LangGraph)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9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→ Orchestration → domain agents → Reviewer / Judge · FR6, FR7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912100" y="3911600"/>
            <a:ext cx="1397000" cy="711200"/>
          </a:xfrm>
          <a:prstGeom prst="roundRect">
            <a:avLst>
              <a:gd name="adj" fmla="val 7714"/>
            </a:avLst>
          </a:prstGeom>
          <a:solidFill>
            <a:srgbClr val="0F766E"/>
          </a:solidFill>
          <a:ln w="12700">
            <a:solidFill>
              <a:srgbClr val="0B5E5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D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grounding, PII, format · store ① if a policy answer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499600" y="3911600"/>
            <a:ext cx="2463800" cy="711200"/>
          </a:xfrm>
          <a:prstGeom prst="roundRect">
            <a:avLst>
              <a:gd name="adj" fmla="val 7714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or Amazon Bedrock [INSERT] · mini / large / strong models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308100" y="4229100"/>
            <a:ext cx="1778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2768600" y="4229100"/>
            <a:ext cx="1778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4356100" y="4229100"/>
            <a:ext cx="1778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816600" y="4229100"/>
            <a:ext cx="177800" cy="0"/>
          </a:xfrm>
          <a:prstGeom prst="line">
            <a:avLst/>
          </a:prstGeom>
          <a:noFill/>
          <a:ln w="17780">
            <a:solidFill>
              <a:srgbClr val="E53935"/>
            </a:solidFill>
            <a:prstDash val="dash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5829300" y="4114800"/>
            <a:ext cx="1651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7721600" y="4229100"/>
            <a:ext cx="1778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 flipV="1">
            <a:off x="7493000" y="3822700"/>
            <a:ext cx="0" cy="88900"/>
          </a:xfrm>
          <a:prstGeom prst="line">
            <a:avLst/>
          </a:prstGeom>
          <a:noFill/>
          <a:ln w="17780">
            <a:solidFill>
              <a:srgbClr val="8E63D6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7493000" y="3822700"/>
            <a:ext cx="3238500" cy="0"/>
          </a:xfrm>
          <a:prstGeom prst="line">
            <a:avLst/>
          </a:prstGeom>
          <a:noFill/>
          <a:ln w="17780">
            <a:solidFill>
              <a:srgbClr val="8E63D6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10731500" y="3822700"/>
            <a:ext cx="0" cy="76200"/>
          </a:xfrm>
          <a:prstGeom prst="line">
            <a:avLst/>
          </a:prstGeom>
          <a:noFill/>
          <a:ln w="17780">
            <a:solidFill>
              <a:srgbClr val="8E63D6"/>
            </a:solidFill>
            <a:prstDash val="dash"/>
            <a:tailEnd type="triangle"/>
          </a:ln>
        </p:spPr>
      </p:sp>
      <p:sp>
        <p:nvSpPr>
          <p:cNvPr id="61" name="Text 59"/>
          <p:cNvSpPr txBox="1"/>
          <p:nvPr/>
        </p:nvSpPr>
        <p:spPr>
          <a:xfrm>
            <a:off x="7594600" y="3797300"/>
            <a:ext cx="5080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8610600" y="4622800"/>
            <a:ext cx="0" cy="127000"/>
          </a:xfrm>
          <a:prstGeom prst="line">
            <a:avLst/>
          </a:prstGeom>
          <a:noFill/>
          <a:ln w="20320">
            <a:solidFill>
              <a:srgbClr val="2E9E48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 flipH="1">
            <a:off x="762000" y="4749800"/>
            <a:ext cx="7848600" cy="0"/>
          </a:xfrm>
          <a:prstGeom prst="line">
            <a:avLst/>
          </a:prstGeom>
          <a:noFill/>
          <a:ln w="20320">
            <a:solidFill>
              <a:srgbClr val="2E9E48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 flipV="1">
            <a:off x="762000" y="4635500"/>
            <a:ext cx="0" cy="114300"/>
          </a:xfrm>
          <a:prstGeom prst="line">
            <a:avLst/>
          </a:prstGeom>
          <a:noFill/>
          <a:ln w="20320">
            <a:solidFill>
              <a:srgbClr val="2E9E48"/>
            </a:solidFill>
            <a:prstDash val="dash"/>
            <a:tailEnd type="triangle"/>
          </a:ln>
        </p:spPr>
      </p:sp>
      <p:sp>
        <p:nvSpPr>
          <p:cNvPr id="65" name="Text 63"/>
          <p:cNvSpPr txBox="1"/>
          <p:nvPr/>
        </p:nvSpPr>
        <p:spPr>
          <a:xfrm>
            <a:off x="1498600" y="4775200"/>
            <a:ext cx="13335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9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 (SSE)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5181600" y="4622800"/>
            <a:ext cx="0" cy="127000"/>
          </a:xfrm>
          <a:prstGeom prst="line">
            <a:avLst/>
          </a:prstGeom>
          <a:noFill/>
          <a:ln w="17780">
            <a:solidFill>
              <a:srgbClr val="2E9E48"/>
            </a:solidFill>
            <a:prstDash val="dash"/>
          </a:ln>
        </p:spPr>
      </p:sp>
      <p:sp>
        <p:nvSpPr>
          <p:cNvPr id="67" name="Text 65"/>
          <p:cNvSpPr txBox="1"/>
          <p:nvPr/>
        </p:nvSpPr>
        <p:spPr>
          <a:xfrm>
            <a:off x="5219700" y="4635500"/>
            <a:ext cx="5715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9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1498600" y="5029200"/>
            <a:ext cx="1270000" cy="584200"/>
          </a:xfrm>
          <a:prstGeom prst="roundRect">
            <a:avLst>
              <a:gd name="adj" fmla="val 9391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service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 / down, HR corrections · FR10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959100" y="5029200"/>
            <a:ext cx="1397000" cy="584200"/>
          </a:xfrm>
          <a:prstGeom prst="roundRect">
            <a:avLst>
              <a:gd name="adj" fmla="val 9391"/>
            </a:avLst>
          </a:prstGeom>
          <a:solidFill>
            <a:srgbClr val="FFF1D6"/>
          </a:solidFill>
          <a:ln w="12700">
            <a:solidFill>
              <a:srgbClr val="E9B04E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service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STM + LTM; writes summaries after the reply (async) · FR9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007100" y="5029200"/>
            <a:ext cx="825500" cy="584200"/>
          </a:xfrm>
          <a:prstGeom prst="roundRect">
            <a:avLst>
              <a:gd name="adj" fmla="val 9391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+ rerank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896100" y="5029200"/>
            <a:ext cx="825500" cy="584200"/>
          </a:xfrm>
          <a:prstGeom prst="roundRect">
            <a:avLst>
              <a:gd name="adj" fmla="val 9391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OPS · LMS ANALYTICS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912100" y="5029200"/>
            <a:ext cx="1397000" cy="584200"/>
          </a:xfrm>
          <a:prstGeom prst="roundRect">
            <a:avLst>
              <a:gd name="adj" fmla="val 9391"/>
            </a:avLst>
          </a:prstGeom>
          <a:solidFill>
            <a:srgbClr val="BE185D"/>
          </a:solidFill>
          <a:ln w="12700">
            <a:solidFill>
              <a:srgbClr val="9D174D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service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→ HR task → resume · FR8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9499600" y="5029200"/>
            <a:ext cx="2463800" cy="584200"/>
          </a:xfrm>
          <a:prstGeom prst="roundRect">
            <a:avLst>
              <a:gd name="adj" fmla="val 9391"/>
            </a:avLst>
          </a:prstGeom>
          <a:solidFill>
            <a:srgbClr val="FCE7F3"/>
          </a:solidFill>
          <a:ln w="12700">
            <a:solidFill>
              <a:srgbClr val="DB7AA5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console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specialist approves leave, answers escalations, reviews answers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952500" y="4622800"/>
            <a:ext cx="0" cy="6985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52500" y="5321300"/>
            <a:ext cx="5334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76" name="Text 74"/>
          <p:cNvSpPr txBox="1"/>
          <p:nvPr/>
        </p:nvSpPr>
        <p:spPr>
          <a:xfrm>
            <a:off x="965200" y="4889500"/>
            <a:ext cx="508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3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3657600" y="4622800"/>
            <a:ext cx="0" cy="3937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6419850" y="4622800"/>
            <a:ext cx="0" cy="3937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7308850" y="4622800"/>
            <a:ext cx="0" cy="3937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7721600" y="4546600"/>
            <a:ext cx="95250" cy="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816850" y="4546600"/>
            <a:ext cx="0" cy="77470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816850" y="5321300"/>
            <a:ext cx="82550" cy="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9309100" y="5321300"/>
            <a:ext cx="177800" cy="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84" name="Text 82"/>
          <p:cNvSpPr/>
          <p:nvPr/>
        </p:nvSpPr>
        <p:spPr>
          <a:xfrm>
            <a:off x="1498600" y="6121400"/>
            <a:ext cx="1270000" cy="736600"/>
          </a:xfrm>
          <a:prstGeom prst="can">
            <a:avLst>
              <a:gd name="adj" fmla="val 7448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hr_chatbot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STM, LTM, LangGraph checkpoints, feedback, audit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2959100" y="6121400"/>
            <a:ext cx="1397000" cy="736600"/>
          </a:xfrm>
          <a:prstGeom prst="can">
            <a:avLst>
              <a:gd name="adj" fmla="val 7448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answers · STM hot copy · rate limits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546600" y="6121400"/>
            <a:ext cx="1270000" cy="736600"/>
          </a:xfrm>
          <a:prstGeom prst="can">
            <a:avLst>
              <a:gd name="adj" fmla="val 7448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 eval set + archives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exported nightly · cache_events history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007100" y="6121400"/>
            <a:ext cx="825500" cy="736600"/>
          </a:xfrm>
          <a:prstGeom prst="can">
            <a:avLst>
              <a:gd name="adj" fmla="val 7448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hr_policies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896100" y="6121400"/>
            <a:ext cx="825500" cy="736600"/>
          </a:xfrm>
          <a:prstGeom prst="can">
            <a:avLst>
              <a:gd name="adj" fmla="val 7448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DBs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OPS_DB · ANALYTICS_DB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7912100" y="6121400"/>
            <a:ext cx="1397000" cy="736600"/>
          </a:xfrm>
          <a:prstGeom prst="roundRect">
            <a:avLst>
              <a:gd name="adj" fmla="val 7448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/ SNS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task and decision notifications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9499600" y="6121400"/>
            <a:ext cx="2463800" cy="736600"/>
          </a:xfrm>
          <a:prstGeom prst="roundRect">
            <a:avLst>
              <a:gd name="adj" fmla="val 7448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(Tavily)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the Policy Agent when the KB has no answer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133600" y="5613400"/>
            <a:ext cx="0" cy="4953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3810000" y="5613400"/>
            <a:ext cx="0" cy="2921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H="1">
            <a:off x="2540000" y="5905500"/>
            <a:ext cx="12700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540000" y="5905500"/>
            <a:ext cx="0" cy="2032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4445000" y="4419600"/>
            <a:ext cx="254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>
            <a:off x="4470400" y="4419600"/>
            <a:ext cx="0" cy="2070100"/>
          </a:xfrm>
          <a:prstGeom prst="line">
            <a:avLst/>
          </a:prstGeom>
          <a:noFill/>
          <a:ln w="17780">
            <a:solidFill>
              <a:srgbClr val="6B7B8C"/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 flipH="1">
            <a:off x="4368800" y="6489700"/>
            <a:ext cx="1016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dash"/>
            <a:tailEnd type="triangle"/>
          </a:ln>
        </p:spPr>
      </p:sp>
      <p:sp>
        <p:nvSpPr>
          <p:cNvPr id="98" name="Shape 96"/>
          <p:cNvSpPr/>
          <p:nvPr/>
        </p:nvSpPr>
        <p:spPr>
          <a:xfrm>
            <a:off x="6419850" y="5613400"/>
            <a:ext cx="0" cy="4953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7308850" y="5613400"/>
            <a:ext cx="0" cy="4953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8610600" y="5613400"/>
            <a:ext cx="0" cy="495300"/>
          </a:xfrm>
          <a:prstGeom prst="line">
            <a:avLst/>
          </a:prstGeom>
          <a:noFill/>
          <a:ln w="17780">
            <a:solidFill>
              <a:srgbClr val="BE185D"/>
            </a:solidFill>
            <a:prstDash val="dash"/>
            <a:tailEnd type="triangle"/>
          </a:ln>
        </p:spPr>
      </p:sp>
      <p:sp>
        <p:nvSpPr>
          <p:cNvPr id="101" name="Text 99"/>
          <p:cNvSpPr/>
          <p:nvPr/>
        </p:nvSpPr>
        <p:spPr>
          <a:xfrm>
            <a:off x="4546600" y="5029200"/>
            <a:ext cx="1270000" cy="584200"/>
          </a:xfrm>
          <a:prstGeom prst="roundRect">
            <a:avLst>
              <a:gd name="adj" fmla="val 9391"/>
            </a:avLst>
          </a:prstGeom>
          <a:solidFill>
            <a:srgbClr val="FDE3E2"/>
          </a:solidFill>
          <a:ln w="12700">
            <a:solidFill>
              <a:srgbClr val="EC8A8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invalidation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handler: on doc_version_changed, deletes ① entries for that doc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 flipH="1">
            <a:off x="4419600" y="5537200"/>
            <a:ext cx="127000" cy="0"/>
          </a:xfrm>
          <a:prstGeom prst="line">
            <a:avLst/>
          </a:prstGeom>
          <a:noFill/>
          <a:ln w="17780">
            <a:solidFill>
              <a:srgbClr val="C49100"/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>
            <a:off x="4419600" y="5537200"/>
            <a:ext cx="0" cy="876300"/>
          </a:xfrm>
          <a:prstGeom prst="line">
            <a:avLst/>
          </a:prstGeom>
          <a:noFill/>
          <a:ln w="17780">
            <a:solidFill>
              <a:srgbClr val="C49100"/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 flipH="1">
            <a:off x="4368800" y="6413500"/>
            <a:ext cx="50800" cy="0"/>
          </a:xfrm>
          <a:prstGeom prst="line">
            <a:avLst/>
          </a:prstGeom>
          <a:noFill/>
          <a:ln w="17780">
            <a:solidFill>
              <a:srgbClr val="C49100"/>
            </a:solidFill>
            <a:prstDash val="dash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127000" y="7086600"/>
            <a:ext cx="11938000" cy="45720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06" name="Text 104"/>
          <p:cNvSpPr txBox="1"/>
          <p:nvPr/>
        </p:nvSpPr>
        <p:spPr>
          <a:xfrm>
            <a:off x="228600" y="7124700"/>
            <a:ext cx="1173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 </a:t>
            </a:r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upload documents   </a:t>
            </a:r>
            <a:pPr algn="l"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 </a:t>
            </a:r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any format (multi-modal)   </a:t>
            </a:r>
            <a:pPr algn="l"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FR3 </a:t>
            </a:r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with page context   </a:t>
            </a:r>
            <a:pPr algn="l"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 </a:t>
            </a:r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with a cache   </a:t>
            </a:r>
            <a:pPr algn="l"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FR5 </a:t>
            </a:r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index + cache invalidation</a:t>
            </a:r>
            <a:endParaRPr lang="en-US" sz="8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FR6 </a:t>
            </a:r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policy questions with citations   </a:t>
            </a:r>
            <a:pPr algn="l"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FR7 </a:t>
            </a:r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leave actions via MCP   </a:t>
            </a:r>
            <a:pPr algn="l"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FR8 </a:t>
            </a:r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approval (HITL)   </a:t>
            </a:r>
            <a:pPr algn="l"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FR9 </a:t>
            </a:r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conversation (STM / LTM)   </a:t>
            </a:r>
            <a:pPr algn="l"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FR10 </a:t>
            </a:r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improves answers</a:t>
            </a:r>
            <a:endParaRPr lang="en-US" sz="850" dirty="0"/>
          </a:p>
        </p:txBody>
      </p:sp>
      <p:sp>
        <p:nvSpPr>
          <p:cNvPr id="108" name="Text 105"/>
          <p:cNvSpPr/>
          <p:nvPr/>
        </p:nvSpPr>
        <p:spPr>
          <a:xfrm>
            <a:off x="10676890" y="368300"/>
            <a:ext cx="1426210" cy="95250"/>
          </a:xfrm>
          <a:prstGeom prst="roundRect">
            <a:avLst>
              <a:gd name="adj" fmla="val 48000"/>
            </a:avLst>
          </a:prstGeom>
          <a:solidFill>
            <a:srgbClr val="F5BD5C"/>
          </a:solidFill>
          <a:ln w="6350">
            <a:solidFill>
              <a:srgbClr val="F5BD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RAG workflows (owner tags)</a:t>
            </a:r>
            <a:endParaRPr lang="en-US" sz="650" dirty="0"/>
          </a:p>
        </p:txBody>
      </p:sp>
      <p:sp>
        <p:nvSpPr>
          <p:cNvPr id="109" name="Text 106"/>
          <p:cNvSpPr/>
          <p:nvPr/>
        </p:nvSpPr>
        <p:spPr>
          <a:xfrm>
            <a:off x="906272" y="895350"/>
            <a:ext cx="363728" cy="101600"/>
          </a:xfrm>
          <a:prstGeom prst="roundRect">
            <a:avLst>
              <a:gd name="adj" fmla="val 45000"/>
            </a:avLst>
          </a:prstGeom>
          <a:solidFill>
            <a:srgbClr val="A7B2BF"/>
          </a:solidFill>
          <a:ln w="9525">
            <a:solidFill>
              <a:srgbClr val="A7B2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600" dirty="0"/>
          </a:p>
        </p:txBody>
      </p:sp>
      <p:sp>
        <p:nvSpPr>
          <p:cNvPr id="110" name="Shape 107"/>
          <p:cNvSpPr/>
          <p:nvPr/>
        </p:nvSpPr>
        <p:spPr>
          <a:xfrm>
            <a:off x="1498600" y="952500"/>
            <a:ext cx="1270000" cy="749300"/>
          </a:xfrm>
          <a:prstGeom prst="roundRect">
            <a:avLst>
              <a:gd name="adj" fmla="val 9763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1769364" y="895350"/>
            <a:ext cx="961136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 · Upload API</a:t>
            </a:r>
            <a:endParaRPr lang="en-US" sz="600" dirty="0"/>
          </a:p>
        </p:txBody>
      </p:sp>
      <p:sp>
        <p:nvSpPr>
          <p:cNvPr id="112" name="Text 109"/>
          <p:cNvSpPr/>
          <p:nvPr/>
        </p:nvSpPr>
        <p:spPr>
          <a:xfrm>
            <a:off x="3748786" y="895350"/>
            <a:ext cx="251714" cy="101600"/>
          </a:xfrm>
          <a:prstGeom prst="roundRect">
            <a:avLst>
              <a:gd name="adj" fmla="val 45000"/>
            </a:avLst>
          </a:prstGeom>
          <a:solidFill>
            <a:srgbClr val="8793A3"/>
          </a:solidFill>
          <a:ln w="9525">
            <a:solidFill>
              <a:srgbClr val="8793A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600" dirty="0"/>
          </a:p>
        </p:txBody>
      </p:sp>
      <p:sp>
        <p:nvSpPr>
          <p:cNvPr id="113" name="Shape 110"/>
          <p:cNvSpPr/>
          <p:nvPr/>
        </p:nvSpPr>
        <p:spPr>
          <a:xfrm>
            <a:off x="4229100" y="952500"/>
            <a:ext cx="1270000" cy="749300"/>
          </a:xfrm>
          <a:prstGeom prst="roundRect">
            <a:avLst>
              <a:gd name="adj" fmla="val 9763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5022596" y="895350"/>
            <a:ext cx="438404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00" dirty="0"/>
          </a:p>
        </p:txBody>
      </p:sp>
      <p:sp>
        <p:nvSpPr>
          <p:cNvPr id="115" name="Shape 112"/>
          <p:cNvSpPr/>
          <p:nvPr/>
        </p:nvSpPr>
        <p:spPr>
          <a:xfrm>
            <a:off x="5689600" y="952500"/>
            <a:ext cx="1524000" cy="749300"/>
          </a:xfrm>
          <a:prstGeom prst="roundRect">
            <a:avLst>
              <a:gd name="adj" fmla="val 9763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6737096" y="895350"/>
            <a:ext cx="438404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00" dirty="0"/>
          </a:p>
        </p:txBody>
      </p:sp>
      <p:sp>
        <p:nvSpPr>
          <p:cNvPr id="117" name="Shape 114"/>
          <p:cNvSpPr/>
          <p:nvPr/>
        </p:nvSpPr>
        <p:spPr>
          <a:xfrm>
            <a:off x="7404100" y="952500"/>
            <a:ext cx="1333500" cy="749300"/>
          </a:xfrm>
          <a:prstGeom prst="roundRect">
            <a:avLst>
              <a:gd name="adj" fmla="val 9763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8261096" y="895350"/>
            <a:ext cx="438404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00" dirty="0"/>
          </a:p>
        </p:txBody>
      </p:sp>
      <p:sp>
        <p:nvSpPr>
          <p:cNvPr id="119" name="Shape 116"/>
          <p:cNvSpPr/>
          <p:nvPr/>
        </p:nvSpPr>
        <p:spPr>
          <a:xfrm>
            <a:off x="8928100" y="952500"/>
            <a:ext cx="1397000" cy="749300"/>
          </a:xfrm>
          <a:prstGeom prst="roundRect">
            <a:avLst>
              <a:gd name="adj" fmla="val 9763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20" name="Text 117"/>
          <p:cNvSpPr/>
          <p:nvPr/>
        </p:nvSpPr>
        <p:spPr>
          <a:xfrm>
            <a:off x="9848596" y="895350"/>
            <a:ext cx="438404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00" dirty="0"/>
          </a:p>
        </p:txBody>
      </p:sp>
      <p:sp>
        <p:nvSpPr>
          <p:cNvPr id="121" name="Text 118"/>
          <p:cNvSpPr/>
          <p:nvPr/>
        </p:nvSpPr>
        <p:spPr>
          <a:xfrm>
            <a:off x="11598910" y="895350"/>
            <a:ext cx="326390" cy="101600"/>
          </a:xfrm>
          <a:prstGeom prst="roundRect">
            <a:avLst>
              <a:gd name="adj" fmla="val 45000"/>
            </a:avLst>
          </a:prstGeom>
          <a:solidFill>
            <a:srgbClr val="C49100"/>
          </a:solidFill>
          <a:ln w="9525">
            <a:solidFill>
              <a:srgbClr val="C491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600" dirty="0"/>
          </a:p>
        </p:txBody>
      </p:sp>
      <p:sp>
        <p:nvSpPr>
          <p:cNvPr id="122" name="Text 119"/>
          <p:cNvSpPr/>
          <p:nvPr/>
        </p:nvSpPr>
        <p:spPr>
          <a:xfrm>
            <a:off x="906272" y="3854450"/>
            <a:ext cx="363728" cy="101600"/>
          </a:xfrm>
          <a:prstGeom prst="roundRect">
            <a:avLst>
              <a:gd name="adj" fmla="val 45000"/>
            </a:avLst>
          </a:prstGeom>
          <a:solidFill>
            <a:srgbClr val="A7B2BF"/>
          </a:solidFill>
          <a:ln w="9525">
            <a:solidFill>
              <a:srgbClr val="A7B2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600" dirty="0"/>
          </a:p>
        </p:txBody>
      </p:sp>
      <p:sp>
        <p:nvSpPr>
          <p:cNvPr id="123" name="Shape 120"/>
          <p:cNvSpPr/>
          <p:nvPr/>
        </p:nvSpPr>
        <p:spPr>
          <a:xfrm>
            <a:off x="1498600" y="3911600"/>
            <a:ext cx="1270000" cy="711200"/>
          </a:xfrm>
          <a:prstGeom prst="roundRect">
            <a:avLst>
              <a:gd name="adj" fmla="val 10286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2068068" y="3854450"/>
            <a:ext cx="662432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Chat Gateway</a:t>
            </a:r>
            <a:endParaRPr lang="en-US" sz="600" dirty="0"/>
          </a:p>
        </p:txBody>
      </p:sp>
      <p:sp>
        <p:nvSpPr>
          <p:cNvPr id="125" name="Text 122"/>
          <p:cNvSpPr/>
          <p:nvPr/>
        </p:nvSpPr>
        <p:spPr>
          <a:xfrm>
            <a:off x="3058160" y="3854450"/>
            <a:ext cx="1259840" cy="1016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Chat Gateway + Conversation</a:t>
            </a:r>
            <a:endParaRPr lang="en-US" sz="600" dirty="0"/>
          </a:p>
        </p:txBody>
      </p:sp>
      <p:sp>
        <p:nvSpPr>
          <p:cNvPr id="126" name="Text 123"/>
          <p:cNvSpPr/>
          <p:nvPr/>
        </p:nvSpPr>
        <p:spPr>
          <a:xfrm>
            <a:off x="4817364" y="3854450"/>
            <a:ext cx="961136" cy="1016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Knowledge Retrieval</a:t>
            </a:r>
            <a:endParaRPr lang="en-US" sz="600" dirty="0"/>
          </a:p>
        </p:txBody>
      </p:sp>
      <p:sp>
        <p:nvSpPr>
          <p:cNvPr id="127" name="Shape 124"/>
          <p:cNvSpPr/>
          <p:nvPr/>
        </p:nvSpPr>
        <p:spPr>
          <a:xfrm>
            <a:off x="6007100" y="3911600"/>
            <a:ext cx="1714500" cy="711200"/>
          </a:xfrm>
          <a:prstGeom prst="roundRect">
            <a:avLst>
              <a:gd name="adj" fmla="val 10286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128" name="Text 125"/>
          <p:cNvSpPr/>
          <p:nvPr/>
        </p:nvSpPr>
        <p:spPr>
          <a:xfrm>
            <a:off x="6797040" y="3854450"/>
            <a:ext cx="886460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Agent Orchestrator</a:t>
            </a:r>
            <a:endParaRPr lang="en-US" sz="600" dirty="0"/>
          </a:p>
        </p:txBody>
      </p:sp>
      <p:sp>
        <p:nvSpPr>
          <p:cNvPr id="129" name="Text 126"/>
          <p:cNvSpPr/>
          <p:nvPr/>
        </p:nvSpPr>
        <p:spPr>
          <a:xfrm>
            <a:off x="8571230" y="3854450"/>
            <a:ext cx="699770" cy="1016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Chat Gateway</a:t>
            </a:r>
            <a:endParaRPr lang="en-US" sz="600" dirty="0"/>
          </a:p>
        </p:txBody>
      </p:sp>
      <p:sp>
        <p:nvSpPr>
          <p:cNvPr id="130" name="Text 127"/>
          <p:cNvSpPr/>
          <p:nvPr/>
        </p:nvSpPr>
        <p:spPr>
          <a:xfrm>
            <a:off x="11486896" y="3854450"/>
            <a:ext cx="438404" cy="101600"/>
          </a:xfrm>
          <a:prstGeom prst="roundRect">
            <a:avLst>
              <a:gd name="adj" fmla="val 45000"/>
            </a:avLst>
          </a:prstGeom>
          <a:solidFill>
            <a:srgbClr val="A7B2BF"/>
          </a:solidFill>
          <a:ln w="9525">
            <a:solidFill>
              <a:srgbClr val="A7B2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600" dirty="0"/>
          </a:p>
        </p:txBody>
      </p:sp>
      <p:sp>
        <p:nvSpPr>
          <p:cNvPr id="131" name="Shape 128"/>
          <p:cNvSpPr/>
          <p:nvPr/>
        </p:nvSpPr>
        <p:spPr>
          <a:xfrm>
            <a:off x="1498600" y="5029200"/>
            <a:ext cx="1270000" cy="584200"/>
          </a:xfrm>
          <a:prstGeom prst="roundRect">
            <a:avLst>
              <a:gd name="adj" fmla="val 12522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132" name="Text 129"/>
          <p:cNvSpPr/>
          <p:nvPr/>
        </p:nvSpPr>
        <p:spPr>
          <a:xfrm>
            <a:off x="1956054" y="4972050"/>
            <a:ext cx="774446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Feedback &amp; Eval</a:t>
            </a:r>
            <a:endParaRPr lang="en-US" sz="600" dirty="0"/>
          </a:p>
        </p:txBody>
      </p:sp>
      <p:sp>
        <p:nvSpPr>
          <p:cNvPr id="133" name="Shape 130"/>
          <p:cNvSpPr/>
          <p:nvPr/>
        </p:nvSpPr>
        <p:spPr>
          <a:xfrm>
            <a:off x="2959100" y="5029200"/>
            <a:ext cx="1397000" cy="584200"/>
          </a:xfrm>
          <a:prstGeom prst="roundRect">
            <a:avLst>
              <a:gd name="adj" fmla="val 12522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3655568" y="4972050"/>
            <a:ext cx="662432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Conversation</a:t>
            </a:r>
            <a:endParaRPr lang="en-US" sz="600" dirty="0"/>
          </a:p>
        </p:txBody>
      </p:sp>
      <p:sp>
        <p:nvSpPr>
          <p:cNvPr id="135" name="Shape 132"/>
          <p:cNvSpPr/>
          <p:nvPr/>
        </p:nvSpPr>
        <p:spPr>
          <a:xfrm>
            <a:off x="4546600" y="5029200"/>
            <a:ext cx="1270000" cy="584200"/>
          </a:xfrm>
          <a:prstGeom prst="roundRect">
            <a:avLst>
              <a:gd name="adj" fmla="val 12522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36" name="Text 133"/>
          <p:cNvSpPr/>
          <p:nvPr/>
        </p:nvSpPr>
        <p:spPr>
          <a:xfrm>
            <a:off x="5340096" y="4972050"/>
            <a:ext cx="438404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00" dirty="0"/>
          </a:p>
        </p:txBody>
      </p:sp>
      <p:sp>
        <p:nvSpPr>
          <p:cNvPr id="137" name="Shape 134"/>
          <p:cNvSpPr/>
          <p:nvPr/>
        </p:nvSpPr>
        <p:spPr>
          <a:xfrm>
            <a:off x="6007100" y="5029200"/>
            <a:ext cx="825500" cy="584200"/>
          </a:xfrm>
          <a:prstGeom prst="roundRect">
            <a:avLst>
              <a:gd name="adj" fmla="val 12522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138" name="Text 135"/>
          <p:cNvSpPr/>
          <p:nvPr/>
        </p:nvSpPr>
        <p:spPr>
          <a:xfrm>
            <a:off x="6244082" y="4972050"/>
            <a:ext cx="550418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Retrieval</a:t>
            </a:r>
            <a:endParaRPr lang="en-US" sz="600" dirty="0"/>
          </a:p>
        </p:txBody>
      </p:sp>
      <p:sp>
        <p:nvSpPr>
          <p:cNvPr id="139" name="Shape 136"/>
          <p:cNvSpPr/>
          <p:nvPr/>
        </p:nvSpPr>
        <p:spPr>
          <a:xfrm>
            <a:off x="6896100" y="5029200"/>
            <a:ext cx="825500" cy="584200"/>
          </a:xfrm>
          <a:prstGeom prst="roundRect">
            <a:avLst>
              <a:gd name="adj" fmla="val 12522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140" name="Text 137"/>
          <p:cNvSpPr/>
          <p:nvPr/>
        </p:nvSpPr>
        <p:spPr>
          <a:xfrm>
            <a:off x="7207758" y="4972050"/>
            <a:ext cx="475742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2 × own</a:t>
            </a:r>
            <a:endParaRPr lang="en-US" sz="600" dirty="0"/>
          </a:p>
        </p:txBody>
      </p:sp>
      <p:sp>
        <p:nvSpPr>
          <p:cNvPr id="141" name="Text 138"/>
          <p:cNvSpPr/>
          <p:nvPr/>
        </p:nvSpPr>
        <p:spPr>
          <a:xfrm>
            <a:off x="8085836" y="4972050"/>
            <a:ext cx="1185164" cy="1016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Orchestrator + HR Console</a:t>
            </a:r>
            <a:endParaRPr lang="en-US" sz="600" dirty="0"/>
          </a:p>
        </p:txBody>
      </p:sp>
      <p:sp>
        <p:nvSpPr>
          <p:cNvPr id="142" name="Shape 139"/>
          <p:cNvSpPr/>
          <p:nvPr/>
        </p:nvSpPr>
        <p:spPr>
          <a:xfrm>
            <a:off x="9499600" y="5029200"/>
            <a:ext cx="2463800" cy="584200"/>
          </a:xfrm>
          <a:prstGeom prst="roundRect">
            <a:avLst>
              <a:gd name="adj" fmla="val 12522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11337544" y="4972050"/>
            <a:ext cx="587756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HR Console</a:t>
            </a:r>
            <a:endParaRPr lang="en-US" sz="600" dirty="0"/>
          </a:p>
        </p:txBody>
      </p:sp>
      <p:sp>
        <p:nvSpPr>
          <p:cNvPr id="144" name="Text 141"/>
          <p:cNvSpPr/>
          <p:nvPr/>
        </p:nvSpPr>
        <p:spPr>
          <a:xfrm>
            <a:off x="9019286" y="6064250"/>
            <a:ext cx="251714" cy="101600"/>
          </a:xfrm>
          <a:prstGeom prst="roundRect">
            <a:avLst>
              <a:gd name="adj" fmla="val 45000"/>
            </a:avLst>
          </a:prstGeom>
          <a:solidFill>
            <a:srgbClr val="8793A3"/>
          </a:solidFill>
          <a:ln w="9525">
            <a:solidFill>
              <a:srgbClr val="8793A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600" dirty="0"/>
          </a:p>
        </p:txBody>
      </p:sp>
      <p:sp>
        <p:nvSpPr>
          <p:cNvPr id="145" name="Text 142"/>
          <p:cNvSpPr/>
          <p:nvPr/>
        </p:nvSpPr>
        <p:spPr>
          <a:xfrm>
            <a:off x="11486896" y="6064250"/>
            <a:ext cx="438404" cy="101600"/>
          </a:xfrm>
          <a:prstGeom prst="roundRect">
            <a:avLst>
              <a:gd name="adj" fmla="val 45000"/>
            </a:avLst>
          </a:prstGeom>
          <a:solidFill>
            <a:srgbClr val="A7B2BF"/>
          </a:solidFill>
          <a:ln w="9525">
            <a:solidFill>
              <a:srgbClr val="A7B2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600" dirty="0"/>
          </a:p>
        </p:txBody>
      </p:sp>
      <p:pic>
        <p:nvPicPr>
          <p:cNvPr id="146" name="Image 0" descr="/tmp/claude-0/-home-claude/464e32f6-6cab-5bf8-83b9-d9d9487214ed/scratchpad/icons/png/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5400" y="2336800"/>
            <a:ext cx="152400" cy="152400"/>
          </a:xfrm>
          <a:prstGeom prst="rect">
            <a:avLst/>
          </a:prstGeom>
        </p:spPr>
      </p:pic>
      <p:pic>
        <p:nvPicPr>
          <p:cNvPr id="147" name="Image 1" descr="/tmp/claude-0/-home-claude/464e32f6-6cab-5bf8-83b9-d9d9487214ed/scratchpad/icons/png/s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400" y="2336800"/>
            <a:ext cx="152400" cy="152400"/>
          </a:xfrm>
          <a:prstGeom prst="rect">
            <a:avLst/>
          </a:prstGeom>
        </p:spPr>
      </p:pic>
      <p:pic>
        <p:nvPicPr>
          <p:cNvPr id="148" name="Image 2" descr="/tmp/claude-0/-home-claude/464e32f6-6cab-5bf8-83b9-d9d9487214ed/scratchpad/icons/png/s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2336800"/>
            <a:ext cx="152400" cy="152400"/>
          </a:xfrm>
          <a:prstGeom prst="rect">
            <a:avLst/>
          </a:prstGeom>
        </p:spPr>
      </p:pic>
      <p:pic>
        <p:nvPicPr>
          <p:cNvPr id="149" name="Image 3" descr="/tmp/claude-0/-home-claude/464e32f6-6cab-5bf8-83b9-d9d9487214ed/scratchpad/icons/png/elasticach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2336800"/>
            <a:ext cx="152400" cy="152400"/>
          </a:xfrm>
          <a:prstGeom prst="rect">
            <a:avLst/>
          </a:prstGeom>
        </p:spPr>
      </p:pic>
      <p:pic>
        <p:nvPicPr>
          <p:cNvPr id="150" name="Image 4" descr="/tmp/claude-0/-home-claude/464e32f6-6cab-5bf8-83b9-d9d9487214ed/scratchpad/icons/png/rd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5400" y="6235700"/>
            <a:ext cx="152400" cy="152400"/>
          </a:xfrm>
          <a:prstGeom prst="rect">
            <a:avLst/>
          </a:prstGeom>
        </p:spPr>
      </p:pic>
      <p:pic>
        <p:nvPicPr>
          <p:cNvPr id="151" name="Image 5" descr="/tmp/claude-0/-home-claude/464e32f6-6cab-5bf8-83b9-d9d9487214ed/scratchpad/icons/png/elasticach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2900" y="6235700"/>
            <a:ext cx="152400" cy="152400"/>
          </a:xfrm>
          <a:prstGeom prst="rect">
            <a:avLst/>
          </a:prstGeom>
        </p:spPr>
      </p:pic>
      <p:pic>
        <p:nvPicPr>
          <p:cNvPr id="152" name="Image 6" descr="/tmp/claude-0/-home-claude/464e32f6-6cab-5bf8-83b9-d9d9487214ed/scratchpad/icons/png/s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3400" y="6235700"/>
            <a:ext cx="152400" cy="152400"/>
          </a:xfrm>
          <a:prstGeom prst="rect">
            <a:avLst/>
          </a:prstGeom>
        </p:spPr>
      </p:pic>
      <p:pic>
        <p:nvPicPr>
          <p:cNvPr id="153" name="Image 7" descr="/tmp/claude-0/-home-claude/464e32f6-6cab-5bf8-83b9-d9d9487214ed/scratchpad/icons/png/rd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8400" y="6235700"/>
            <a:ext cx="152400" cy="152400"/>
          </a:xfrm>
          <a:prstGeom prst="rect">
            <a:avLst/>
          </a:prstGeom>
        </p:spPr>
      </p:pic>
      <p:pic>
        <p:nvPicPr>
          <p:cNvPr id="154" name="Image 8" descr="/tmp/claude-0/-home-claude/464e32f6-6cab-5bf8-83b9-d9d9487214ed/scratchpad/icons/png/s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4900" y="1498600"/>
            <a:ext cx="165100" cy="165100"/>
          </a:xfrm>
          <a:prstGeom prst="rect">
            <a:avLst/>
          </a:prstGeom>
        </p:spPr>
      </p:pic>
      <p:pic>
        <p:nvPicPr>
          <p:cNvPr id="155" name="Image 9" descr="/tmp/claude-0/-home-claude/464e32f6-6cab-5bf8-83b9-d9d9487214ed/scratchpad/icons/png/sq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5400" y="1498600"/>
            <a:ext cx="165100" cy="165100"/>
          </a:xfrm>
          <a:prstGeom prst="rect">
            <a:avLst/>
          </a:prstGeom>
        </p:spPr>
      </p:pic>
      <p:pic>
        <p:nvPicPr>
          <p:cNvPr id="156" name="Image 10" descr="/tmp/claude-0/-home-claude/464e32f6-6cab-5bf8-83b9-d9d9487214ed/scratchpad/icons/png/se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3200" y="6197600"/>
            <a:ext cx="165100" cy="165100"/>
          </a:xfrm>
          <a:prstGeom prst="rect">
            <a:avLst/>
          </a:prstGeom>
        </p:spPr>
      </p:pic>
      <p:pic>
        <p:nvPicPr>
          <p:cNvPr id="157" name="Image 11" descr="/tmp/claude-0/-home-claude/464e32f6-6cab-5bf8-83b9-d9d9487214ed/scratchpad/icons/png/sn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02700" y="6197600"/>
            <a:ext cx="165100" cy="165100"/>
          </a:xfrm>
          <a:prstGeom prst="rect">
            <a:avLst/>
          </a:prstGeom>
        </p:spPr>
      </p:pic>
      <p:pic>
        <p:nvPicPr>
          <p:cNvPr id="158" name="Image 12" descr="/tmp/claude-0/-home-claude/464e32f6-6cab-5bf8-83b9-d9d9487214ed/scratchpad/icons/png/bedroc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47500" y="4381500"/>
            <a:ext cx="190500" cy="190500"/>
          </a:xfrm>
          <a:prstGeom prst="rect">
            <a:avLst/>
          </a:prstGeom>
        </p:spPr>
      </p:pic>
      <p:sp>
        <p:nvSpPr>
          <p:cNvPr id="159" name="Text 143"/>
          <p:cNvSpPr/>
          <p:nvPr/>
        </p:nvSpPr>
        <p:spPr>
          <a:xfrm>
            <a:off x="11176000" y="4394200"/>
            <a:ext cx="533400" cy="177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08C00"/>
            </a:solidFill>
            <a:prstDash val="dash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[paste: OpenAI logo]</a:t>
            </a:r>
            <a:endParaRPr lang="en-US" sz="550" dirty="0"/>
          </a:p>
        </p:txBody>
      </p:sp>
      <p:sp>
        <p:nvSpPr>
          <p:cNvPr id="160" name="Text 144"/>
          <p:cNvSpPr/>
          <p:nvPr/>
        </p:nvSpPr>
        <p:spPr>
          <a:xfrm>
            <a:off x="11176000" y="6197600"/>
            <a:ext cx="609600" cy="152400"/>
          </a:xfrm>
          <a:prstGeom prst="rect">
            <a:avLst/>
          </a:prstGeom>
          <a:solidFill>
            <a:srgbClr val="FFF7ED"/>
          </a:solidFill>
          <a:ln w="12700">
            <a:solidFill>
              <a:srgbClr val="F08C00"/>
            </a:solidFill>
            <a:prstDash val="dash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[paste: Tavily logo]</a:t>
            </a:r>
            <a:endParaRPr lang="en-US" sz="550" dirty="0"/>
          </a:p>
        </p:txBody>
      </p:sp>
      <p:sp>
        <p:nvSpPr>
          <p:cNvPr id="161" name="Text 145"/>
          <p:cNvSpPr/>
          <p:nvPr/>
        </p:nvSpPr>
        <p:spPr>
          <a:xfrm>
            <a:off x="6794500" y="3175000"/>
            <a:ext cx="475742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</a:t>
            </a:r>
            <a:endParaRPr lang="en-US" sz="600" dirty="0"/>
          </a:p>
        </p:txBody>
      </p:sp>
      <p:sp>
        <p:nvSpPr>
          <p:cNvPr id="162" name="Text 146"/>
          <p:cNvSpPr txBox="1"/>
          <p:nvPr/>
        </p:nvSpPr>
        <p:spPr>
          <a:xfrm>
            <a:off x="7315200" y="3175000"/>
            <a:ext cx="5715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</a:t>
            </a:r>
            <a:endParaRPr lang="en-US" sz="750" dirty="0"/>
          </a:p>
        </p:txBody>
      </p:sp>
      <p:sp>
        <p:nvSpPr>
          <p:cNvPr id="163" name="Text 147"/>
          <p:cNvSpPr/>
          <p:nvPr/>
        </p:nvSpPr>
        <p:spPr>
          <a:xfrm>
            <a:off x="7937500" y="3175000"/>
            <a:ext cx="438404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00" dirty="0"/>
          </a:p>
        </p:txBody>
      </p:sp>
      <p:sp>
        <p:nvSpPr>
          <p:cNvPr id="164" name="Text 148"/>
          <p:cNvSpPr txBox="1"/>
          <p:nvPr/>
        </p:nvSpPr>
        <p:spPr>
          <a:xfrm>
            <a:off x="8445500" y="3175000"/>
            <a:ext cx="4445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queue-fed</a:t>
            </a:r>
            <a:endParaRPr lang="en-US" sz="750" dirty="0"/>
          </a:p>
        </p:txBody>
      </p:sp>
      <p:sp>
        <p:nvSpPr>
          <p:cNvPr id="165" name="Text 149"/>
          <p:cNvSpPr/>
          <p:nvPr/>
        </p:nvSpPr>
        <p:spPr>
          <a:xfrm>
            <a:off x="8953500" y="3175000"/>
            <a:ext cx="289052" cy="10160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X</a:t>
            </a:r>
            <a:endParaRPr lang="en-US" sz="600" dirty="0"/>
          </a:p>
        </p:txBody>
      </p:sp>
      <p:sp>
        <p:nvSpPr>
          <p:cNvPr id="166" name="Text 150"/>
          <p:cNvSpPr txBox="1"/>
          <p:nvPr/>
        </p:nvSpPr>
        <p:spPr>
          <a:xfrm>
            <a:off x="9296400" y="3175000"/>
            <a:ext cx="762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inside X</a:t>
            </a:r>
            <a:endParaRPr lang="en-US" sz="750" dirty="0"/>
          </a:p>
        </p:txBody>
      </p:sp>
      <p:sp>
        <p:nvSpPr>
          <p:cNvPr id="167" name="Text 151"/>
          <p:cNvSpPr/>
          <p:nvPr/>
        </p:nvSpPr>
        <p:spPr>
          <a:xfrm>
            <a:off x="10096500" y="3175000"/>
            <a:ext cx="251714" cy="101600"/>
          </a:xfrm>
          <a:prstGeom prst="roundRect">
            <a:avLst>
              <a:gd name="adj" fmla="val 45000"/>
            </a:avLst>
          </a:prstGeom>
          <a:solidFill>
            <a:srgbClr val="8793A3"/>
          </a:solidFill>
          <a:ln w="9525">
            <a:solidFill>
              <a:srgbClr val="8793A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600" dirty="0"/>
          </a:p>
        </p:txBody>
      </p:sp>
      <p:sp>
        <p:nvSpPr>
          <p:cNvPr id="168" name="Text 152"/>
          <p:cNvSpPr txBox="1"/>
          <p:nvPr/>
        </p:nvSpPr>
        <p:spPr>
          <a:xfrm>
            <a:off x="10414000" y="3175000"/>
            <a:ext cx="635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AWS-managed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2600"/>
          </a:xfrm>
          <a:prstGeom prst="rect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77800" y="63500"/>
            <a:ext cx="793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Map: HRB Microservices and Their Data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128000" y="63500"/>
            <a:ext cx="388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services · each owns its data · labels on arrows = how they talk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52400" y="787400"/>
            <a:ext cx="952500" cy="482600"/>
          </a:xfrm>
          <a:prstGeom prst="roundRect">
            <a:avLst>
              <a:gd name="adj" fmla="val 11368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2400" y="3657600"/>
            <a:ext cx="952500" cy="482600"/>
          </a:xfrm>
          <a:prstGeom prst="roundRect">
            <a:avLst>
              <a:gd name="adj" fmla="val 11368"/>
            </a:avLst>
          </a:prstGeom>
          <a:solidFill>
            <a:srgbClr val="FCE7F3"/>
          </a:solidFill>
          <a:ln w="12700">
            <a:solidFill>
              <a:srgbClr val="DB7AA5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Specialist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console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2400" y="5105400"/>
            <a:ext cx="952500" cy="482600"/>
          </a:xfrm>
          <a:prstGeom prst="roundRect">
            <a:avLst>
              <a:gd name="adj" fmla="val 11368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documents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19200" y="609600"/>
            <a:ext cx="0" cy="5651500"/>
          </a:xfrm>
          <a:prstGeom prst="line">
            <a:avLst/>
          </a:prstGeom>
          <a:noFill/>
          <a:ln w="15875">
            <a:solidFill>
              <a:srgbClr val="2F6FD0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1295400" y="584200"/>
            <a:ext cx="9537700" cy="4140200"/>
          </a:xfrm>
          <a:prstGeom prst="roundRect">
            <a:avLst>
              <a:gd name="adj" fmla="val 2209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58900" y="609600"/>
            <a:ext cx="94107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services (sync calls)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95400" y="4800600"/>
            <a:ext cx="9537700" cy="1473200"/>
          </a:xfrm>
          <a:prstGeom prst="roundRect">
            <a:avLst>
              <a:gd name="adj" fmla="val 6207"/>
            </a:avLst>
          </a:prstGeom>
          <a:solidFill>
            <a:srgbClr val="FFFAF2"/>
          </a:solidFill>
          <a:ln w="12700">
            <a:solidFill>
              <a:srgbClr val="F5BD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58900" y="4826000"/>
            <a:ext cx="94107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and heavy lifting (queues)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97000" y="812800"/>
            <a:ext cx="1397000" cy="508000"/>
          </a:xfrm>
          <a:prstGeom prst="roundRect">
            <a:avLst>
              <a:gd name="adj" fmla="val 108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Gateway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rate limit, SSE, guardrails lib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97000" y="812800"/>
            <a:ext cx="1397000" cy="508000"/>
          </a:xfrm>
          <a:prstGeom prst="roundRect">
            <a:avLst>
              <a:gd name="adj" fmla="val 144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47800" y="755650"/>
            <a:ext cx="1150938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 · v2 in hrb-api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397000" y="1689100"/>
            <a:ext cx="1397000" cy="482600"/>
          </a:xfrm>
          <a:prstGeom prst="roundRect">
            <a:avLst>
              <a:gd name="adj" fmla="val 11368"/>
            </a:avLst>
          </a:prstGeom>
          <a:solidFill>
            <a:srgbClr val="FFF1D6"/>
          </a:solidFill>
          <a:ln w="12700">
            <a:solidFill>
              <a:srgbClr val="E9B04E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STM / LTM, context builder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97000" y="1689100"/>
            <a:ext cx="1397000" cy="482600"/>
          </a:xfrm>
          <a:prstGeom prst="roundRect">
            <a:avLst>
              <a:gd name="adj" fmla="val 15158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7800" y="1631950"/>
            <a:ext cx="1150938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 · v2 in hrb-api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498600" y="2235200"/>
            <a:ext cx="1193800" cy="381000"/>
          </a:xfrm>
          <a:prstGeom prst="can">
            <a:avLst>
              <a:gd name="adj" fmla="val 14400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STM, LTM</a:t>
            </a:r>
            <a:endParaRPr lang="en-US" sz="800" dirty="0"/>
          </a:p>
        </p:txBody>
      </p:sp>
      <p:pic>
        <p:nvPicPr>
          <p:cNvPr id="20" name="Image 0" descr="/tmp/claude-0/-home-claude/464e32f6-6cab-5bf8-83b9-d9d9487214ed/scratchpad/icons/png/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1900" y="2324100"/>
            <a:ext cx="152400" cy="1524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97000" y="2870200"/>
            <a:ext cx="1397000" cy="482600"/>
          </a:xfrm>
          <a:prstGeom prst="roundRect">
            <a:avLst>
              <a:gd name="adj" fmla="val 11368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Evaluation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thumbs, HR fixes, nightly evals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397000" y="2870200"/>
            <a:ext cx="1397000" cy="482600"/>
          </a:xfrm>
          <a:prstGeom prst="roundRect">
            <a:avLst>
              <a:gd name="adj" fmla="val 15158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447800" y="2813050"/>
            <a:ext cx="1150938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 · v2 in hrb-api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1397000" y="3657600"/>
            <a:ext cx="1397000" cy="508000"/>
          </a:xfrm>
          <a:prstGeom prst="roundRect">
            <a:avLst>
              <a:gd name="adj" fmla="val 10800"/>
            </a:avLst>
          </a:prstGeom>
          <a:solidFill>
            <a:srgbClr val="FCE7F3"/>
          </a:solidFill>
          <a:ln w="12700">
            <a:solidFill>
              <a:srgbClr val="DB7AA5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Console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tasks, SLA timers, admin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397000" y="3657600"/>
            <a:ext cx="1397000" cy="508000"/>
          </a:xfrm>
          <a:prstGeom prst="roundRect">
            <a:avLst>
              <a:gd name="adj" fmla="val 144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47800" y="3600450"/>
            <a:ext cx="1150938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 · v2 in hrb-api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1498600" y="4229100"/>
            <a:ext cx="1193800" cy="381000"/>
          </a:xfrm>
          <a:prstGeom prst="can">
            <a:avLst>
              <a:gd name="adj" fmla="val 14400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tasks, reviews</a:t>
            </a:r>
            <a:endParaRPr lang="en-US" sz="800" dirty="0"/>
          </a:p>
        </p:txBody>
      </p:sp>
      <p:pic>
        <p:nvPicPr>
          <p:cNvPr id="28" name="Image 1" descr="/tmp/claude-0/-home-claude/464e32f6-6cab-5bf8-83b9-d9d9487214ed/scratchpad/icons/png/r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900" y="4318000"/>
            <a:ext cx="152400" cy="15240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1104900" y="1054100"/>
            <a:ext cx="2794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30" name="Text 26"/>
          <p:cNvSpPr txBox="1"/>
          <p:nvPr/>
        </p:nvSpPr>
        <p:spPr>
          <a:xfrm>
            <a:off x="1117600" y="939800"/>
            <a:ext cx="2540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3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600" dirty="0"/>
          </a:p>
        </p:txBody>
      </p:sp>
      <p:sp>
        <p:nvSpPr>
          <p:cNvPr id="31" name="Shape 27"/>
          <p:cNvSpPr/>
          <p:nvPr/>
        </p:nvSpPr>
        <p:spPr>
          <a:xfrm>
            <a:off x="2095500" y="1320800"/>
            <a:ext cx="0" cy="3556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32" name="Text 28"/>
          <p:cNvSpPr txBox="1"/>
          <p:nvPr/>
        </p:nvSpPr>
        <p:spPr>
          <a:xfrm>
            <a:off x="2133600" y="1447800"/>
            <a:ext cx="2286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3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600" dirty="0"/>
          </a:p>
        </p:txBody>
      </p:sp>
      <p:sp>
        <p:nvSpPr>
          <p:cNvPr id="33" name="Shape 29"/>
          <p:cNvSpPr/>
          <p:nvPr/>
        </p:nvSpPr>
        <p:spPr>
          <a:xfrm flipH="1">
            <a:off x="1333500" y="1244600"/>
            <a:ext cx="63500" cy="0"/>
          </a:xfrm>
          <a:prstGeom prst="line">
            <a:avLst/>
          </a:prstGeom>
          <a:noFill/>
          <a:ln w="17780">
            <a:solidFill>
              <a:srgbClr val="6A3FC8"/>
            </a:solidFill>
            <a:prstDash val="dash"/>
          </a:ln>
        </p:spPr>
      </p:sp>
      <p:sp>
        <p:nvSpPr>
          <p:cNvPr id="34" name="Shape 30"/>
          <p:cNvSpPr/>
          <p:nvPr/>
        </p:nvSpPr>
        <p:spPr>
          <a:xfrm>
            <a:off x="1333500" y="1244600"/>
            <a:ext cx="0" cy="1866900"/>
          </a:xfrm>
          <a:prstGeom prst="line">
            <a:avLst/>
          </a:prstGeom>
          <a:noFill/>
          <a:ln w="17780">
            <a:solidFill>
              <a:srgbClr val="6A3FC8"/>
            </a:solidFill>
            <a:prstDash val="dash"/>
          </a:ln>
        </p:spPr>
      </p:sp>
      <p:sp>
        <p:nvSpPr>
          <p:cNvPr id="35" name="Shape 31"/>
          <p:cNvSpPr/>
          <p:nvPr/>
        </p:nvSpPr>
        <p:spPr>
          <a:xfrm>
            <a:off x="1333500" y="3111500"/>
            <a:ext cx="50800" cy="0"/>
          </a:xfrm>
          <a:prstGeom prst="line">
            <a:avLst/>
          </a:prstGeom>
          <a:noFill/>
          <a:ln w="17780">
            <a:solidFill>
              <a:srgbClr val="6A3FC8"/>
            </a:solidFill>
            <a:prstDash val="dash"/>
            <a:tailEnd type="triangle"/>
          </a:ln>
        </p:spPr>
      </p:sp>
      <p:sp>
        <p:nvSpPr>
          <p:cNvPr id="36" name="Text 32"/>
          <p:cNvSpPr txBox="1"/>
          <p:nvPr/>
        </p:nvSpPr>
        <p:spPr>
          <a:xfrm>
            <a:off x="1295400" y="2667000"/>
            <a:ext cx="4826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· SQS</a:t>
            </a:r>
            <a:endParaRPr lang="en-US" sz="600" dirty="0"/>
          </a:p>
        </p:txBody>
      </p:sp>
      <p:sp>
        <p:nvSpPr>
          <p:cNvPr id="37" name="Shape 33"/>
          <p:cNvSpPr/>
          <p:nvPr/>
        </p:nvSpPr>
        <p:spPr>
          <a:xfrm>
            <a:off x="1104900" y="3898900"/>
            <a:ext cx="279400" cy="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>
            <a:off x="2095500" y="2171700"/>
            <a:ext cx="0" cy="63500"/>
          </a:xfrm>
          <a:prstGeom prst="line">
            <a:avLst/>
          </a:prstGeom>
          <a:noFill/>
          <a:ln w="12700">
            <a:solidFill>
              <a:srgbClr val="9AA5B1"/>
            </a:solidFill>
            <a:prstDash val="dash"/>
          </a:ln>
        </p:spPr>
      </p:sp>
      <p:sp>
        <p:nvSpPr>
          <p:cNvPr id="39" name="Shape 35"/>
          <p:cNvSpPr/>
          <p:nvPr/>
        </p:nvSpPr>
        <p:spPr>
          <a:xfrm>
            <a:off x="2095500" y="4165600"/>
            <a:ext cx="0" cy="63500"/>
          </a:xfrm>
          <a:prstGeom prst="line">
            <a:avLst/>
          </a:prstGeom>
          <a:noFill/>
          <a:ln w="12700">
            <a:solidFill>
              <a:srgbClr val="9AA5B1"/>
            </a:solidFill>
            <a:prstDash val="dash"/>
          </a:ln>
        </p:spPr>
      </p:sp>
      <p:sp>
        <p:nvSpPr>
          <p:cNvPr id="40" name="Text 36"/>
          <p:cNvSpPr/>
          <p:nvPr/>
        </p:nvSpPr>
        <p:spPr>
          <a:xfrm>
            <a:off x="3238500" y="4279900"/>
            <a:ext cx="952500" cy="368300"/>
          </a:xfrm>
          <a:prstGeom prst="can">
            <a:avLst>
              <a:gd name="adj" fmla="val 14897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leave-docs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docs</a:t>
            </a:r>
            <a:endParaRPr lang="en-US" sz="800" dirty="0"/>
          </a:p>
        </p:txBody>
      </p:sp>
      <p:pic>
        <p:nvPicPr>
          <p:cNvPr id="41" name="Image 2" descr="/tmp/claude-0/-home-claude/464e32f6-6cab-5bf8-83b9-d9d9487214ed/scratchpad/icons/png/s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4368800"/>
            <a:ext cx="152400" cy="152400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794000" y="4445000"/>
            <a:ext cx="444500" cy="0"/>
          </a:xfrm>
          <a:prstGeom prst="line">
            <a:avLst/>
          </a:prstGeom>
          <a:noFill/>
          <a:ln w="12700">
            <a:solidFill>
              <a:srgbClr val="9AA5B1"/>
            </a:solidFill>
            <a:prstDash val="dash"/>
          </a:ln>
        </p:spPr>
      </p:sp>
      <p:sp>
        <p:nvSpPr>
          <p:cNvPr id="43" name="Text 38"/>
          <p:cNvSpPr/>
          <p:nvPr/>
        </p:nvSpPr>
        <p:spPr>
          <a:xfrm>
            <a:off x="3175000" y="812800"/>
            <a:ext cx="1524000" cy="609600"/>
          </a:xfrm>
          <a:prstGeom prst="roundRect">
            <a:avLst>
              <a:gd name="adj" fmla="val 9000"/>
            </a:avLst>
          </a:prstGeom>
          <a:solidFill>
            <a:srgbClr val="4A2B8F"/>
          </a:solidFill>
          <a:ln w="12700">
            <a:solidFill>
              <a:srgbClr val="3A2072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9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Planner, Orchestration, domain agents, Reviewer, Judge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3175000" y="812800"/>
            <a:ext cx="1524000" cy="609600"/>
          </a:xfrm>
          <a:prstGeom prst="roundRect">
            <a:avLst>
              <a:gd name="adj" fmla="val 120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225800" y="755650"/>
            <a:ext cx="1150938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 · v2 in hrb-api</a:t>
            </a:r>
            <a:endParaRPr lang="en-US" sz="650" dirty="0"/>
          </a:p>
        </p:txBody>
      </p:sp>
      <p:sp>
        <p:nvSpPr>
          <p:cNvPr id="46" name="Text 41"/>
          <p:cNvSpPr/>
          <p:nvPr/>
        </p:nvSpPr>
        <p:spPr>
          <a:xfrm>
            <a:off x="3238500" y="1498600"/>
            <a:ext cx="952500" cy="381000"/>
          </a:xfrm>
          <a:prstGeom prst="can">
            <a:avLst>
              <a:gd name="adj" fmla="val 14400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800" dirty="0"/>
          </a:p>
        </p:txBody>
      </p:sp>
      <p:pic>
        <p:nvPicPr>
          <p:cNvPr id="47" name="Image 3" descr="/tmp/claude-0/-home-claude/464e32f6-6cab-5bf8-83b9-d9d9487214ed/scratchpad/icons/png/rd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1587500"/>
            <a:ext cx="152400" cy="152400"/>
          </a:xfrm>
          <a:prstGeom prst="rect">
            <a:avLst/>
          </a:prstGeom>
        </p:spPr>
      </p:pic>
      <p:sp>
        <p:nvSpPr>
          <p:cNvPr id="48" name="Shape 42"/>
          <p:cNvSpPr/>
          <p:nvPr/>
        </p:nvSpPr>
        <p:spPr>
          <a:xfrm>
            <a:off x="3714750" y="1422400"/>
            <a:ext cx="0" cy="76200"/>
          </a:xfrm>
          <a:prstGeom prst="line">
            <a:avLst/>
          </a:prstGeom>
          <a:noFill/>
          <a:ln w="12700">
            <a:solidFill>
              <a:srgbClr val="9AA5B1"/>
            </a:solidFill>
            <a:prstDash val="dash"/>
          </a:ln>
        </p:spPr>
      </p:sp>
      <p:sp>
        <p:nvSpPr>
          <p:cNvPr id="49" name="Shape 43"/>
          <p:cNvSpPr/>
          <p:nvPr/>
        </p:nvSpPr>
        <p:spPr>
          <a:xfrm>
            <a:off x="2794000" y="990600"/>
            <a:ext cx="3683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50" name="Text 44"/>
          <p:cNvSpPr txBox="1"/>
          <p:nvPr/>
        </p:nvSpPr>
        <p:spPr>
          <a:xfrm>
            <a:off x="2819400" y="876300"/>
            <a:ext cx="3175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3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600" dirty="0"/>
          </a:p>
        </p:txBody>
      </p:sp>
      <p:sp>
        <p:nvSpPr>
          <p:cNvPr id="51" name="Shape 45"/>
          <p:cNvSpPr/>
          <p:nvPr/>
        </p:nvSpPr>
        <p:spPr>
          <a:xfrm>
            <a:off x="2794000" y="3937000"/>
            <a:ext cx="190500" cy="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 flipV="1">
            <a:off x="2984500" y="1295400"/>
            <a:ext cx="0" cy="264160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2984500" y="1295400"/>
            <a:ext cx="177800" cy="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54" name="Text 48"/>
          <p:cNvSpPr txBox="1"/>
          <p:nvPr/>
        </p:nvSpPr>
        <p:spPr>
          <a:xfrm>
            <a:off x="3022600" y="2540000"/>
            <a:ext cx="5334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REST: resume</a:t>
            </a:r>
            <a:endParaRPr lang="en-US" sz="600" dirty="0"/>
          </a:p>
        </p:txBody>
      </p:sp>
      <p:sp>
        <p:nvSpPr>
          <p:cNvPr id="55" name="Shape 49"/>
          <p:cNvSpPr/>
          <p:nvPr/>
        </p:nvSpPr>
        <p:spPr>
          <a:xfrm>
            <a:off x="4572000" y="1422400"/>
            <a:ext cx="0" cy="2222500"/>
          </a:xfrm>
          <a:prstGeom prst="line">
            <a:avLst/>
          </a:prstGeom>
          <a:noFill/>
          <a:ln w="17780">
            <a:solidFill>
              <a:srgbClr val="BE185D"/>
            </a:solidFill>
            <a:prstDash val="dash"/>
            <a:tailEnd type="triangle"/>
          </a:ln>
        </p:spPr>
      </p:sp>
      <p:sp>
        <p:nvSpPr>
          <p:cNvPr id="56" name="Shape 50"/>
          <p:cNvSpPr/>
          <p:nvPr/>
        </p:nvSpPr>
        <p:spPr>
          <a:xfrm>
            <a:off x="4527550" y="2413000"/>
            <a:ext cx="82550" cy="8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4527550" y="2514600"/>
            <a:ext cx="82550" cy="8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4527550" y="2616200"/>
            <a:ext cx="82550" cy="8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  <a:prstDash val="solid"/>
          </a:ln>
        </p:spPr>
      </p:sp>
      <p:pic>
        <p:nvPicPr>
          <p:cNvPr id="59" name="Image 4" descr="/tmp/claude-0/-home-claude/464e32f6-6cab-5bf8-83b9-d9d9487214ed/scratchpad/icons/png/s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600" y="2387600"/>
            <a:ext cx="139700" cy="139700"/>
          </a:xfrm>
          <a:prstGeom prst="rect">
            <a:avLst/>
          </a:prstGeom>
        </p:spPr>
      </p:pic>
      <p:sp>
        <p:nvSpPr>
          <p:cNvPr id="60" name="Text 53"/>
          <p:cNvSpPr txBox="1"/>
          <p:nvPr/>
        </p:nvSpPr>
        <p:spPr>
          <a:xfrm>
            <a:off x="3797300" y="2032000"/>
            <a:ext cx="7493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→ SQS: HR task</a:t>
            </a:r>
            <a:endParaRPr lang="en-US" sz="600" dirty="0"/>
          </a:p>
        </p:txBody>
      </p:sp>
      <p:sp>
        <p:nvSpPr>
          <p:cNvPr id="61" name="Text 54"/>
          <p:cNvSpPr/>
          <p:nvPr/>
        </p:nvSpPr>
        <p:spPr>
          <a:xfrm>
            <a:off x="3175000" y="3657600"/>
            <a:ext cx="1524000" cy="508000"/>
          </a:xfrm>
          <a:prstGeom prst="roundRect">
            <a:avLst>
              <a:gd name="adj" fmla="val 108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HR and employees</a:t>
            </a:r>
            <a:endParaRPr lang="en-US" sz="900" dirty="0"/>
          </a:p>
        </p:txBody>
      </p:sp>
      <p:sp>
        <p:nvSpPr>
          <p:cNvPr id="62" name="Shape 55"/>
          <p:cNvSpPr/>
          <p:nvPr/>
        </p:nvSpPr>
        <p:spPr>
          <a:xfrm>
            <a:off x="3175000" y="3657600"/>
            <a:ext cx="1524000" cy="508000"/>
          </a:xfrm>
          <a:prstGeom prst="roundRect">
            <a:avLst>
              <a:gd name="adj" fmla="val 144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3225800" y="3600450"/>
            <a:ext cx="1150938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 · v2 in hrb-api</a:t>
            </a:r>
            <a:endParaRPr lang="en-US" sz="650" dirty="0"/>
          </a:p>
        </p:txBody>
      </p:sp>
      <p:sp>
        <p:nvSpPr>
          <p:cNvPr id="64" name="Shape 57"/>
          <p:cNvSpPr/>
          <p:nvPr/>
        </p:nvSpPr>
        <p:spPr>
          <a:xfrm flipV="1">
            <a:off x="4064000" y="660400"/>
            <a:ext cx="0" cy="152400"/>
          </a:xfrm>
          <a:prstGeom prst="line">
            <a:avLst/>
          </a:prstGeom>
          <a:noFill/>
          <a:ln w="17780">
            <a:solidFill>
              <a:srgbClr val="8E63D6"/>
            </a:solidFill>
            <a:prstDash val="dash"/>
          </a:ln>
        </p:spPr>
      </p:sp>
      <p:sp>
        <p:nvSpPr>
          <p:cNvPr id="65" name="Shape 58"/>
          <p:cNvSpPr/>
          <p:nvPr/>
        </p:nvSpPr>
        <p:spPr>
          <a:xfrm>
            <a:off x="4064000" y="660400"/>
            <a:ext cx="7429500" cy="0"/>
          </a:xfrm>
          <a:prstGeom prst="line">
            <a:avLst/>
          </a:prstGeom>
          <a:noFill/>
          <a:ln w="17780">
            <a:solidFill>
              <a:srgbClr val="8E63D6"/>
            </a:solidFill>
            <a:prstDash val="dash"/>
          </a:ln>
        </p:spPr>
      </p:sp>
      <p:sp>
        <p:nvSpPr>
          <p:cNvPr id="66" name="Shape 59"/>
          <p:cNvSpPr/>
          <p:nvPr/>
        </p:nvSpPr>
        <p:spPr>
          <a:xfrm>
            <a:off x="11493500" y="660400"/>
            <a:ext cx="0" cy="114300"/>
          </a:xfrm>
          <a:prstGeom prst="line">
            <a:avLst/>
          </a:prstGeom>
          <a:noFill/>
          <a:ln w="17780">
            <a:solidFill>
              <a:srgbClr val="8E63D6"/>
            </a:solidFill>
            <a:prstDash val="dash"/>
            <a:tailEnd type="triangle"/>
          </a:ln>
        </p:spPr>
      </p:sp>
      <p:sp>
        <p:nvSpPr>
          <p:cNvPr id="67" name="Text 60"/>
          <p:cNvSpPr txBox="1"/>
          <p:nvPr/>
        </p:nvSpPr>
        <p:spPr>
          <a:xfrm>
            <a:off x="7937500" y="609600"/>
            <a:ext cx="5715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 LLM calls</a:t>
            </a:r>
            <a:endParaRPr lang="en-US" sz="600" dirty="0"/>
          </a:p>
        </p:txBody>
      </p:sp>
      <p:sp>
        <p:nvSpPr>
          <p:cNvPr id="68" name="Shape 61"/>
          <p:cNvSpPr/>
          <p:nvPr/>
        </p:nvSpPr>
        <p:spPr>
          <a:xfrm>
            <a:off x="4699000" y="1104900"/>
            <a:ext cx="2540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4953000" y="1104900"/>
            <a:ext cx="0" cy="22479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70" name="Text 63"/>
          <p:cNvSpPr/>
          <p:nvPr/>
        </p:nvSpPr>
        <p:spPr>
          <a:xfrm>
            <a:off x="5207000" y="812800"/>
            <a:ext cx="1778000" cy="508000"/>
          </a:xfrm>
          <a:prstGeom prst="roundRect">
            <a:avLst>
              <a:gd name="adj" fmla="val 108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Retrieval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retriever, rerank, Corrective RAG, answer cache ①, admin clear API</a:t>
            </a:r>
            <a:endParaRPr lang="en-US" sz="900" dirty="0"/>
          </a:p>
        </p:txBody>
      </p:sp>
      <p:sp>
        <p:nvSpPr>
          <p:cNvPr id="71" name="Shape 64"/>
          <p:cNvSpPr/>
          <p:nvPr/>
        </p:nvSpPr>
        <p:spPr>
          <a:xfrm>
            <a:off x="5207000" y="812800"/>
            <a:ext cx="1778000" cy="508000"/>
          </a:xfrm>
          <a:prstGeom prst="roundRect">
            <a:avLst>
              <a:gd name="adj" fmla="val 144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72" name="Text 65"/>
          <p:cNvSpPr/>
          <p:nvPr/>
        </p:nvSpPr>
        <p:spPr>
          <a:xfrm>
            <a:off x="5257800" y="755650"/>
            <a:ext cx="1150938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 · v2 in hrb-api</a:t>
            </a:r>
            <a:endParaRPr lang="en-US" sz="650" dirty="0"/>
          </a:p>
        </p:txBody>
      </p:sp>
      <p:sp>
        <p:nvSpPr>
          <p:cNvPr id="73" name="Shape 66"/>
          <p:cNvSpPr/>
          <p:nvPr/>
        </p:nvSpPr>
        <p:spPr>
          <a:xfrm>
            <a:off x="4953000" y="1066800"/>
            <a:ext cx="2413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74" name="Text 67"/>
          <p:cNvSpPr txBox="1"/>
          <p:nvPr/>
        </p:nvSpPr>
        <p:spPr>
          <a:xfrm>
            <a:off x="4965700" y="952500"/>
            <a:ext cx="2286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3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600" dirty="0"/>
          </a:p>
        </p:txBody>
      </p:sp>
      <p:sp>
        <p:nvSpPr>
          <p:cNvPr id="75" name="Text 68"/>
          <p:cNvSpPr/>
          <p:nvPr/>
        </p:nvSpPr>
        <p:spPr>
          <a:xfrm>
            <a:off x="5207000" y="1574800"/>
            <a:ext cx="1778000" cy="508000"/>
          </a:xfrm>
          <a:prstGeom prst="roundRect">
            <a:avLst>
              <a:gd name="adj" fmla="val 108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Rules &amp; Calc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rules, 401(k), PTO math (code, no LLM)</a:t>
            </a:r>
            <a:endParaRPr lang="en-US" sz="900" dirty="0"/>
          </a:p>
        </p:txBody>
      </p:sp>
      <p:sp>
        <p:nvSpPr>
          <p:cNvPr id="76" name="Shape 69"/>
          <p:cNvSpPr/>
          <p:nvPr/>
        </p:nvSpPr>
        <p:spPr>
          <a:xfrm>
            <a:off x="5207000" y="1574800"/>
            <a:ext cx="1778000" cy="508000"/>
          </a:xfrm>
          <a:prstGeom prst="roundRect">
            <a:avLst>
              <a:gd name="adj" fmla="val 144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77" name="Text 70"/>
          <p:cNvSpPr/>
          <p:nvPr/>
        </p:nvSpPr>
        <p:spPr>
          <a:xfrm>
            <a:off x="5257800" y="1517650"/>
            <a:ext cx="1150938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 · v2 in hrb-api</a:t>
            </a:r>
            <a:endParaRPr lang="en-US" sz="650" dirty="0"/>
          </a:p>
        </p:txBody>
      </p:sp>
      <p:sp>
        <p:nvSpPr>
          <p:cNvPr id="78" name="Shape 71"/>
          <p:cNvSpPr/>
          <p:nvPr/>
        </p:nvSpPr>
        <p:spPr>
          <a:xfrm>
            <a:off x="4953000" y="1828800"/>
            <a:ext cx="2413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79" name="Text 72"/>
          <p:cNvSpPr txBox="1"/>
          <p:nvPr/>
        </p:nvSpPr>
        <p:spPr>
          <a:xfrm>
            <a:off x="4965700" y="1714500"/>
            <a:ext cx="2286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3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600" dirty="0"/>
          </a:p>
        </p:txBody>
      </p:sp>
      <p:sp>
        <p:nvSpPr>
          <p:cNvPr id="80" name="Text 73"/>
          <p:cNvSpPr/>
          <p:nvPr/>
        </p:nvSpPr>
        <p:spPr>
          <a:xfrm>
            <a:off x="5207000" y="2336800"/>
            <a:ext cx="1778000" cy="508000"/>
          </a:xfrm>
          <a:prstGeom prst="roundRect">
            <a:avLst>
              <a:gd name="adj" fmla="val 108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HRB_LMS_OPS MCP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leave: balance, apply, status</a:t>
            </a:r>
            <a:endParaRPr lang="en-US" sz="900" dirty="0"/>
          </a:p>
        </p:txBody>
      </p:sp>
      <p:sp>
        <p:nvSpPr>
          <p:cNvPr id="81" name="Shape 74"/>
          <p:cNvSpPr/>
          <p:nvPr/>
        </p:nvSpPr>
        <p:spPr>
          <a:xfrm>
            <a:off x="5207000" y="2336800"/>
            <a:ext cx="1778000" cy="508000"/>
          </a:xfrm>
          <a:prstGeom prst="roundRect">
            <a:avLst>
              <a:gd name="adj" fmla="val 144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82" name="Text 75"/>
          <p:cNvSpPr/>
          <p:nvPr/>
        </p:nvSpPr>
        <p:spPr>
          <a:xfrm>
            <a:off x="5257800" y="2279650"/>
            <a:ext cx="1150938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 · own container</a:t>
            </a:r>
            <a:endParaRPr lang="en-US" sz="650" dirty="0"/>
          </a:p>
        </p:txBody>
      </p:sp>
      <p:sp>
        <p:nvSpPr>
          <p:cNvPr id="83" name="Shape 76"/>
          <p:cNvSpPr/>
          <p:nvPr/>
        </p:nvSpPr>
        <p:spPr>
          <a:xfrm>
            <a:off x="4953000" y="2590800"/>
            <a:ext cx="2413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84" name="Text 77"/>
          <p:cNvSpPr txBox="1"/>
          <p:nvPr/>
        </p:nvSpPr>
        <p:spPr>
          <a:xfrm>
            <a:off x="4965700" y="2476500"/>
            <a:ext cx="2286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3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600" dirty="0"/>
          </a:p>
        </p:txBody>
      </p:sp>
      <p:sp>
        <p:nvSpPr>
          <p:cNvPr id="85" name="Text 78"/>
          <p:cNvSpPr/>
          <p:nvPr/>
        </p:nvSpPr>
        <p:spPr>
          <a:xfrm>
            <a:off x="5207000" y="3098800"/>
            <a:ext cx="1778000" cy="508000"/>
          </a:xfrm>
          <a:prstGeom prst="roundRect">
            <a:avLst>
              <a:gd name="adj" fmla="val 108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HRB_LMS_ANALYTICS MCP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history, read-only</a:t>
            </a:r>
            <a:endParaRPr lang="en-US" sz="900" dirty="0"/>
          </a:p>
        </p:txBody>
      </p:sp>
      <p:sp>
        <p:nvSpPr>
          <p:cNvPr id="86" name="Shape 79"/>
          <p:cNvSpPr/>
          <p:nvPr/>
        </p:nvSpPr>
        <p:spPr>
          <a:xfrm>
            <a:off x="5207000" y="3098800"/>
            <a:ext cx="1778000" cy="508000"/>
          </a:xfrm>
          <a:prstGeom prst="roundRect">
            <a:avLst>
              <a:gd name="adj" fmla="val 144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87" name="Text 80"/>
          <p:cNvSpPr/>
          <p:nvPr/>
        </p:nvSpPr>
        <p:spPr>
          <a:xfrm>
            <a:off x="5257800" y="3041650"/>
            <a:ext cx="1150938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 · own container</a:t>
            </a:r>
            <a:endParaRPr lang="en-US" sz="650" dirty="0"/>
          </a:p>
        </p:txBody>
      </p:sp>
      <p:sp>
        <p:nvSpPr>
          <p:cNvPr id="88" name="Shape 81"/>
          <p:cNvSpPr/>
          <p:nvPr/>
        </p:nvSpPr>
        <p:spPr>
          <a:xfrm>
            <a:off x="4953000" y="3352800"/>
            <a:ext cx="2413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89" name="Text 82"/>
          <p:cNvSpPr txBox="1"/>
          <p:nvPr/>
        </p:nvSpPr>
        <p:spPr>
          <a:xfrm>
            <a:off x="4965700" y="3238500"/>
            <a:ext cx="2286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3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600" dirty="0"/>
          </a:p>
        </p:txBody>
      </p:sp>
      <p:sp>
        <p:nvSpPr>
          <p:cNvPr id="90" name="Text 83"/>
          <p:cNvSpPr txBox="1"/>
          <p:nvPr/>
        </p:nvSpPr>
        <p:spPr>
          <a:xfrm>
            <a:off x="4737100" y="3594100"/>
            <a:ext cx="4699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33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= HTTP + OAuth</a:t>
            </a:r>
            <a:endParaRPr lang="en-US" sz="550" dirty="0"/>
          </a:p>
        </p:txBody>
      </p:sp>
      <p:sp>
        <p:nvSpPr>
          <p:cNvPr id="91" name="Text 84"/>
          <p:cNvSpPr/>
          <p:nvPr/>
        </p:nvSpPr>
        <p:spPr>
          <a:xfrm>
            <a:off x="7239000" y="762000"/>
            <a:ext cx="1206500" cy="444500"/>
          </a:xfrm>
          <a:prstGeom prst="can">
            <a:avLst>
              <a:gd name="adj" fmla="val 12343"/>
            </a:avLst>
          </a:prstGeom>
          <a:solidFill>
            <a:srgbClr val="FDE3E2"/>
          </a:solidFill>
          <a:ln w="12700">
            <a:solidFill>
              <a:srgbClr val="EC8A8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①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cache</a:t>
            </a:r>
            <a:endParaRPr lang="en-US" sz="800" dirty="0"/>
          </a:p>
        </p:txBody>
      </p:sp>
      <p:pic>
        <p:nvPicPr>
          <p:cNvPr id="92" name="Image 5" descr="/tmp/claude-0/-home-claude/464e32f6-6cab-5bf8-83b9-d9d9487214ed/scratchpad/icons/png/elasticach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5000" y="850900"/>
            <a:ext cx="152400" cy="152400"/>
          </a:xfrm>
          <a:prstGeom prst="rect">
            <a:avLst/>
          </a:prstGeom>
        </p:spPr>
      </p:pic>
      <p:sp>
        <p:nvSpPr>
          <p:cNvPr id="93" name="Text 85"/>
          <p:cNvSpPr/>
          <p:nvPr/>
        </p:nvSpPr>
        <p:spPr>
          <a:xfrm>
            <a:off x="7239000" y="1574800"/>
            <a:ext cx="1206500" cy="508000"/>
          </a:xfrm>
          <a:prstGeom prst="can">
            <a:avLst>
              <a:gd name="adj" fmla="val 10800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parameters</a:t>
            </a:r>
            <a:endParaRPr lang="en-US" sz="800" dirty="0"/>
          </a:p>
        </p:txBody>
      </p:sp>
      <p:pic>
        <p:nvPicPr>
          <p:cNvPr id="94" name="Image 6" descr="/tmp/claude-0/-home-claude/464e32f6-6cab-5bf8-83b9-d9d9487214ed/scratchpad/icons/png/rd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5000" y="1663700"/>
            <a:ext cx="152400" cy="152400"/>
          </a:xfrm>
          <a:prstGeom prst="rect">
            <a:avLst/>
          </a:prstGeom>
        </p:spPr>
      </p:pic>
      <p:sp>
        <p:nvSpPr>
          <p:cNvPr id="95" name="Text 86"/>
          <p:cNvSpPr/>
          <p:nvPr/>
        </p:nvSpPr>
        <p:spPr>
          <a:xfrm>
            <a:off x="7239000" y="2336800"/>
            <a:ext cx="1206500" cy="508000"/>
          </a:xfrm>
          <a:prstGeom prst="can">
            <a:avLst>
              <a:gd name="adj" fmla="val 10800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OPS_DB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read / write</a:t>
            </a:r>
            <a:endParaRPr lang="en-US" sz="800" dirty="0"/>
          </a:p>
        </p:txBody>
      </p:sp>
      <p:pic>
        <p:nvPicPr>
          <p:cNvPr id="96" name="Image 7" descr="/tmp/claude-0/-home-claude/464e32f6-6cab-5bf8-83b9-d9d9487214ed/scratchpad/icons/png/rd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5000" y="2425700"/>
            <a:ext cx="152400" cy="152400"/>
          </a:xfrm>
          <a:prstGeom prst="rect">
            <a:avLst/>
          </a:prstGeom>
        </p:spPr>
      </p:pic>
      <p:sp>
        <p:nvSpPr>
          <p:cNvPr id="97" name="Text 87"/>
          <p:cNvSpPr/>
          <p:nvPr/>
        </p:nvSpPr>
        <p:spPr>
          <a:xfrm>
            <a:off x="7239000" y="3098800"/>
            <a:ext cx="1206500" cy="508000"/>
          </a:xfrm>
          <a:prstGeom prst="can">
            <a:avLst>
              <a:gd name="adj" fmla="val 10800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ANALYTICS_DB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 or warehouse</a:t>
            </a:r>
            <a:endParaRPr lang="en-US" sz="800" dirty="0"/>
          </a:p>
        </p:txBody>
      </p:sp>
      <p:pic>
        <p:nvPicPr>
          <p:cNvPr id="98" name="Image 8" descr="/tmp/claude-0/-home-claude/464e32f6-6cab-5bf8-83b9-d9d9487214ed/scratchpad/icons/png/rd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5000" y="3187700"/>
            <a:ext cx="152400" cy="152400"/>
          </a:xfrm>
          <a:prstGeom prst="rect">
            <a:avLst/>
          </a:prstGeom>
        </p:spPr>
      </p:pic>
      <p:sp>
        <p:nvSpPr>
          <p:cNvPr id="99" name="Shape 88"/>
          <p:cNvSpPr/>
          <p:nvPr/>
        </p:nvSpPr>
        <p:spPr>
          <a:xfrm>
            <a:off x="6985000" y="977900"/>
            <a:ext cx="254000" cy="0"/>
          </a:xfrm>
          <a:prstGeom prst="line">
            <a:avLst/>
          </a:prstGeom>
          <a:noFill/>
          <a:ln w="12700">
            <a:solidFill>
              <a:srgbClr val="9AA5B1"/>
            </a:solidFill>
            <a:prstDash val="dash"/>
          </a:ln>
        </p:spPr>
      </p:sp>
      <p:sp>
        <p:nvSpPr>
          <p:cNvPr id="100" name="Shape 89"/>
          <p:cNvSpPr/>
          <p:nvPr/>
        </p:nvSpPr>
        <p:spPr>
          <a:xfrm>
            <a:off x="6985000" y="1828800"/>
            <a:ext cx="254000" cy="0"/>
          </a:xfrm>
          <a:prstGeom prst="line">
            <a:avLst/>
          </a:prstGeom>
          <a:noFill/>
          <a:ln w="12700">
            <a:solidFill>
              <a:srgbClr val="9AA5B1"/>
            </a:solidFill>
            <a:prstDash val="dash"/>
          </a:ln>
        </p:spPr>
      </p:sp>
      <p:sp>
        <p:nvSpPr>
          <p:cNvPr id="101" name="Shape 90"/>
          <p:cNvSpPr/>
          <p:nvPr/>
        </p:nvSpPr>
        <p:spPr>
          <a:xfrm>
            <a:off x="6985000" y="2590800"/>
            <a:ext cx="254000" cy="0"/>
          </a:xfrm>
          <a:prstGeom prst="line">
            <a:avLst/>
          </a:prstGeom>
          <a:noFill/>
          <a:ln w="12700">
            <a:solidFill>
              <a:srgbClr val="9AA5B1"/>
            </a:solidFill>
            <a:prstDash val="dash"/>
          </a:ln>
        </p:spPr>
      </p:sp>
      <p:sp>
        <p:nvSpPr>
          <p:cNvPr id="102" name="Shape 91"/>
          <p:cNvSpPr/>
          <p:nvPr/>
        </p:nvSpPr>
        <p:spPr>
          <a:xfrm>
            <a:off x="6985000" y="3352800"/>
            <a:ext cx="254000" cy="0"/>
          </a:xfrm>
          <a:prstGeom prst="line">
            <a:avLst/>
          </a:prstGeom>
          <a:noFill/>
          <a:ln w="12700">
            <a:solidFill>
              <a:srgbClr val="9AA5B1"/>
            </a:solidFill>
            <a:prstDash val="dash"/>
          </a:ln>
        </p:spPr>
      </p:sp>
      <p:sp>
        <p:nvSpPr>
          <p:cNvPr id="103" name="Shape 92"/>
          <p:cNvSpPr/>
          <p:nvPr/>
        </p:nvSpPr>
        <p:spPr>
          <a:xfrm>
            <a:off x="7620000" y="2844800"/>
            <a:ext cx="0" cy="241300"/>
          </a:xfrm>
          <a:prstGeom prst="line">
            <a:avLst/>
          </a:prstGeom>
          <a:noFill/>
          <a:ln w="17780">
            <a:solidFill>
              <a:srgbClr val="6B7B8C"/>
            </a:solidFill>
            <a:prstDash val="dash"/>
            <a:tailEnd type="triangle"/>
          </a:ln>
        </p:spPr>
      </p:sp>
      <p:sp>
        <p:nvSpPr>
          <p:cNvPr id="104" name="Text 93"/>
          <p:cNvSpPr txBox="1"/>
          <p:nvPr/>
        </p:nvSpPr>
        <p:spPr>
          <a:xfrm>
            <a:off x="7658100" y="2908300"/>
            <a:ext cx="7620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sync or CDC [INSERT]</a:t>
            </a:r>
            <a:endParaRPr lang="en-US" sz="600" dirty="0"/>
          </a:p>
        </p:txBody>
      </p:sp>
      <p:sp>
        <p:nvSpPr>
          <p:cNvPr id="105" name="Text 94"/>
          <p:cNvSpPr/>
          <p:nvPr/>
        </p:nvSpPr>
        <p:spPr>
          <a:xfrm>
            <a:off x="9017000" y="736600"/>
            <a:ext cx="1270000" cy="5295900"/>
          </a:xfrm>
          <a:prstGeom prst="can">
            <a:avLst>
              <a:gd name="adj" fmla="val 4320"/>
            </a:avLst>
          </a:prstGeom>
          <a:solidFill>
            <a:srgbClr val="EEE6FB"/>
          </a:solidFill>
          <a:ln w="12700">
            <a:solidFill>
              <a:srgbClr val="AE8FE3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hr_policies · knowledge domain: retrieval reads, index writer writes</a:t>
            </a:r>
            <a:endParaRPr lang="en-US" sz="800" dirty="0"/>
          </a:p>
        </p:txBody>
      </p:sp>
      <p:sp>
        <p:nvSpPr>
          <p:cNvPr id="106" name="Text 95"/>
          <p:cNvSpPr/>
          <p:nvPr/>
        </p:nvSpPr>
        <p:spPr>
          <a:xfrm>
            <a:off x="9144000" y="4064000"/>
            <a:ext cx="1016000" cy="254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08C00"/>
            </a:solidFill>
            <a:prstDash val="dash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[paste: vector DB logo (Chroma / Pinecone / OpenSearch)]</a:t>
            </a:r>
            <a:endParaRPr lang="en-US" sz="550" dirty="0"/>
          </a:p>
        </p:txBody>
      </p:sp>
      <p:sp>
        <p:nvSpPr>
          <p:cNvPr id="107" name="Shape 96"/>
          <p:cNvSpPr/>
          <p:nvPr/>
        </p:nvSpPr>
        <p:spPr>
          <a:xfrm>
            <a:off x="6985000" y="1270000"/>
            <a:ext cx="20193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08" name="Text 97"/>
          <p:cNvSpPr txBox="1"/>
          <p:nvPr/>
        </p:nvSpPr>
        <p:spPr>
          <a:xfrm>
            <a:off x="7937500" y="1295400"/>
            <a:ext cx="2540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600" dirty="0"/>
          </a:p>
        </p:txBody>
      </p:sp>
      <p:sp>
        <p:nvSpPr>
          <p:cNvPr id="109" name="Text 98"/>
          <p:cNvSpPr/>
          <p:nvPr/>
        </p:nvSpPr>
        <p:spPr>
          <a:xfrm>
            <a:off x="7239000" y="3835400"/>
            <a:ext cx="1206500" cy="533400"/>
          </a:xfrm>
          <a:prstGeom prst="roundRect">
            <a:avLst>
              <a:gd name="adj" fmla="val 10286"/>
            </a:avLst>
          </a:prstGeom>
          <a:solidFill>
            <a:srgbClr val="FDE3E2"/>
          </a:solidFill>
          <a:ln w="12700">
            <a:solidFill>
              <a:srgbClr val="EC8A8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invalidation handler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① entries for a changed doc</a:t>
            </a:r>
            <a:endParaRPr lang="en-US" sz="850" dirty="0"/>
          </a:p>
        </p:txBody>
      </p:sp>
      <p:sp>
        <p:nvSpPr>
          <p:cNvPr id="110" name="Shape 99"/>
          <p:cNvSpPr/>
          <p:nvPr/>
        </p:nvSpPr>
        <p:spPr>
          <a:xfrm>
            <a:off x="7239000" y="3835400"/>
            <a:ext cx="1206500" cy="533400"/>
          </a:xfrm>
          <a:prstGeom prst="roundRect">
            <a:avLst>
              <a:gd name="adj" fmla="val 13714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11" name="Text 100"/>
          <p:cNvSpPr/>
          <p:nvPr/>
        </p:nvSpPr>
        <p:spPr>
          <a:xfrm>
            <a:off x="7289800" y="3778250"/>
            <a:ext cx="1110488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 · v2 in hrb-api</a:t>
            </a:r>
            <a:endParaRPr lang="en-US" sz="650" dirty="0"/>
          </a:p>
        </p:txBody>
      </p:sp>
      <p:sp>
        <p:nvSpPr>
          <p:cNvPr id="112" name="Shape 101"/>
          <p:cNvSpPr/>
          <p:nvPr/>
        </p:nvSpPr>
        <p:spPr>
          <a:xfrm>
            <a:off x="8445500" y="4102100"/>
            <a:ext cx="254000" cy="0"/>
          </a:xfrm>
          <a:prstGeom prst="line">
            <a:avLst/>
          </a:prstGeom>
          <a:noFill/>
          <a:ln w="17780">
            <a:solidFill>
              <a:srgbClr val="C49100"/>
            </a:solidFill>
            <a:prstDash val="dash"/>
          </a:ln>
        </p:spPr>
      </p:sp>
      <p:sp>
        <p:nvSpPr>
          <p:cNvPr id="113" name="Shape 102"/>
          <p:cNvSpPr/>
          <p:nvPr/>
        </p:nvSpPr>
        <p:spPr>
          <a:xfrm flipV="1">
            <a:off x="8699500" y="977900"/>
            <a:ext cx="0" cy="3124200"/>
          </a:xfrm>
          <a:prstGeom prst="line">
            <a:avLst/>
          </a:prstGeom>
          <a:noFill/>
          <a:ln w="17780">
            <a:solidFill>
              <a:srgbClr val="C49100"/>
            </a:solidFill>
            <a:prstDash val="dash"/>
          </a:ln>
        </p:spPr>
      </p:sp>
      <p:sp>
        <p:nvSpPr>
          <p:cNvPr id="114" name="Shape 103"/>
          <p:cNvSpPr/>
          <p:nvPr/>
        </p:nvSpPr>
        <p:spPr>
          <a:xfrm flipH="1">
            <a:off x="8458200" y="977900"/>
            <a:ext cx="241300" cy="0"/>
          </a:xfrm>
          <a:prstGeom prst="line">
            <a:avLst/>
          </a:prstGeom>
          <a:noFill/>
          <a:ln w="17780">
            <a:solidFill>
              <a:srgbClr val="C49100"/>
            </a:solidFill>
            <a:prstDash val="dash"/>
            <a:tailEnd type="triangle"/>
          </a:ln>
        </p:spPr>
      </p:sp>
      <p:sp>
        <p:nvSpPr>
          <p:cNvPr id="115" name="Text 104"/>
          <p:cNvSpPr/>
          <p:nvPr/>
        </p:nvSpPr>
        <p:spPr>
          <a:xfrm>
            <a:off x="5207000" y="3835400"/>
            <a:ext cx="1778000" cy="482600"/>
          </a:xfrm>
          <a:prstGeom prst="roundRect">
            <a:avLst>
              <a:gd name="adj" fmla="val 11368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SES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delivery</a:t>
            </a:r>
            <a:endParaRPr lang="en-US" sz="900" dirty="0"/>
          </a:p>
        </p:txBody>
      </p:sp>
      <p:pic>
        <p:nvPicPr>
          <p:cNvPr id="116" name="Image 9" descr="/tmp/claude-0/-home-claude/464e32f6-6cab-5bf8-83b9-d9d9487214ed/scratchpad/icons/png/se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9100" y="3886200"/>
            <a:ext cx="165100" cy="165100"/>
          </a:xfrm>
          <a:prstGeom prst="rect">
            <a:avLst/>
          </a:prstGeom>
        </p:spPr>
      </p:pic>
      <p:sp>
        <p:nvSpPr>
          <p:cNvPr id="117" name="Shape 105"/>
          <p:cNvSpPr/>
          <p:nvPr/>
        </p:nvSpPr>
        <p:spPr>
          <a:xfrm>
            <a:off x="4699000" y="3962400"/>
            <a:ext cx="495300" cy="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118" name="Text 106"/>
          <p:cNvSpPr txBox="1"/>
          <p:nvPr/>
        </p:nvSpPr>
        <p:spPr>
          <a:xfrm>
            <a:off x="4737100" y="3848100"/>
            <a:ext cx="2921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API</a:t>
            </a:r>
            <a:endParaRPr lang="en-US" sz="600" dirty="0"/>
          </a:p>
        </p:txBody>
      </p:sp>
      <p:sp>
        <p:nvSpPr>
          <p:cNvPr id="119" name="Text 107"/>
          <p:cNvSpPr/>
          <p:nvPr/>
        </p:nvSpPr>
        <p:spPr>
          <a:xfrm>
            <a:off x="1397000" y="5080000"/>
            <a:ext cx="1270000" cy="508000"/>
          </a:xfrm>
          <a:prstGeom prst="roundRect">
            <a:avLst>
              <a:gd name="adj" fmla="val 108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API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doc, presigned upload</a:t>
            </a:r>
            <a:endParaRPr lang="en-US" sz="900" dirty="0"/>
          </a:p>
        </p:txBody>
      </p:sp>
      <p:sp>
        <p:nvSpPr>
          <p:cNvPr id="120" name="Shape 108"/>
          <p:cNvSpPr/>
          <p:nvPr/>
        </p:nvSpPr>
        <p:spPr>
          <a:xfrm>
            <a:off x="1397000" y="5080000"/>
            <a:ext cx="1270000" cy="508000"/>
          </a:xfrm>
          <a:prstGeom prst="roundRect">
            <a:avLst>
              <a:gd name="adj" fmla="val 144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121" name="Text 109"/>
          <p:cNvSpPr/>
          <p:nvPr/>
        </p:nvSpPr>
        <p:spPr>
          <a:xfrm>
            <a:off x="1447800" y="5022850"/>
            <a:ext cx="1150938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 · v2 in hrb-api</a:t>
            </a:r>
            <a:endParaRPr lang="en-US" sz="650" dirty="0"/>
          </a:p>
        </p:txBody>
      </p:sp>
      <p:sp>
        <p:nvSpPr>
          <p:cNvPr id="122" name="Shape 110"/>
          <p:cNvSpPr/>
          <p:nvPr/>
        </p:nvSpPr>
        <p:spPr>
          <a:xfrm>
            <a:off x="1104900" y="5346700"/>
            <a:ext cx="2794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23" name="Text 111"/>
          <p:cNvSpPr/>
          <p:nvPr/>
        </p:nvSpPr>
        <p:spPr>
          <a:xfrm>
            <a:off x="2857500" y="5080000"/>
            <a:ext cx="952500" cy="508000"/>
          </a:xfrm>
          <a:prstGeom prst="roundRect">
            <a:avLst>
              <a:gd name="adj" fmla="val 108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/ removed events</a:t>
            </a:r>
            <a:endParaRPr lang="en-US" sz="850" dirty="0"/>
          </a:p>
        </p:txBody>
      </p:sp>
      <p:pic>
        <p:nvPicPr>
          <p:cNvPr id="124" name="Image 10" descr="/tmp/claude-0/-home-claude/464e32f6-6cab-5bf8-83b9-d9d9487214ed/scratchpad/icons/png/s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06800" y="5118100"/>
            <a:ext cx="165100" cy="165100"/>
          </a:xfrm>
          <a:prstGeom prst="rect">
            <a:avLst/>
          </a:prstGeom>
        </p:spPr>
      </p:pic>
      <p:sp>
        <p:nvSpPr>
          <p:cNvPr id="125" name="Text 112"/>
          <p:cNvSpPr/>
          <p:nvPr/>
        </p:nvSpPr>
        <p:spPr>
          <a:xfrm>
            <a:off x="3987800" y="5080000"/>
            <a:ext cx="889000" cy="508000"/>
          </a:xfrm>
          <a:prstGeom prst="roundRect">
            <a:avLst>
              <a:gd name="adj" fmla="val 10800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doc_load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parsers per format</a:t>
            </a:r>
            <a:endParaRPr lang="en-US" sz="850" dirty="0"/>
          </a:p>
        </p:txBody>
      </p:sp>
      <p:sp>
        <p:nvSpPr>
          <p:cNvPr id="126" name="Shape 113"/>
          <p:cNvSpPr/>
          <p:nvPr/>
        </p:nvSpPr>
        <p:spPr>
          <a:xfrm>
            <a:off x="3987800" y="5080000"/>
            <a:ext cx="889000" cy="508000"/>
          </a:xfrm>
          <a:prstGeom prst="roundRect">
            <a:avLst>
              <a:gd name="adj" fmla="val 144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27" name="Text 114"/>
          <p:cNvSpPr/>
          <p:nvPr/>
        </p:nvSpPr>
        <p:spPr>
          <a:xfrm>
            <a:off x="4038600" y="5022850"/>
            <a:ext cx="463296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50" dirty="0"/>
          </a:p>
        </p:txBody>
      </p:sp>
      <p:sp>
        <p:nvSpPr>
          <p:cNvPr id="128" name="Text 115"/>
          <p:cNvSpPr/>
          <p:nvPr/>
        </p:nvSpPr>
        <p:spPr>
          <a:xfrm>
            <a:off x="5054600" y="5080000"/>
            <a:ext cx="1079500" cy="508000"/>
          </a:xfrm>
          <a:prstGeom prst="roundRect">
            <a:avLst>
              <a:gd name="adj" fmla="val 10800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extract_chunk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tables, OCR + caption</a:t>
            </a:r>
            <a:endParaRPr lang="en-US" sz="850" dirty="0"/>
          </a:p>
        </p:txBody>
      </p:sp>
      <p:sp>
        <p:nvSpPr>
          <p:cNvPr id="129" name="Shape 116"/>
          <p:cNvSpPr/>
          <p:nvPr/>
        </p:nvSpPr>
        <p:spPr>
          <a:xfrm>
            <a:off x="5054600" y="5080000"/>
            <a:ext cx="1079500" cy="508000"/>
          </a:xfrm>
          <a:prstGeom prst="roundRect">
            <a:avLst>
              <a:gd name="adj" fmla="val 144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30" name="Text 117"/>
          <p:cNvSpPr/>
          <p:nvPr/>
        </p:nvSpPr>
        <p:spPr>
          <a:xfrm>
            <a:off x="5105400" y="5022850"/>
            <a:ext cx="463296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50" dirty="0"/>
          </a:p>
        </p:txBody>
      </p:sp>
      <p:sp>
        <p:nvSpPr>
          <p:cNvPr id="131" name="Text 118"/>
          <p:cNvSpPr/>
          <p:nvPr/>
        </p:nvSpPr>
        <p:spPr>
          <a:xfrm>
            <a:off x="6311900" y="5080000"/>
            <a:ext cx="762000" cy="508000"/>
          </a:xfrm>
          <a:prstGeom prst="roundRect">
            <a:avLst>
              <a:gd name="adj" fmla="val 10800"/>
            </a:avLst>
          </a:prstGeom>
          <a:solidFill>
            <a:srgbClr val="EEE6FB"/>
          </a:solidFill>
          <a:ln w="12700">
            <a:solidFill>
              <a:srgbClr val="AE8FE3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cache first</a:t>
            </a:r>
            <a:endParaRPr lang="en-US" sz="850" dirty="0"/>
          </a:p>
        </p:txBody>
      </p:sp>
      <p:sp>
        <p:nvSpPr>
          <p:cNvPr id="132" name="Shape 119"/>
          <p:cNvSpPr/>
          <p:nvPr/>
        </p:nvSpPr>
        <p:spPr>
          <a:xfrm>
            <a:off x="6311900" y="5080000"/>
            <a:ext cx="762000" cy="508000"/>
          </a:xfrm>
          <a:prstGeom prst="roundRect">
            <a:avLst>
              <a:gd name="adj" fmla="val 144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33" name="Text 120"/>
          <p:cNvSpPr/>
          <p:nvPr/>
        </p:nvSpPr>
        <p:spPr>
          <a:xfrm>
            <a:off x="6362700" y="5022850"/>
            <a:ext cx="463296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50" dirty="0"/>
          </a:p>
        </p:txBody>
      </p:sp>
      <p:sp>
        <p:nvSpPr>
          <p:cNvPr id="134" name="Text 121"/>
          <p:cNvSpPr/>
          <p:nvPr/>
        </p:nvSpPr>
        <p:spPr>
          <a:xfrm>
            <a:off x="7251700" y="5080000"/>
            <a:ext cx="1193800" cy="508000"/>
          </a:xfrm>
          <a:prstGeom prst="roundRect">
            <a:avLst>
              <a:gd name="adj" fmla="val 108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writer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upsert, delete path</a:t>
            </a:r>
            <a:endParaRPr lang="en-US" sz="850" dirty="0"/>
          </a:p>
        </p:txBody>
      </p:sp>
      <p:sp>
        <p:nvSpPr>
          <p:cNvPr id="135" name="Shape 122"/>
          <p:cNvSpPr/>
          <p:nvPr/>
        </p:nvSpPr>
        <p:spPr>
          <a:xfrm>
            <a:off x="7251700" y="5080000"/>
            <a:ext cx="1193800" cy="508000"/>
          </a:xfrm>
          <a:prstGeom prst="roundRect">
            <a:avLst>
              <a:gd name="adj" fmla="val 144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36" name="Text 123"/>
          <p:cNvSpPr/>
          <p:nvPr/>
        </p:nvSpPr>
        <p:spPr>
          <a:xfrm>
            <a:off x="7302500" y="5022850"/>
            <a:ext cx="463296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50" dirty="0"/>
          </a:p>
        </p:txBody>
      </p:sp>
      <p:sp>
        <p:nvSpPr>
          <p:cNvPr id="137" name="Shape 124"/>
          <p:cNvSpPr/>
          <p:nvPr/>
        </p:nvSpPr>
        <p:spPr>
          <a:xfrm>
            <a:off x="2667000" y="5334000"/>
            <a:ext cx="1778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38" name="Text 125"/>
          <p:cNvSpPr txBox="1"/>
          <p:nvPr/>
        </p:nvSpPr>
        <p:spPr>
          <a:xfrm>
            <a:off x="2476500" y="5613400"/>
            <a:ext cx="4826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3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presigned PUT</a:t>
            </a:r>
            <a:endParaRPr lang="en-US" sz="600" dirty="0"/>
          </a:p>
        </p:txBody>
      </p:sp>
      <p:sp>
        <p:nvSpPr>
          <p:cNvPr id="139" name="Shape 126"/>
          <p:cNvSpPr/>
          <p:nvPr/>
        </p:nvSpPr>
        <p:spPr>
          <a:xfrm>
            <a:off x="3810000" y="5334000"/>
            <a:ext cx="165100" cy="0"/>
          </a:xfrm>
          <a:prstGeom prst="line">
            <a:avLst/>
          </a:prstGeom>
          <a:noFill/>
          <a:ln w="1778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40" name="Shape 127"/>
          <p:cNvSpPr/>
          <p:nvPr/>
        </p:nvSpPr>
        <p:spPr>
          <a:xfrm>
            <a:off x="4876800" y="5334000"/>
            <a:ext cx="165100" cy="0"/>
          </a:xfrm>
          <a:prstGeom prst="line">
            <a:avLst/>
          </a:prstGeom>
          <a:noFill/>
          <a:ln w="1778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41" name="Shape 128"/>
          <p:cNvSpPr/>
          <p:nvPr/>
        </p:nvSpPr>
        <p:spPr>
          <a:xfrm>
            <a:off x="6134100" y="5334000"/>
            <a:ext cx="165100" cy="0"/>
          </a:xfrm>
          <a:prstGeom prst="line">
            <a:avLst/>
          </a:prstGeom>
          <a:noFill/>
          <a:ln w="1778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42" name="Shape 129"/>
          <p:cNvSpPr/>
          <p:nvPr/>
        </p:nvSpPr>
        <p:spPr>
          <a:xfrm>
            <a:off x="7073900" y="5334000"/>
            <a:ext cx="165100" cy="0"/>
          </a:xfrm>
          <a:prstGeom prst="line">
            <a:avLst/>
          </a:prstGeom>
          <a:noFill/>
          <a:ln w="1778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43" name="Text 130"/>
          <p:cNvSpPr txBox="1"/>
          <p:nvPr/>
        </p:nvSpPr>
        <p:spPr>
          <a:xfrm>
            <a:off x="3759200" y="5194300"/>
            <a:ext cx="2921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S3→SQS</a:t>
            </a:r>
            <a:endParaRPr lang="en-US" sz="600" dirty="0"/>
          </a:p>
        </p:txBody>
      </p:sp>
      <p:sp>
        <p:nvSpPr>
          <p:cNvPr id="144" name="Text 131"/>
          <p:cNvSpPr txBox="1"/>
          <p:nvPr/>
        </p:nvSpPr>
        <p:spPr>
          <a:xfrm>
            <a:off x="4864100" y="5219700"/>
            <a:ext cx="1905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600" dirty="0"/>
          </a:p>
        </p:txBody>
      </p:sp>
      <p:sp>
        <p:nvSpPr>
          <p:cNvPr id="145" name="Text 132"/>
          <p:cNvSpPr txBox="1"/>
          <p:nvPr/>
        </p:nvSpPr>
        <p:spPr>
          <a:xfrm>
            <a:off x="6108700" y="5219700"/>
            <a:ext cx="1905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600" dirty="0"/>
          </a:p>
        </p:txBody>
      </p:sp>
      <p:sp>
        <p:nvSpPr>
          <p:cNvPr id="146" name="Text 133"/>
          <p:cNvSpPr txBox="1"/>
          <p:nvPr/>
        </p:nvSpPr>
        <p:spPr>
          <a:xfrm>
            <a:off x="7048500" y="5219700"/>
            <a:ext cx="1905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600" dirty="0"/>
          </a:p>
        </p:txBody>
      </p:sp>
      <p:pic>
        <p:nvPicPr>
          <p:cNvPr id="147" name="Image 11" descr="/tmp/claude-0/-home-claude/464e32f6-6cab-5bf8-83b9-d9d9487214ed/scratchpad/icons/png/sq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85200" y="5588000"/>
            <a:ext cx="139700" cy="139700"/>
          </a:xfrm>
          <a:prstGeom prst="rect">
            <a:avLst/>
          </a:prstGeom>
        </p:spPr>
      </p:pic>
      <p:sp>
        <p:nvSpPr>
          <p:cNvPr id="148" name="Shape 134"/>
          <p:cNvSpPr/>
          <p:nvPr/>
        </p:nvSpPr>
        <p:spPr>
          <a:xfrm>
            <a:off x="8445500" y="5397500"/>
            <a:ext cx="5588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49" name="Text 135"/>
          <p:cNvSpPr txBox="1"/>
          <p:nvPr/>
        </p:nvSpPr>
        <p:spPr>
          <a:xfrm>
            <a:off x="8534400" y="5283200"/>
            <a:ext cx="2540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</a:t>
            </a:r>
            <a:endParaRPr lang="en-US" sz="600" dirty="0"/>
          </a:p>
        </p:txBody>
      </p:sp>
      <p:sp>
        <p:nvSpPr>
          <p:cNvPr id="150" name="Shape 136"/>
          <p:cNvSpPr/>
          <p:nvPr/>
        </p:nvSpPr>
        <p:spPr>
          <a:xfrm flipV="1">
            <a:off x="7848600" y="4381500"/>
            <a:ext cx="0" cy="698500"/>
          </a:xfrm>
          <a:prstGeom prst="line">
            <a:avLst/>
          </a:prstGeom>
          <a:noFill/>
          <a:ln w="17780">
            <a:solidFill>
              <a:srgbClr val="C49100"/>
            </a:solidFill>
            <a:prstDash val="dash"/>
            <a:tailEnd type="triangle"/>
          </a:ln>
        </p:spPr>
      </p:sp>
      <p:sp>
        <p:nvSpPr>
          <p:cNvPr id="151" name="Shape 137"/>
          <p:cNvSpPr/>
          <p:nvPr/>
        </p:nvSpPr>
        <p:spPr>
          <a:xfrm>
            <a:off x="7804150" y="4546600"/>
            <a:ext cx="82550" cy="8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  <a:prstDash val="solid"/>
          </a:ln>
        </p:spPr>
      </p:sp>
      <p:sp>
        <p:nvSpPr>
          <p:cNvPr id="152" name="Shape 138"/>
          <p:cNvSpPr/>
          <p:nvPr/>
        </p:nvSpPr>
        <p:spPr>
          <a:xfrm>
            <a:off x="7804150" y="4648200"/>
            <a:ext cx="82550" cy="8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  <a:prstDash val="solid"/>
          </a:ln>
        </p:spPr>
      </p:sp>
      <p:sp>
        <p:nvSpPr>
          <p:cNvPr id="153" name="Shape 139"/>
          <p:cNvSpPr/>
          <p:nvPr/>
        </p:nvSpPr>
        <p:spPr>
          <a:xfrm>
            <a:off x="7804150" y="4749800"/>
            <a:ext cx="82550" cy="8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  <a:prstDash val="solid"/>
          </a:ln>
        </p:spPr>
      </p:sp>
      <p:pic>
        <p:nvPicPr>
          <p:cNvPr id="154" name="Image 12" descr="/tmp/claude-0/-home-claude/464e32f6-6cab-5bf8-83b9-d9d9487214ed/scratchpad/icons/png/sns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62900" y="4699000"/>
            <a:ext cx="139700" cy="139700"/>
          </a:xfrm>
          <a:prstGeom prst="rect">
            <a:avLst/>
          </a:prstGeom>
        </p:spPr>
      </p:pic>
      <p:sp>
        <p:nvSpPr>
          <p:cNvPr id="155" name="Text 140"/>
          <p:cNvSpPr txBox="1"/>
          <p:nvPr/>
        </p:nvSpPr>
        <p:spPr>
          <a:xfrm>
            <a:off x="7937500" y="4559300"/>
            <a:ext cx="952500" cy="10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4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→ SQS: doc_version_changed</a:t>
            </a:r>
            <a:endParaRPr lang="en-US" sz="600" dirty="0"/>
          </a:p>
        </p:txBody>
      </p:sp>
      <p:sp>
        <p:nvSpPr>
          <p:cNvPr id="156" name="Text 141"/>
          <p:cNvSpPr/>
          <p:nvPr/>
        </p:nvSpPr>
        <p:spPr>
          <a:xfrm>
            <a:off x="2857500" y="5715000"/>
            <a:ext cx="952500" cy="393700"/>
          </a:xfrm>
          <a:prstGeom prst="can">
            <a:avLst>
              <a:gd name="adj" fmla="val 13935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documents</a:t>
            </a:r>
            <a:endParaRPr lang="en-US" sz="800" dirty="0"/>
          </a:p>
        </p:txBody>
      </p:sp>
      <p:pic>
        <p:nvPicPr>
          <p:cNvPr id="157" name="Image 13" descr="/tmp/claude-0/-home-claude/464e32f6-6cab-5bf8-83b9-d9d9487214ed/scratchpad/icons/png/s3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19500" y="5803900"/>
            <a:ext cx="152400" cy="152400"/>
          </a:xfrm>
          <a:prstGeom prst="rect">
            <a:avLst/>
          </a:prstGeom>
        </p:spPr>
      </p:pic>
      <p:sp>
        <p:nvSpPr>
          <p:cNvPr id="158" name="Text 142"/>
          <p:cNvSpPr/>
          <p:nvPr/>
        </p:nvSpPr>
        <p:spPr>
          <a:xfrm>
            <a:off x="3987800" y="5715000"/>
            <a:ext cx="2146300" cy="393700"/>
          </a:xfrm>
          <a:prstGeom prst="can">
            <a:avLst>
              <a:gd name="adj" fmla="val 13935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state per stage</a:t>
            </a:r>
            <a:endParaRPr lang="en-US" sz="800" dirty="0"/>
          </a:p>
        </p:txBody>
      </p:sp>
      <p:pic>
        <p:nvPicPr>
          <p:cNvPr id="159" name="Image 14" descr="/tmp/claude-0/-home-claude/464e32f6-6cab-5bf8-83b9-d9d9487214ed/scratchpad/icons/png/rds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43600" y="5803900"/>
            <a:ext cx="152400" cy="152400"/>
          </a:xfrm>
          <a:prstGeom prst="rect">
            <a:avLst/>
          </a:prstGeom>
        </p:spPr>
      </p:pic>
      <p:sp>
        <p:nvSpPr>
          <p:cNvPr id="160" name="Text 143"/>
          <p:cNvSpPr/>
          <p:nvPr/>
        </p:nvSpPr>
        <p:spPr>
          <a:xfrm>
            <a:off x="6311900" y="5715000"/>
            <a:ext cx="762000" cy="393700"/>
          </a:xfrm>
          <a:prstGeom prst="can">
            <a:avLst>
              <a:gd name="adj" fmla="val 13935"/>
            </a:avLst>
          </a:prstGeom>
          <a:solidFill>
            <a:srgbClr val="FDE3E2"/>
          </a:solidFill>
          <a:ln w="12700">
            <a:solidFill>
              <a:srgbClr val="EC8A8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②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800" dirty="0"/>
          </a:p>
        </p:txBody>
      </p:sp>
      <p:sp>
        <p:nvSpPr>
          <p:cNvPr id="161" name="Shape 144"/>
          <p:cNvSpPr/>
          <p:nvPr/>
        </p:nvSpPr>
        <p:spPr>
          <a:xfrm>
            <a:off x="3333750" y="5588000"/>
            <a:ext cx="0" cy="127000"/>
          </a:xfrm>
          <a:prstGeom prst="line">
            <a:avLst/>
          </a:prstGeom>
          <a:noFill/>
          <a:ln w="12700">
            <a:solidFill>
              <a:srgbClr val="9AA5B1"/>
            </a:solidFill>
            <a:prstDash val="dash"/>
          </a:ln>
        </p:spPr>
      </p:sp>
      <p:sp>
        <p:nvSpPr>
          <p:cNvPr id="162" name="Shape 145"/>
          <p:cNvSpPr/>
          <p:nvPr/>
        </p:nvSpPr>
        <p:spPr>
          <a:xfrm>
            <a:off x="5060950" y="5588000"/>
            <a:ext cx="0" cy="127000"/>
          </a:xfrm>
          <a:prstGeom prst="line">
            <a:avLst/>
          </a:prstGeom>
          <a:noFill/>
          <a:ln w="12700">
            <a:solidFill>
              <a:srgbClr val="9AA5B1"/>
            </a:solidFill>
            <a:prstDash val="dash"/>
          </a:ln>
        </p:spPr>
      </p:sp>
      <p:sp>
        <p:nvSpPr>
          <p:cNvPr id="163" name="Shape 146"/>
          <p:cNvSpPr/>
          <p:nvPr/>
        </p:nvSpPr>
        <p:spPr>
          <a:xfrm>
            <a:off x="6692900" y="5588000"/>
            <a:ext cx="0" cy="127000"/>
          </a:xfrm>
          <a:prstGeom prst="line">
            <a:avLst/>
          </a:prstGeom>
          <a:noFill/>
          <a:ln w="12700">
            <a:solidFill>
              <a:srgbClr val="9AA5B1"/>
            </a:solidFill>
            <a:prstDash val="dash"/>
          </a:ln>
        </p:spPr>
      </p:sp>
      <p:sp>
        <p:nvSpPr>
          <p:cNvPr id="164" name="Shape 147"/>
          <p:cNvSpPr/>
          <p:nvPr/>
        </p:nvSpPr>
        <p:spPr>
          <a:xfrm>
            <a:off x="10922000" y="584200"/>
            <a:ext cx="1143000" cy="56896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65" name="Text 148"/>
          <p:cNvSpPr txBox="1"/>
          <p:nvPr/>
        </p:nvSpPr>
        <p:spPr>
          <a:xfrm>
            <a:off x="10985500" y="609600"/>
            <a:ext cx="1016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900" dirty="0"/>
          </a:p>
        </p:txBody>
      </p:sp>
      <p:sp>
        <p:nvSpPr>
          <p:cNvPr id="166" name="Text 149"/>
          <p:cNvSpPr/>
          <p:nvPr/>
        </p:nvSpPr>
        <p:spPr>
          <a:xfrm>
            <a:off x="10998200" y="787400"/>
            <a:ext cx="990600" cy="698500"/>
          </a:xfrm>
          <a:prstGeom prst="roundRect">
            <a:avLst>
              <a:gd name="adj" fmla="val 7855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or Bedrock</a:t>
            </a:r>
            <a:endParaRPr lang="en-US" sz="850" dirty="0"/>
          </a:p>
        </p:txBody>
      </p:sp>
      <p:sp>
        <p:nvSpPr>
          <p:cNvPr id="167" name="Text 150"/>
          <p:cNvSpPr/>
          <p:nvPr/>
        </p:nvSpPr>
        <p:spPr>
          <a:xfrm>
            <a:off x="11049000" y="1295400"/>
            <a:ext cx="635000" cy="139700"/>
          </a:xfrm>
          <a:prstGeom prst="rect">
            <a:avLst/>
          </a:prstGeom>
          <a:solidFill>
            <a:srgbClr val="FFF7ED"/>
          </a:solidFill>
          <a:ln w="12700">
            <a:solidFill>
              <a:srgbClr val="F08C00"/>
            </a:solidFill>
            <a:prstDash val="dash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[paste: OpenAI logo]</a:t>
            </a:r>
            <a:endParaRPr lang="en-US" sz="550" dirty="0"/>
          </a:p>
        </p:txBody>
      </p:sp>
      <p:pic>
        <p:nvPicPr>
          <p:cNvPr id="168" name="Image 15" descr="/tmp/claude-0/-home-claude/464e32f6-6cab-5bf8-83b9-d9d9487214ed/scratchpad/icons/png/bedrock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760200" y="1270000"/>
            <a:ext cx="177800" cy="177800"/>
          </a:xfrm>
          <a:prstGeom prst="rect">
            <a:avLst/>
          </a:prstGeom>
        </p:spPr>
      </p:pic>
      <p:sp>
        <p:nvSpPr>
          <p:cNvPr id="169" name="Text 151"/>
          <p:cNvSpPr/>
          <p:nvPr/>
        </p:nvSpPr>
        <p:spPr>
          <a:xfrm>
            <a:off x="10998200" y="1587500"/>
            <a:ext cx="990600" cy="558800"/>
          </a:xfrm>
          <a:prstGeom prst="roundRect">
            <a:avLst>
              <a:gd name="adj" fmla="val 9818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850" dirty="0"/>
          </a:p>
        </p:txBody>
      </p:sp>
      <p:sp>
        <p:nvSpPr>
          <p:cNvPr id="170" name="Text 152"/>
          <p:cNvSpPr/>
          <p:nvPr/>
        </p:nvSpPr>
        <p:spPr>
          <a:xfrm>
            <a:off x="11049000" y="1955800"/>
            <a:ext cx="889000" cy="139700"/>
          </a:xfrm>
          <a:prstGeom prst="rect">
            <a:avLst/>
          </a:prstGeom>
          <a:solidFill>
            <a:srgbClr val="FFF7ED"/>
          </a:solidFill>
          <a:ln w="12700">
            <a:solidFill>
              <a:srgbClr val="F08C00"/>
            </a:solidFill>
            <a:prstDash val="dash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[paste: Tavily logo]</a:t>
            </a:r>
            <a:endParaRPr lang="en-US" sz="550" dirty="0"/>
          </a:p>
        </p:txBody>
      </p:sp>
      <p:sp>
        <p:nvSpPr>
          <p:cNvPr id="171" name="Text 153"/>
          <p:cNvSpPr/>
          <p:nvPr/>
        </p:nvSpPr>
        <p:spPr>
          <a:xfrm>
            <a:off x="10998200" y="2222500"/>
            <a:ext cx="990600" cy="1016000"/>
          </a:xfrm>
          <a:prstGeom prst="roundRect">
            <a:avLst>
              <a:gd name="adj" fmla="val 5538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Scheduler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task timers (day 3, day 5, 24 h) → HR Console · nightly evals → Feedback &amp; Eval</a:t>
            </a:r>
            <a:endParaRPr lang="en-US" sz="850" dirty="0"/>
          </a:p>
        </p:txBody>
      </p:sp>
      <p:pic>
        <p:nvPicPr>
          <p:cNvPr id="172" name="Image 16" descr="/tmp/claude-0/-home-claude/464e32f6-6cab-5bf8-83b9-d9d9487214ed/scratchpad/icons/png/schedule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760200" y="2260600"/>
            <a:ext cx="177800" cy="177800"/>
          </a:xfrm>
          <a:prstGeom prst="rect">
            <a:avLst/>
          </a:prstGeom>
        </p:spPr>
      </p:pic>
      <p:sp>
        <p:nvSpPr>
          <p:cNvPr id="173" name="Text 154"/>
          <p:cNvSpPr/>
          <p:nvPr/>
        </p:nvSpPr>
        <p:spPr>
          <a:xfrm>
            <a:off x="10998200" y="3340100"/>
            <a:ext cx="990600" cy="571500"/>
          </a:xfrm>
          <a:prstGeom prst="roundRect">
            <a:avLst>
              <a:gd name="adj" fmla="val 96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for users; tools get an on-behalf-of token</a:t>
            </a:r>
            <a:endParaRPr lang="en-US" sz="850" dirty="0"/>
          </a:p>
        </p:txBody>
      </p:sp>
      <p:pic>
        <p:nvPicPr>
          <p:cNvPr id="174" name="Image 17" descr="/tmp/claude-0/-home-claude/464e32f6-6cab-5bf8-83b9-d9d9487214ed/scratchpad/icons/png/cognito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785600" y="3378200"/>
            <a:ext cx="165100" cy="165100"/>
          </a:xfrm>
          <a:prstGeom prst="rect">
            <a:avLst/>
          </a:prstGeom>
        </p:spPr>
      </p:pic>
      <p:sp>
        <p:nvSpPr>
          <p:cNvPr id="175" name="Shape 155"/>
          <p:cNvSpPr/>
          <p:nvPr/>
        </p:nvSpPr>
        <p:spPr>
          <a:xfrm>
            <a:off x="127000" y="6350000"/>
            <a:ext cx="11938000" cy="1193800"/>
          </a:xfrm>
          <a:prstGeom prst="roundRect">
            <a:avLst>
              <a:gd name="adj" fmla="val 4596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76" name="Text 156"/>
          <p:cNvSpPr txBox="1"/>
          <p:nvPr/>
        </p:nvSpPr>
        <p:spPr>
          <a:xfrm>
            <a:off x="228600" y="64008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850" dirty="0"/>
          </a:p>
        </p:txBody>
      </p:sp>
      <p:sp>
        <p:nvSpPr>
          <p:cNvPr id="177" name="Shape 157"/>
          <p:cNvSpPr/>
          <p:nvPr/>
        </p:nvSpPr>
        <p:spPr>
          <a:xfrm>
            <a:off x="228600" y="6692900"/>
            <a:ext cx="3048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78" name="Text 158"/>
          <p:cNvSpPr txBox="1"/>
          <p:nvPr/>
        </p:nvSpPr>
        <p:spPr>
          <a:xfrm>
            <a:off x="609600" y="6635750"/>
            <a:ext cx="190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call (caller waits)</a:t>
            </a:r>
            <a:endParaRPr lang="en-US" sz="850" dirty="0"/>
          </a:p>
        </p:txBody>
      </p:sp>
      <p:sp>
        <p:nvSpPr>
          <p:cNvPr id="179" name="Shape 159"/>
          <p:cNvSpPr/>
          <p:nvPr/>
        </p:nvSpPr>
        <p:spPr>
          <a:xfrm>
            <a:off x="228600" y="6883400"/>
            <a:ext cx="304800" cy="0"/>
          </a:xfrm>
          <a:prstGeom prst="line">
            <a:avLst/>
          </a:prstGeom>
          <a:noFill/>
          <a:ln w="17780">
            <a:solidFill>
              <a:srgbClr val="6A3FC8"/>
            </a:solidFill>
            <a:prstDash val="dash"/>
            <a:tailEnd type="triangle"/>
          </a:ln>
        </p:spPr>
      </p:sp>
      <p:sp>
        <p:nvSpPr>
          <p:cNvPr id="180" name="Text 160"/>
          <p:cNvSpPr txBox="1"/>
          <p:nvPr/>
        </p:nvSpPr>
        <p:spPr>
          <a:xfrm>
            <a:off x="609600" y="6826250"/>
            <a:ext cx="190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event (nobody waits)</a:t>
            </a:r>
            <a:endParaRPr lang="en-US" sz="850" dirty="0"/>
          </a:p>
        </p:txBody>
      </p:sp>
      <p:sp>
        <p:nvSpPr>
          <p:cNvPr id="181" name="Shape 161"/>
          <p:cNvSpPr/>
          <p:nvPr/>
        </p:nvSpPr>
        <p:spPr>
          <a:xfrm>
            <a:off x="254000" y="7035800"/>
            <a:ext cx="82550" cy="8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  <a:prstDash val="solid"/>
          </a:ln>
        </p:spPr>
      </p:sp>
      <p:sp>
        <p:nvSpPr>
          <p:cNvPr id="182" name="Shape 162"/>
          <p:cNvSpPr/>
          <p:nvPr/>
        </p:nvSpPr>
        <p:spPr>
          <a:xfrm>
            <a:off x="355600" y="7035800"/>
            <a:ext cx="82550" cy="8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  <a:prstDash val="solid"/>
          </a:ln>
        </p:spPr>
      </p:sp>
      <p:sp>
        <p:nvSpPr>
          <p:cNvPr id="183" name="Shape 163"/>
          <p:cNvSpPr/>
          <p:nvPr/>
        </p:nvSpPr>
        <p:spPr>
          <a:xfrm>
            <a:off x="457200" y="7035800"/>
            <a:ext cx="82550" cy="8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  <a:prstDash val="solid"/>
          </a:ln>
        </p:spPr>
      </p:sp>
      <p:sp>
        <p:nvSpPr>
          <p:cNvPr id="184" name="Text 164"/>
          <p:cNvSpPr txBox="1"/>
          <p:nvPr/>
        </p:nvSpPr>
        <p:spPr>
          <a:xfrm>
            <a:off x="609600" y="7016750"/>
            <a:ext cx="190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(SQS)</a:t>
            </a:r>
            <a:endParaRPr lang="en-US" sz="850" dirty="0"/>
          </a:p>
        </p:txBody>
      </p:sp>
      <p:sp>
        <p:nvSpPr>
          <p:cNvPr id="185" name="Shape 165"/>
          <p:cNvSpPr/>
          <p:nvPr/>
        </p:nvSpPr>
        <p:spPr>
          <a:xfrm>
            <a:off x="228600" y="7264400"/>
            <a:ext cx="304800" cy="0"/>
          </a:xfrm>
          <a:prstGeom prst="line">
            <a:avLst/>
          </a:prstGeom>
          <a:noFill/>
          <a:ln w="12700">
            <a:solidFill>
              <a:srgbClr val="9AA5B1"/>
            </a:solidFill>
            <a:prstDash val="dash"/>
          </a:ln>
        </p:spPr>
      </p:sp>
      <p:sp>
        <p:nvSpPr>
          <p:cNvPr id="186" name="Text 166"/>
          <p:cNvSpPr txBox="1"/>
          <p:nvPr/>
        </p:nvSpPr>
        <p:spPr>
          <a:xfrm>
            <a:off x="609600" y="7207250"/>
            <a:ext cx="190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owns this store</a:t>
            </a:r>
            <a:endParaRPr lang="en-US" sz="850" dirty="0"/>
          </a:p>
        </p:txBody>
      </p:sp>
      <p:sp>
        <p:nvSpPr>
          <p:cNvPr id="187" name="Text 167"/>
          <p:cNvSpPr/>
          <p:nvPr/>
        </p:nvSpPr>
        <p:spPr>
          <a:xfrm>
            <a:off x="2540000" y="6642100"/>
            <a:ext cx="1150938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 · v2 in hrb-api</a:t>
            </a:r>
            <a:endParaRPr lang="en-US" sz="650" dirty="0"/>
          </a:p>
        </p:txBody>
      </p:sp>
      <p:sp>
        <p:nvSpPr>
          <p:cNvPr id="188" name="Text 168"/>
          <p:cNvSpPr txBox="1"/>
          <p:nvPr/>
        </p:nvSpPr>
        <p:spPr>
          <a:xfrm>
            <a:off x="3835400" y="6635750"/>
            <a:ext cx="184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microservice; a module inside hrb-api in v2</a:t>
            </a:r>
            <a:endParaRPr lang="en-US" sz="850" dirty="0"/>
          </a:p>
        </p:txBody>
      </p:sp>
      <p:sp>
        <p:nvSpPr>
          <p:cNvPr id="189" name="Text 169"/>
          <p:cNvSpPr/>
          <p:nvPr/>
        </p:nvSpPr>
        <p:spPr>
          <a:xfrm>
            <a:off x="2540000" y="6832600"/>
            <a:ext cx="1150938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 · own container</a:t>
            </a:r>
            <a:endParaRPr lang="en-US" sz="650" dirty="0"/>
          </a:p>
        </p:txBody>
      </p:sp>
      <p:sp>
        <p:nvSpPr>
          <p:cNvPr id="190" name="Text 170"/>
          <p:cNvSpPr txBox="1"/>
          <p:nvPr/>
        </p:nvSpPr>
        <p:spPr>
          <a:xfrm>
            <a:off x="3835400" y="6826250"/>
            <a:ext cx="184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with its own container now</a:t>
            </a:r>
            <a:endParaRPr lang="en-US" sz="850" dirty="0"/>
          </a:p>
        </p:txBody>
      </p:sp>
      <p:sp>
        <p:nvSpPr>
          <p:cNvPr id="191" name="Text 171"/>
          <p:cNvSpPr/>
          <p:nvPr/>
        </p:nvSpPr>
        <p:spPr>
          <a:xfrm>
            <a:off x="2540000" y="7023100"/>
            <a:ext cx="463296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50" dirty="0"/>
          </a:p>
        </p:txBody>
      </p:sp>
      <p:sp>
        <p:nvSpPr>
          <p:cNvPr id="192" name="Text 172"/>
          <p:cNvSpPr txBox="1"/>
          <p:nvPr/>
        </p:nvSpPr>
        <p:spPr>
          <a:xfrm>
            <a:off x="3835400" y="7016750"/>
            <a:ext cx="184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queue-fed service (v2: one ingestion-worker)</a:t>
            </a:r>
            <a:endParaRPr lang="en-US" sz="850" dirty="0"/>
          </a:p>
        </p:txBody>
      </p:sp>
      <p:sp>
        <p:nvSpPr>
          <p:cNvPr id="193" name="Text 173"/>
          <p:cNvSpPr txBox="1"/>
          <p:nvPr/>
        </p:nvSpPr>
        <p:spPr>
          <a:xfrm>
            <a:off x="2540000" y="72009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 border = a microservice. Thin border = external, AWS-managed, or a data store. AWS icons mark AWS services.</a:t>
            </a:r>
            <a:endParaRPr lang="en-US" sz="850" dirty="0"/>
          </a:p>
        </p:txBody>
      </p:sp>
      <p:sp>
        <p:nvSpPr>
          <p:cNvPr id="194" name="Shape 174"/>
          <p:cNvSpPr/>
          <p:nvPr/>
        </p:nvSpPr>
        <p:spPr>
          <a:xfrm>
            <a:off x="5715000" y="6604000"/>
            <a:ext cx="3048000" cy="863600"/>
          </a:xfrm>
          <a:prstGeom prst="roundRect">
            <a:avLst>
              <a:gd name="adj" fmla="val 6353"/>
            </a:avLst>
          </a:prstGeom>
          <a:solidFill>
            <a:srgbClr val="F1EAFC"/>
          </a:solidFill>
          <a:ln w="6350">
            <a:solidFill>
              <a:srgbClr val="F1EAF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95" name="Text 175"/>
          <p:cNvSpPr txBox="1"/>
          <p:nvPr/>
        </p:nvSpPr>
        <p:spPr>
          <a:xfrm>
            <a:off x="5803900" y="6642100"/>
            <a:ext cx="2870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A2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stay together</a:t>
            </a:r>
            <a:endParaRPr lang="en-US" sz="8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are nodes inside the Agent Orchestrator: shared LangGraph state and one checkpoint. Split out: the tools they call and the heavy workers.</a:t>
            </a:r>
            <a:endParaRPr lang="en-US" sz="850" dirty="0"/>
          </a:p>
        </p:txBody>
      </p:sp>
      <p:sp>
        <p:nvSpPr>
          <p:cNvPr id="196" name="Shape 176"/>
          <p:cNvSpPr/>
          <p:nvPr/>
        </p:nvSpPr>
        <p:spPr>
          <a:xfrm>
            <a:off x="8864600" y="6604000"/>
            <a:ext cx="3098800" cy="863600"/>
          </a:xfrm>
          <a:prstGeom prst="roundRect">
            <a:avLst>
              <a:gd name="adj" fmla="val 6353"/>
            </a:avLst>
          </a:prstGeom>
          <a:solidFill>
            <a:srgbClr val="FFF1D8"/>
          </a:solidFill>
          <a:ln w="6350">
            <a:solidFill>
              <a:srgbClr val="FFF1D8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97" name="Text 177"/>
          <p:cNvSpPr txBox="1"/>
          <p:nvPr/>
        </p:nvSpPr>
        <p:spPr>
          <a:xfrm>
            <a:off x="8953500" y="6642100"/>
            <a:ext cx="292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split a service</a:t>
            </a:r>
            <a:endParaRPr lang="en-US" sz="8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scales differently  • heavy CPU work (OCR, rerank, embed)  • different data or permissions  • it must retry through a queue</a:t>
            </a:r>
            <a:endParaRPr lang="en-US" sz="850" dirty="0"/>
          </a:p>
        </p:txBody>
      </p:sp>
      <p:sp>
        <p:nvSpPr>
          <p:cNvPr id="199" name="Text 178"/>
          <p:cNvSpPr/>
          <p:nvPr/>
        </p:nvSpPr>
        <p:spPr>
          <a:xfrm>
            <a:off x="10519410" y="368300"/>
            <a:ext cx="1583690" cy="95250"/>
          </a:xfrm>
          <a:prstGeom prst="roundRect">
            <a:avLst>
              <a:gd name="adj" fmla="val 48000"/>
            </a:avLst>
          </a:prstGeom>
          <a:solidFill>
            <a:srgbClr val="F5BD5C"/>
          </a:solidFill>
          <a:ln w="6350">
            <a:solidFill>
              <a:srgbClr val="F5BD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microservices (main reference)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2600"/>
          </a:xfrm>
          <a:prstGeom prst="rect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77800" y="63500"/>
            <a:ext cx="793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Policy Question (cache miss)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128000" y="63500"/>
            <a:ext cx="388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PTO days do I get?" · label = mechanism: step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5250" y="609600"/>
            <a:ext cx="1460500" cy="368300"/>
          </a:xfrm>
          <a:prstGeom prst="roundRect">
            <a:avLst>
              <a:gd name="adj" fmla="val 14897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25500" y="977900"/>
            <a:ext cx="0" cy="6515100"/>
          </a:xfrm>
          <a:prstGeom prst="line">
            <a:avLst/>
          </a:prstGeom>
          <a:noFill/>
          <a:ln w="12700">
            <a:solidFill>
              <a:srgbClr val="A7B2B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203450" y="609600"/>
            <a:ext cx="1460500" cy="368300"/>
          </a:xfrm>
          <a:prstGeom prst="roundRect">
            <a:avLst>
              <a:gd name="adj" fmla="val 14897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Gateway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lib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03450" y="609600"/>
            <a:ext cx="1460500" cy="368300"/>
          </a:xfrm>
          <a:prstGeom prst="roundRect">
            <a:avLst>
              <a:gd name="adj" fmla="val 19862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54250" y="552450"/>
            <a:ext cx="503745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933700" y="977900"/>
            <a:ext cx="0" cy="6515100"/>
          </a:xfrm>
          <a:prstGeom prst="line">
            <a:avLst/>
          </a:prstGeom>
          <a:noFill/>
          <a:ln w="12700">
            <a:solidFill>
              <a:srgbClr val="A7B2BF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311650" y="609600"/>
            <a:ext cx="1460500" cy="368300"/>
          </a:xfrm>
          <a:prstGeom prst="roundRect">
            <a:avLst>
              <a:gd name="adj" fmla="val 14897"/>
            </a:avLst>
          </a:prstGeom>
          <a:solidFill>
            <a:srgbClr val="FFF1D6"/>
          </a:solidFill>
          <a:ln w="12700">
            <a:solidFill>
              <a:srgbClr val="E9B04E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 / LTM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11650" y="609600"/>
            <a:ext cx="1460500" cy="368300"/>
          </a:xfrm>
          <a:prstGeom prst="roundRect">
            <a:avLst>
              <a:gd name="adj" fmla="val 19862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2450" y="552450"/>
            <a:ext cx="503745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5041900" y="977900"/>
            <a:ext cx="0" cy="6515100"/>
          </a:xfrm>
          <a:prstGeom prst="line">
            <a:avLst/>
          </a:prstGeom>
          <a:noFill/>
          <a:ln w="12700">
            <a:solidFill>
              <a:srgbClr val="A7B2B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419850" y="609600"/>
            <a:ext cx="1460500" cy="368300"/>
          </a:xfrm>
          <a:prstGeom prst="roundRect">
            <a:avLst>
              <a:gd name="adj" fmla="val 14897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Retrieval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① + search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19850" y="609600"/>
            <a:ext cx="1460500" cy="368300"/>
          </a:xfrm>
          <a:prstGeom prst="roundRect">
            <a:avLst>
              <a:gd name="adj" fmla="val 19862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0650" y="552450"/>
            <a:ext cx="503745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7150100" y="977900"/>
            <a:ext cx="0" cy="6515100"/>
          </a:xfrm>
          <a:prstGeom prst="line">
            <a:avLst/>
          </a:prstGeom>
          <a:noFill/>
          <a:ln w="12700">
            <a:solidFill>
              <a:srgbClr val="A7B2BF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528050" y="609600"/>
            <a:ext cx="1460500" cy="368300"/>
          </a:xfrm>
          <a:prstGeom prst="roundRect">
            <a:avLst>
              <a:gd name="adj" fmla="val 14897"/>
            </a:avLst>
          </a:prstGeom>
          <a:solidFill>
            <a:srgbClr val="4A2B8F"/>
          </a:solidFill>
          <a:ln w="12700">
            <a:solidFill>
              <a:srgbClr val="3A2072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9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528050" y="609600"/>
            <a:ext cx="1460500" cy="368300"/>
          </a:xfrm>
          <a:prstGeom prst="roundRect">
            <a:avLst>
              <a:gd name="adj" fmla="val 19862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78850" y="552450"/>
            <a:ext cx="503745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9258300" y="977900"/>
            <a:ext cx="0" cy="6515100"/>
          </a:xfrm>
          <a:prstGeom prst="line">
            <a:avLst/>
          </a:prstGeom>
          <a:noFill/>
          <a:ln w="12700">
            <a:solidFill>
              <a:srgbClr val="A7B2BF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0636250" y="609600"/>
            <a:ext cx="1460500" cy="368300"/>
          </a:xfrm>
          <a:prstGeom prst="roundRect">
            <a:avLst>
              <a:gd name="adj" fmla="val 14897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/ large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687050" y="552450"/>
            <a:ext cx="463296" cy="101600"/>
          </a:xfrm>
          <a:prstGeom prst="roundRect">
            <a:avLst>
              <a:gd name="adj" fmla="val 45000"/>
            </a:avLst>
          </a:prstGeom>
          <a:solidFill>
            <a:srgbClr val="A7B2BF"/>
          </a:solidFill>
          <a:ln w="9525">
            <a:solidFill>
              <a:srgbClr val="A7B2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11366500" y="977900"/>
            <a:ext cx="0" cy="6515100"/>
          </a:xfrm>
          <a:prstGeom prst="line">
            <a:avLst/>
          </a:prstGeom>
          <a:noFill/>
          <a:ln w="12700">
            <a:solidFill>
              <a:srgbClr val="A7B2BF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779000" y="3771900"/>
            <a:ext cx="2286000" cy="508000"/>
          </a:xfrm>
          <a:prstGeom prst="roundRect">
            <a:avLst>
              <a:gd name="adj" fmla="val 9000"/>
            </a:avLst>
          </a:prstGeom>
          <a:solidFill>
            <a:srgbClr val="F6F1FE">
              <a:alpha val="90000"/>
            </a:srgbClr>
          </a:solidFill>
          <a:ln w="12700">
            <a:solidFill>
              <a:srgbClr val="9A74DC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∥ Eligibility and Calculator (REST to Rules &amp; Calc) run in parallel here when needed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0500" y="6794500"/>
            <a:ext cx="11811000" cy="444500"/>
          </a:xfrm>
          <a:prstGeom prst="roundRect">
            <a:avLst>
              <a:gd name="adj" fmla="val 10286"/>
            </a:avLst>
          </a:prstGeom>
          <a:solidFill>
            <a:srgbClr val="E5F5E3">
              <a:alpha val="90000"/>
            </a:srgbClr>
          </a:solidFill>
          <a:ln w="12700">
            <a:solidFill>
              <a:srgbClr val="2E9E48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path: steps 5–6 return the saved answer, and steps 7–12 are skipped (0 LLM calls)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25500" y="1231900"/>
            <a:ext cx="208915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876300" y="1104900"/>
            <a:ext cx="200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 asks a question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933700" y="1485900"/>
            <a:ext cx="2286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62300" y="1485900"/>
            <a:ext cx="0" cy="1270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2952750" y="1612900"/>
            <a:ext cx="20955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3213100" y="1460500"/>
            <a:ext cx="2095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input guardrails (mini LLM)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933700" y="1930400"/>
            <a:ext cx="208915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2984500" y="1803400"/>
            <a:ext cx="200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REST: load STM / LTM, rewrite follow-up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 flipH="1">
            <a:off x="2952750" y="2184400"/>
            <a:ext cx="2089150" cy="0"/>
          </a:xfrm>
          <a:prstGeom prst="line">
            <a:avLst/>
          </a:prstGeom>
          <a:noFill/>
          <a:ln w="17780">
            <a:solidFill>
              <a:srgbClr val="2E9E48"/>
            </a:solidFill>
            <a:prstDash val="dash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2984500" y="2057400"/>
            <a:ext cx="200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E9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standalone question + context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933700" y="2565400"/>
            <a:ext cx="419735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2984500" y="2438400"/>
            <a:ext cx="4114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REST: cache lookup (intent: policy)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 flipH="1">
            <a:off x="2952750" y="2819400"/>
            <a:ext cx="4197350" cy="0"/>
          </a:xfrm>
          <a:prstGeom prst="line">
            <a:avLst/>
          </a:prstGeom>
          <a:noFill/>
          <a:ln w="17780">
            <a:solidFill>
              <a:srgbClr val="2E9E48"/>
            </a:solidFill>
            <a:prstDash val="dash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2984500" y="2692400"/>
            <a:ext cx="4114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E9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miss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933700" y="3200400"/>
            <a:ext cx="630555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2984500" y="3073400"/>
            <a:ext cx="6223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REST: run(question, context), streamed back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258300" y="3517900"/>
            <a:ext cx="2089150" cy="0"/>
          </a:xfrm>
          <a:prstGeom prst="line">
            <a:avLst/>
          </a:prstGeom>
          <a:noFill/>
          <a:ln w="17780">
            <a:solidFill>
              <a:srgbClr val="8E63D6"/>
            </a:solidFill>
            <a:prstDash val="dash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9309100" y="3390900"/>
            <a:ext cx="200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HTTPS: plan (mini LLM)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 flipH="1">
            <a:off x="7169150" y="3835400"/>
            <a:ext cx="208915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7200900" y="3708400"/>
            <a:ext cx="200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REST: search (vector + rerank)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150100" y="4089400"/>
            <a:ext cx="2089150" cy="0"/>
          </a:xfrm>
          <a:prstGeom prst="line">
            <a:avLst/>
          </a:prstGeom>
          <a:noFill/>
          <a:ln w="17780">
            <a:solidFill>
              <a:srgbClr val="2E9E48"/>
            </a:solidFill>
            <a:prstDash val="dash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7200900" y="3962400"/>
            <a:ext cx="200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E9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chunks + citations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258300" y="4406900"/>
            <a:ext cx="2089150" cy="0"/>
          </a:xfrm>
          <a:prstGeom prst="line">
            <a:avLst/>
          </a:prstGeom>
          <a:noFill/>
          <a:ln w="17780">
            <a:solidFill>
              <a:srgbClr val="8E63D6"/>
            </a:solidFill>
            <a:prstDash val="dash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9309100" y="4279900"/>
            <a:ext cx="200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HTTPS: draft answer (large LLM), streamed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9258300" y="4724400"/>
            <a:ext cx="2089150" cy="0"/>
          </a:xfrm>
          <a:prstGeom prst="line">
            <a:avLst/>
          </a:prstGeom>
          <a:noFill/>
          <a:ln w="17780">
            <a:solidFill>
              <a:srgbClr val="8E63D6"/>
            </a:solidFill>
            <a:prstDash val="dash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9309100" y="4597400"/>
            <a:ext cx="200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E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HTTPS: review (mini) · Judge if risky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 flipH="1">
            <a:off x="2952750" y="5105400"/>
            <a:ext cx="6305550" cy="0"/>
          </a:xfrm>
          <a:prstGeom prst="line">
            <a:avLst/>
          </a:prstGeom>
          <a:noFill/>
          <a:ln w="17780">
            <a:solidFill>
              <a:srgbClr val="2E9E48"/>
            </a:solidFill>
            <a:prstDash val="dash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2984500" y="4978400"/>
            <a:ext cx="6223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E9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answer + citations (stream)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933700" y="5359400"/>
            <a:ext cx="2286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162300" y="5359400"/>
            <a:ext cx="0" cy="1270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>
            <a:off x="2952750" y="5486400"/>
            <a:ext cx="20955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3213100" y="5334000"/>
            <a:ext cx="2095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output guardrails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 flipH="1">
            <a:off x="844550" y="5803900"/>
            <a:ext cx="2089150" cy="0"/>
          </a:xfrm>
          <a:prstGeom prst="line">
            <a:avLst/>
          </a:prstGeom>
          <a:noFill/>
          <a:ln w="17780">
            <a:solidFill>
              <a:srgbClr val="2E9E48"/>
            </a:solidFill>
            <a:prstDash val="dash"/>
            <a:tailEnd type="triangle"/>
          </a:ln>
        </p:spPr>
      </p:sp>
      <p:sp>
        <p:nvSpPr>
          <p:cNvPr id="61" name="Text 59"/>
          <p:cNvSpPr txBox="1"/>
          <p:nvPr/>
        </p:nvSpPr>
        <p:spPr>
          <a:xfrm>
            <a:off x="876300" y="5676900"/>
            <a:ext cx="200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E9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SSE: answer streams to the screen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933700" y="6121400"/>
            <a:ext cx="4197350" cy="0"/>
          </a:xfrm>
          <a:prstGeom prst="line">
            <a:avLst/>
          </a:prstGeom>
          <a:noFill/>
          <a:ln w="17780">
            <a:solidFill>
              <a:srgbClr val="6A3FC8"/>
            </a:solidFill>
            <a:prstDash val="dash"/>
            <a:tailEnd type="triangle"/>
          </a:ln>
        </p:spPr>
      </p:sp>
      <p:sp>
        <p:nvSpPr>
          <p:cNvPr id="63" name="Text 61"/>
          <p:cNvSpPr txBox="1"/>
          <p:nvPr/>
        </p:nvSpPr>
        <p:spPr>
          <a:xfrm>
            <a:off x="2984500" y="5994400"/>
            <a:ext cx="4114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SQS: store ① (policy, high confidence)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933700" y="6438900"/>
            <a:ext cx="2089150" cy="0"/>
          </a:xfrm>
          <a:prstGeom prst="line">
            <a:avLst/>
          </a:prstGeom>
          <a:noFill/>
          <a:ln w="17780">
            <a:solidFill>
              <a:srgbClr val="6A3FC8"/>
            </a:solidFill>
            <a:prstDash val="dash"/>
            <a:tailEnd type="triangle"/>
          </a:ln>
        </p:spPr>
      </p:sp>
      <p:sp>
        <p:nvSpPr>
          <p:cNvPr id="65" name="Text 63"/>
          <p:cNvSpPr txBox="1"/>
          <p:nvPr/>
        </p:nvSpPr>
        <p:spPr>
          <a:xfrm>
            <a:off x="2984500" y="6311900"/>
            <a:ext cx="200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SQS: save the turn (after the reply)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1385550" y="368300"/>
            <a:ext cx="717550" cy="95250"/>
          </a:xfrm>
          <a:prstGeom prst="roundRect">
            <a:avLst>
              <a:gd name="adj" fmla="val 48000"/>
            </a:avLst>
          </a:prstGeom>
          <a:solidFill>
            <a:srgbClr val="F5BD5C"/>
          </a:solidFill>
          <a:ln w="6350">
            <a:solidFill>
              <a:srgbClr val="F5BD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sequence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2600"/>
          </a:xfrm>
          <a:prstGeom prst="rect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77800" y="63500"/>
            <a:ext cx="793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Caregiver Leave with HR Approval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128000" y="63500"/>
            <a:ext cx="388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HITL: pause at step 8, resume at step 13 · label = mechanism: step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5250" y="609600"/>
            <a:ext cx="1460500" cy="368300"/>
          </a:xfrm>
          <a:prstGeom prst="roundRect">
            <a:avLst>
              <a:gd name="adj" fmla="val 14897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25500" y="977900"/>
            <a:ext cx="0" cy="6515100"/>
          </a:xfrm>
          <a:prstGeom prst="line">
            <a:avLst/>
          </a:prstGeom>
          <a:noFill/>
          <a:ln w="12700">
            <a:solidFill>
              <a:srgbClr val="A7B2B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203450" y="609600"/>
            <a:ext cx="1460500" cy="368300"/>
          </a:xfrm>
          <a:prstGeom prst="roundRect">
            <a:avLst>
              <a:gd name="adj" fmla="val 14897"/>
            </a:avLst>
          </a:prstGeom>
          <a:solidFill>
            <a:srgbClr val="4A2B8F"/>
          </a:solidFill>
          <a:ln w="12700">
            <a:solidFill>
              <a:srgbClr val="3A2072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9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Chat Gateway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03450" y="609600"/>
            <a:ext cx="1460500" cy="368300"/>
          </a:xfrm>
          <a:prstGeom prst="roundRect">
            <a:avLst>
              <a:gd name="adj" fmla="val 19862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54250" y="552450"/>
            <a:ext cx="503745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933700" y="977900"/>
            <a:ext cx="0" cy="6515100"/>
          </a:xfrm>
          <a:prstGeom prst="line">
            <a:avLst/>
          </a:prstGeom>
          <a:noFill/>
          <a:ln w="12700">
            <a:solidFill>
              <a:srgbClr val="A7B2BF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311650" y="609600"/>
            <a:ext cx="1460500" cy="368300"/>
          </a:xfrm>
          <a:prstGeom prst="roundRect">
            <a:avLst>
              <a:gd name="adj" fmla="val 14897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HRB_LMS_ANALYTICS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read-only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11650" y="609600"/>
            <a:ext cx="1460500" cy="368300"/>
          </a:xfrm>
          <a:prstGeom prst="roundRect">
            <a:avLst>
              <a:gd name="adj" fmla="val 19862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2450" y="552450"/>
            <a:ext cx="1150938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 · own container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5041900" y="977900"/>
            <a:ext cx="0" cy="6515100"/>
          </a:xfrm>
          <a:prstGeom prst="line">
            <a:avLst/>
          </a:prstGeom>
          <a:noFill/>
          <a:ln w="12700">
            <a:solidFill>
              <a:srgbClr val="A7B2B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419850" y="609600"/>
            <a:ext cx="1460500" cy="368300"/>
          </a:xfrm>
          <a:prstGeom prst="roundRect">
            <a:avLst>
              <a:gd name="adj" fmla="val 14897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HRB_LMS_OPS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leave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19850" y="609600"/>
            <a:ext cx="1460500" cy="368300"/>
          </a:xfrm>
          <a:prstGeom prst="roundRect">
            <a:avLst>
              <a:gd name="adj" fmla="val 19862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0650" y="552450"/>
            <a:ext cx="1150938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 · own container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7150100" y="977900"/>
            <a:ext cx="0" cy="6515100"/>
          </a:xfrm>
          <a:prstGeom prst="line">
            <a:avLst/>
          </a:prstGeom>
          <a:noFill/>
          <a:ln w="12700">
            <a:solidFill>
              <a:srgbClr val="A7B2BF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528050" y="609600"/>
            <a:ext cx="1460500" cy="368300"/>
          </a:xfrm>
          <a:prstGeom prst="roundRect">
            <a:avLst>
              <a:gd name="adj" fmla="val 14897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→ SQS → SES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528050" y="609600"/>
            <a:ext cx="1460500" cy="368300"/>
          </a:xfrm>
          <a:prstGeom prst="roundRect">
            <a:avLst>
              <a:gd name="adj" fmla="val 19862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78850" y="552450"/>
            <a:ext cx="503745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9258300" y="977900"/>
            <a:ext cx="0" cy="6515100"/>
          </a:xfrm>
          <a:prstGeom prst="line">
            <a:avLst/>
          </a:prstGeom>
          <a:noFill/>
          <a:ln w="12700">
            <a:solidFill>
              <a:srgbClr val="A7B2BF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0636250" y="609600"/>
            <a:ext cx="1460500" cy="368300"/>
          </a:xfrm>
          <a:prstGeom prst="roundRect">
            <a:avLst>
              <a:gd name="adj" fmla="val 14897"/>
            </a:avLst>
          </a:prstGeom>
          <a:solidFill>
            <a:srgbClr val="FCE7F3"/>
          </a:solidFill>
          <a:ln w="12700">
            <a:solidFill>
              <a:srgbClr val="DB7AA5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Specialist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HR Console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366500" y="977900"/>
            <a:ext cx="0" cy="6515100"/>
          </a:xfrm>
          <a:prstGeom prst="line">
            <a:avLst/>
          </a:prstGeom>
          <a:noFill/>
          <a:ln w="12700">
            <a:solidFill>
              <a:srgbClr val="A7B2BF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2413000" y="4356100"/>
            <a:ext cx="9588500" cy="330200"/>
          </a:xfrm>
          <a:prstGeom prst="roundRect">
            <a:avLst>
              <a:gd name="adj" fmla="val 13846"/>
            </a:avLst>
          </a:prstGeom>
          <a:solidFill>
            <a:srgbClr val="FCE7F3">
              <a:alpha val="90000"/>
            </a:srgbClr>
          </a:solidFill>
          <a:ln w="12700">
            <a:solidFill>
              <a:srgbClr val="DB7AA5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paused · EventBridge Scheduler: reminder on day 3, escalate on day 5 [INSERT]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90500" y="6794500"/>
            <a:ext cx="11811000" cy="444500"/>
          </a:xfrm>
          <a:prstGeom prst="roundRect">
            <a:avLst>
              <a:gd name="adj" fmla="val 10286"/>
            </a:avLst>
          </a:prstGeom>
          <a:solidFill>
            <a:srgbClr val="F6F8FA">
              <a:alpha val="90000"/>
            </a:srgbClr>
          </a:solidFill>
          <a:ln w="12700">
            <a:solidFill>
              <a:srgbClr val="A7B2BF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eligible at step 3 → explain which rule failed and offer HR contact · Reject at step 12 → employee told why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25500" y="1231900"/>
            <a:ext cx="208915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876300" y="1104900"/>
            <a:ext cx="200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 "Caregiver leave, 3 weeks from Nov 3"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933700" y="1549400"/>
            <a:ext cx="208915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2984500" y="1422400"/>
            <a:ext cx="200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MCP: service ≥ 1 yr? leave in last 12 mo?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 flipH="1">
            <a:off x="2952750" y="1803400"/>
            <a:ext cx="2089150" cy="0"/>
          </a:xfrm>
          <a:prstGeom prst="line">
            <a:avLst/>
          </a:prstGeom>
          <a:noFill/>
          <a:ln w="17780">
            <a:solidFill>
              <a:srgbClr val="2E9E48"/>
            </a:solidFill>
            <a:prstDash val="dash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2984500" y="1676400"/>
            <a:ext cx="200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E9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eligible + history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933700" y="2120900"/>
            <a:ext cx="419735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2984500" y="1993900"/>
            <a:ext cx="4114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MCP: balance + draft request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 flipH="1">
            <a:off x="2952750" y="2374900"/>
            <a:ext cx="4197350" cy="0"/>
          </a:xfrm>
          <a:prstGeom prst="line">
            <a:avLst/>
          </a:prstGeom>
          <a:noFill/>
          <a:ln w="17780">
            <a:solidFill>
              <a:srgbClr val="2E9E48"/>
            </a:solidFill>
            <a:prstDash val="dash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2984500" y="2247900"/>
            <a:ext cx="4114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E9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draft id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 flipH="1">
            <a:off x="844550" y="2692400"/>
            <a:ext cx="2089150" cy="0"/>
          </a:xfrm>
          <a:prstGeom prst="line">
            <a:avLst/>
          </a:prstGeom>
          <a:noFill/>
          <a:ln w="17780">
            <a:solidFill>
              <a:srgbClr val="2E9E48"/>
            </a:solidFill>
            <a:prstDash val="dash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876300" y="2565400"/>
            <a:ext cx="200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E9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confirm dates, upload docs (presigned S3)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25500" y="3009900"/>
            <a:ext cx="208915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876300" y="2882900"/>
            <a:ext cx="200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submit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933700" y="3263900"/>
            <a:ext cx="228600" cy="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62300" y="3263900"/>
            <a:ext cx="0" cy="12700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2952750" y="3390900"/>
            <a:ext cx="209550" cy="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3213100" y="3238500"/>
            <a:ext cx="2095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interrupt: checkpoint saved (Postgres)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933700" y="3581400"/>
            <a:ext cx="8413750" cy="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2984500" y="3454400"/>
            <a:ext cx="8331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REST: create HR task (reason, documents, history)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933700" y="3835400"/>
            <a:ext cx="6305550" cy="0"/>
          </a:xfrm>
          <a:prstGeom prst="line">
            <a:avLst/>
          </a:prstGeom>
          <a:noFill/>
          <a:ln w="17780">
            <a:solidFill>
              <a:srgbClr val="6A3FC8"/>
            </a:solidFill>
            <a:prstDash val="dash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2984500" y="3708400"/>
            <a:ext cx="6223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SNS → SQS: HR task event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258300" y="4089400"/>
            <a:ext cx="2089150" cy="0"/>
          </a:xfrm>
          <a:prstGeom prst="line">
            <a:avLst/>
          </a:prstGeom>
          <a:noFill/>
          <a:ln w="17780">
            <a:solidFill>
              <a:srgbClr val="6A3FC8"/>
            </a:solidFill>
            <a:prstDash val="dash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9309100" y="3962400"/>
            <a:ext cx="200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SES: email to HR specialist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 flipH="1">
            <a:off x="11137900" y="4851400"/>
            <a:ext cx="228600" cy="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137900" y="4851400"/>
            <a:ext cx="0" cy="12700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137900" y="4978400"/>
            <a:ext cx="209550" cy="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8991600" y="4826000"/>
            <a:ext cx="2095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reviews and approves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 flipH="1">
            <a:off x="2952750" y="5168900"/>
            <a:ext cx="8413750" cy="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2984500" y="5041900"/>
            <a:ext cx="8331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REST: decision → resume(thread_id)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933700" y="5486400"/>
            <a:ext cx="419735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2984500" y="5359400"/>
            <a:ext cx="4114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MCP: submit leave (idempotency key)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 flipH="1">
            <a:off x="2952750" y="5740400"/>
            <a:ext cx="4197350" cy="0"/>
          </a:xfrm>
          <a:prstGeom prst="line">
            <a:avLst/>
          </a:prstGeom>
          <a:noFill/>
          <a:ln w="17780">
            <a:solidFill>
              <a:srgbClr val="2E9E48"/>
            </a:solidFill>
            <a:prstDash val="dash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2984500" y="5613400"/>
            <a:ext cx="4114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E9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confirmed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933700" y="6057900"/>
            <a:ext cx="6305550" cy="0"/>
          </a:xfrm>
          <a:prstGeom prst="line">
            <a:avLst/>
          </a:prstGeom>
          <a:noFill/>
          <a:ln w="17780">
            <a:solidFill>
              <a:srgbClr val="6A3FC8"/>
            </a:solidFill>
            <a:prstDash val="dash"/>
            <a:tailEnd type="triangle"/>
          </a:ln>
        </p:spPr>
      </p:sp>
      <p:sp>
        <p:nvSpPr>
          <p:cNvPr id="62" name="Text 60"/>
          <p:cNvSpPr txBox="1"/>
          <p:nvPr/>
        </p:nvSpPr>
        <p:spPr>
          <a:xfrm>
            <a:off x="2984500" y="5930900"/>
            <a:ext cx="6223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SNS → SQS: decision event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 flipH="1">
            <a:off x="844550" y="6375400"/>
            <a:ext cx="8413750" cy="0"/>
          </a:xfrm>
          <a:prstGeom prst="line">
            <a:avLst/>
          </a:prstGeom>
          <a:noFill/>
          <a:ln w="17780">
            <a:solidFill>
              <a:srgbClr val="6A3FC8"/>
            </a:solidFill>
            <a:prstDash val="dash"/>
            <a:tailEnd type="triangle"/>
          </a:ln>
        </p:spPr>
      </p:sp>
      <p:sp>
        <p:nvSpPr>
          <p:cNvPr id="64" name="Text 62"/>
          <p:cNvSpPr txBox="1"/>
          <p:nvPr/>
        </p:nvSpPr>
        <p:spPr>
          <a:xfrm>
            <a:off x="876300" y="6248400"/>
            <a:ext cx="8331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SES + chat: message to the employee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1385550" y="368300"/>
            <a:ext cx="717550" cy="95250"/>
          </a:xfrm>
          <a:prstGeom prst="roundRect">
            <a:avLst>
              <a:gd name="adj" fmla="val 48000"/>
            </a:avLst>
          </a:prstGeom>
          <a:solidFill>
            <a:srgbClr val="F5BD5C"/>
          </a:solidFill>
          <a:ln w="6350">
            <a:solidFill>
              <a:srgbClr val="F5BD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sequence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2600"/>
          </a:xfrm>
          <a:prstGeom prst="rect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77800" y="63500"/>
            <a:ext cx="793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Map: How the Services Talk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128000" y="63500"/>
            <a:ext cx="388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link: mechanism · sync or async · how it stays reliable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" y="584200"/>
          <a:ext cx="8255000" cy="914400"/>
        </p:xfrm>
        <a:graphic>
          <a:graphicData uri="http://schemas.openxmlformats.org/drawingml/2006/table">
            <a:tbl>
              <a:tblPr/>
              <a:tblGrid>
                <a:gridCol w="395449"/>
                <a:gridCol w="2471557"/>
                <a:gridCol w="2768144"/>
                <a:gridCol w="543743"/>
                <a:gridCol w="2076108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→ 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8575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Retrieval (online)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→ Chat Gateway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REST + SSE stream (CloudFront → ALB)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F5F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Cognito JWT, rate limit, cancel on disconnect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Gateway → Conversation, Knowledge Retrieval (cache ①, embed ②)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via ECS Service Connect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F5F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timeout; cache error = treat as a miss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Gateway → Agent Orchestrator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REST, response streamed (v2: in-process call)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F5F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timeout per run, stop when the user leaves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→ Knowledge Retrieval, Rules &amp; Calc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REST, parallel fan-out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F5F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once, deterministic calc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→ HRB_LMS_OPS / ANALYTICS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(Streamable HTTP) + OAuth 2.0 on behalf of the employee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F5F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idempotency key on writes, "own data only"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→ LLM provider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streaming (Bedrock VPC endpoint or OpenAI via NAT)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F5F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+ backoff, fallback model, circuit breaker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↔ HR Console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REST: create task · resume(thread_id)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F5F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outbox for the task, idempotent resume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→ Notification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SNS (hr-task, decision) → SQS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outbox, DLQ, retry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Gateway → Feedback, Conversation (save turn), Retrieval (store ①)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DLQ; nobody waits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Console (HR Admin) → Knowledge Retrieval admin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REST: clear ① / ②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F5F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Admin role only, audit log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Ingestion (offline)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UI → Upload API → S3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REST, then presigned PUT straight to S3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F5F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type and size limits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→ doc_load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Event Notification (ObjectCreated:*) → SQS, or EventBridge rule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at-least-once: skip if key + eTag already done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doc_load → extract_chunk → embed → index writer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SQS queue per stage + DLQ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idempotent, visibility timeout &gt; job 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stage → ingestion_state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write (state machine)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F5F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transaction per state change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writer → Cache invalidation handler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SNS doc_version_changed → SQS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idempotent delete of ① entries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ObjectRemoved:* → index writer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SQS (delete path)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vectors and ① entries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OPS_DB → ANALYTICS_DB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 batch or CDC (AWS DMS) [INSERT]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 leave read from OPS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EventBridge Scheduler → HR Console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→ SQS: reminder day 3, escalate day 5, draft expiry 24 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idempotent timer handler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EventBridge Scheduler → Feedback &amp; Evaluation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nightly: judge runs, golden set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to S3, alarms on score drop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83600" y="584200"/>
            <a:ext cx="3581400" cy="3048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5875">
            <a:solidFill>
              <a:srgbClr val="B6C2D4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585200" y="635000"/>
            <a:ext cx="336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Mechanisms used</a:t>
            </a:r>
            <a:endParaRPr lang="en-US" sz="850" dirty="0"/>
          </a:p>
        </p:txBody>
      </p:sp>
      <p:pic>
        <p:nvPicPr>
          <p:cNvPr id="8" name="Image 0" descr="/tmp/claude-0/-home-claude/464e32f6-6cab-5bf8-83b9-d9d9487214ed/scratchpad/icons/png/clou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0600" y="863600"/>
            <a:ext cx="215900" cy="215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890000" y="8636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via Service Connect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service-to-service, caller waits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8610600" y="1206500"/>
            <a:ext cx="215900" cy="215900"/>
          </a:xfrm>
          <a:prstGeom prst="roundRect">
            <a:avLst>
              <a:gd name="adj" fmla="val 25412"/>
            </a:avLst>
          </a:prstGeom>
          <a:solidFill>
            <a:srgbClr val="1F2A4A"/>
          </a:solidFill>
          <a:ln w="6350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750" dirty="0"/>
          </a:p>
        </p:txBody>
      </p:sp>
      <p:sp>
        <p:nvSpPr>
          <p:cNvPr id="11" name="Text 7"/>
          <p:cNvSpPr txBox="1"/>
          <p:nvPr/>
        </p:nvSpPr>
        <p:spPr>
          <a:xfrm>
            <a:off x="8890000" y="12065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words pushed to the browser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8610600" y="1549400"/>
            <a:ext cx="215900" cy="215900"/>
          </a:xfrm>
          <a:prstGeom prst="roundRect">
            <a:avLst>
              <a:gd name="adj" fmla="val 25412"/>
            </a:avLst>
          </a:prstGeom>
          <a:solidFill>
            <a:srgbClr val="1F2A4A"/>
          </a:solidFill>
          <a:ln w="6350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750" dirty="0"/>
          </a:p>
        </p:txBody>
      </p:sp>
      <p:sp>
        <p:nvSpPr>
          <p:cNvPr id="13" name="Text 9"/>
          <p:cNvSpPr txBox="1"/>
          <p:nvPr/>
        </p:nvSpPr>
        <p:spPr>
          <a:xfrm>
            <a:off x="8890000" y="15494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OAuth 2.0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tools on the LMS servers</a:t>
            </a:r>
            <a:endParaRPr lang="en-US" sz="850" dirty="0"/>
          </a:p>
        </p:txBody>
      </p:sp>
      <p:pic>
        <p:nvPicPr>
          <p:cNvPr id="14" name="Image 1" descr="/tmp/claude-0/-home-claude/464e32f6-6cab-5bf8-83b9-d9d9487214ed/scratchpad/icons/png/sq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1892300"/>
            <a:ext cx="215900" cy="2159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890000" y="18923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queue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that can wait; retries + DLQ</a:t>
            </a:r>
            <a:endParaRPr lang="en-US" sz="850" dirty="0"/>
          </a:p>
        </p:txBody>
      </p:sp>
      <p:pic>
        <p:nvPicPr>
          <p:cNvPr id="16" name="Image 2" descr="/tmp/claude-0/-home-claude/464e32f6-6cab-5bf8-83b9-d9d9487214ed/scratchpad/icons/png/s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2235200"/>
            <a:ext cx="215900" cy="215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890000" y="22352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→ SQS fan-out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event, many consumers</a:t>
            </a:r>
            <a:endParaRPr lang="en-US" sz="850" dirty="0"/>
          </a:p>
        </p:txBody>
      </p:sp>
      <p:pic>
        <p:nvPicPr>
          <p:cNvPr id="18" name="Image 3" descr="/tmp/claude-0/-home-claude/464e32f6-6cab-5bf8-83b9-d9d9487214ed/scratchpad/icons/png/s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2578100"/>
            <a:ext cx="215900" cy="2159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890000" y="25781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Event Notification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or deleted file starts work</a:t>
            </a:r>
            <a:endParaRPr lang="en-US" sz="850" dirty="0"/>
          </a:p>
        </p:txBody>
      </p:sp>
      <p:pic>
        <p:nvPicPr>
          <p:cNvPr id="20" name="Image 4" descr="/tmp/claude-0/-home-claude/464e32f6-6cab-5bf8-83b9-d9d9487214ed/scratchpad/icons/png/schedul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2921000"/>
            <a:ext cx="215900" cy="2159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890000" y="29210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Scheduler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 and nightly jobs</a:t>
            </a:r>
            <a:endParaRPr lang="en-US" sz="850" dirty="0"/>
          </a:p>
        </p:txBody>
      </p:sp>
      <p:pic>
        <p:nvPicPr>
          <p:cNvPr id="22" name="Image 5" descr="/tmp/claude-0/-home-claude/464e32f6-6cab-5bf8-83b9-d9d9487214ed/scratchpad/icons/png/dm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0600" y="3263900"/>
            <a:ext cx="215900" cy="2159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8890000" y="32639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/ batch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OPS data to ANALYTICS</a:t>
            </a:r>
            <a:endParaRPr lang="en-US" sz="850" dirty="0"/>
          </a:p>
        </p:txBody>
      </p:sp>
      <p:sp>
        <p:nvSpPr>
          <p:cNvPr id="24" name="Shape 15"/>
          <p:cNvSpPr/>
          <p:nvPr/>
        </p:nvSpPr>
        <p:spPr>
          <a:xfrm>
            <a:off x="8483600" y="3733800"/>
            <a:ext cx="3581400" cy="3810000"/>
          </a:xfrm>
          <a:prstGeom prst="roundRect">
            <a:avLst>
              <a:gd name="adj" fmla="val 1532"/>
            </a:avLst>
          </a:prstGeom>
          <a:solidFill>
            <a:srgbClr val="F6F8FA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25" name="Text 16"/>
          <p:cNvSpPr txBox="1"/>
          <p:nvPr/>
        </p:nvSpPr>
        <p:spPr>
          <a:xfrm>
            <a:off x="8585200" y="3784600"/>
            <a:ext cx="336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every integration</a:t>
            </a:r>
            <a:endParaRPr lang="en-US" sz="850" dirty="0"/>
          </a:p>
        </p:txBody>
      </p:sp>
      <p:sp>
        <p:nvSpPr>
          <p:cNvPr id="26" name="Text 17"/>
          <p:cNvSpPr txBox="1"/>
          <p:nvPr/>
        </p:nvSpPr>
        <p:spPr>
          <a:xfrm>
            <a:off x="8585200" y="3987800"/>
            <a:ext cx="3378200" cy="350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ID: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traceparent in HTTP headers and SQS message attributes, so one request is traceable across queues.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id or key + eTag; a repeated message does the work once.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event in the same DB transaction as the data, then publish; no lost events after a crash.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DLQ + redrive: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queue has a dead-letter queue, an alarm, and a redrive runbook.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contracts: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JSON schemas, e.g. doc_version_changed.v1, kept in specs [INSERT].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Cognito JWT at the edge · services: IAM task roles + Service Connect TLS · MCP: OAuth token on behalf of the employee.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sync call has one; the caller decides the fallback.</a:t>
            </a:r>
            <a:endParaRPr lang="en-US" sz="850" dirty="0"/>
          </a:p>
        </p:txBody>
      </p:sp>
      <p:sp>
        <p:nvSpPr>
          <p:cNvPr id="28" name="Text 18"/>
          <p:cNvSpPr/>
          <p:nvPr/>
        </p:nvSpPr>
        <p:spPr>
          <a:xfrm>
            <a:off x="11228070" y="368300"/>
            <a:ext cx="875030" cy="95250"/>
          </a:xfrm>
          <a:prstGeom prst="roundRect">
            <a:avLst>
              <a:gd name="adj" fmla="val 48000"/>
            </a:avLst>
          </a:prstGeom>
          <a:solidFill>
            <a:srgbClr val="F5BD5C"/>
          </a:solidFill>
          <a:ln w="6350">
            <a:solidFill>
              <a:srgbClr val="F5BD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integrations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2600"/>
          </a:xfrm>
          <a:prstGeom prst="rect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77800" y="63500"/>
            <a:ext cx="793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Spots Found in the Final Review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128000" y="63500"/>
            <a:ext cx="388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missing · the risk · the fix · where it is now drawn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" y="584200"/>
          <a:ext cx="11938000" cy="914400"/>
        </p:xfrm>
        <a:graphic>
          <a:graphicData uri="http://schemas.openxmlformats.org/drawingml/2006/table">
            <a:tbl>
              <a:tblPr/>
              <a:tblGrid>
                <a:gridCol w="358140"/>
                <a:gridCol w="3820160"/>
                <a:gridCol w="2506980"/>
                <a:gridCol w="3939540"/>
                <a:gridCol w="1313180"/>
              </a:tblGrid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 spot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shown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HITL timers had no trigger (day 3 reminder, day 5 escalation, 24 h draft expiry)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tasks wait forever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EventBridge Scheduler → SQS → HR Console timer handler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7, 10, 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 supporting documents had no store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in chat logs or lost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leave-docs bucket owned by HR Console, presigned upload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7, 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Retired documents stayed searchable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policy answers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ObjectRemoved → delete vectors + clear 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7, 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ANALYTICS_DB freshness not defined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12-month check misses recent leave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 sync or CDC [INSERT]; read recent leave from OPS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7, 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identity lost at the MCP tools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tool could read another employee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 token on behalf of the employee; tools enforce "own data only"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7, 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lost if a service crashes after its DB write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never notified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transactional outbox, then publish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events (S3, SQS deliver at least once)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submit, double index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idempotency keys: request id, key + eTag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trace across queues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or failed runs hard to debug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W3C traceparent in headers and SQS attributes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services call the LLM (Orchestrator, CRAG grader, captions, Judge)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and quota out of control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LLM gateway library + Redis quota, one cost log (adr-005)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10 notes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admin endpoints had no owner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 could clear caches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Retrieval admin API, called only from HR Console by HR Admin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7, 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across a service hop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latency, relay code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in-process; target: HTTP streaming Gateway ↔ Orchestrator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8, 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schemas not written down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consumers break on change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versioned event contracts in specs [INSERT]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27000" y="6413500"/>
            <a:ext cx="11938000" cy="1117600"/>
          </a:xfrm>
          <a:prstGeom prst="roundRect">
            <a:avLst>
              <a:gd name="adj" fmla="val 4909"/>
            </a:avLst>
          </a:prstGeom>
          <a:solidFill>
            <a:srgbClr val="FFF7ED"/>
          </a:solidFill>
          <a:ln w="12700">
            <a:solidFill>
              <a:srgbClr val="F5BD5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228600" y="646430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 (decisions for you)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228600" y="6667500"/>
            <a:ext cx="11734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Choices: </a:t>
            </a:r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(ChromaDB, Pinecone, OpenSearch) · models (OpenAI vs Bedrock, ADR) · ECS Fargate confirmed · analytics DB load (nightly or CDC).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</a:t>
            </a:r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vs output guardrails (buffer, or check sentence by sentence) · merge Planner and Orchestration agents? · last two guard names [INSERT 2].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Numbers: </a:t>
            </a:r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targets, RTO / RPO, min / max tasks and scaling thresholds, all after a load test.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64290" y="368300"/>
            <a:ext cx="638810" cy="95250"/>
          </a:xfrm>
          <a:prstGeom prst="roundRect">
            <a:avLst>
              <a:gd name="adj" fmla="val 48000"/>
            </a:avLst>
          </a:prstGeom>
          <a:solidFill>
            <a:srgbClr val="F5BD5C"/>
          </a:solidFill>
          <a:ln w="6350">
            <a:solidFill>
              <a:srgbClr val="F5BD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review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52500"/>
          </a:xfrm>
          <a:prstGeom prst="rect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17500" y="114300"/>
            <a:ext cx="9525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Indexing Pipeline V2 — Target State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17500" y="584200"/>
            <a:ext cx="1016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register → ② presigned PUT → ⚡ S3 emits event → ④ queued → ⑤ staged workers, state-tracked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3050" y="1498600"/>
            <a:ext cx="1746250" cy="2540000"/>
          </a:xfrm>
          <a:prstGeom prst="roundRect">
            <a:avLst>
              <a:gd name="adj" fmla="val 4189"/>
            </a:avLst>
          </a:prstGeom>
          <a:solidFill>
            <a:srgbClr val="F7F9FC"/>
          </a:solidFill>
          <a:ln w="15875">
            <a:solidFill>
              <a:srgbClr val="6B7B8C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361950" y="1549400"/>
            <a:ext cx="15684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3550" y="1905000"/>
            <a:ext cx="1358900" cy="635000"/>
          </a:xfrm>
          <a:prstGeom prst="roundRect">
            <a:avLst>
              <a:gd name="adj" fmla="val 11520"/>
            </a:avLst>
          </a:prstGeom>
          <a:solidFill>
            <a:srgbClr val="FFFFFF"/>
          </a:solidFill>
          <a:ln w="15875">
            <a:solidFill>
              <a:srgbClr val="2F4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UI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3550" y="3073400"/>
            <a:ext cx="1358900" cy="787400"/>
          </a:xfrm>
          <a:prstGeom prst="roundRect">
            <a:avLst>
              <a:gd name="adj" fmla="val 9290"/>
            </a:avLst>
          </a:prstGeom>
          <a:solidFill>
            <a:srgbClr val="FFFFFF"/>
          </a:solidFill>
          <a:ln w="15875">
            <a:solidFill>
              <a:srgbClr val="2F4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docs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Word · PDF · PPT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43000" y="2540000"/>
            <a:ext cx="0" cy="52070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736850" y="1549400"/>
            <a:ext cx="965200" cy="2139950"/>
          </a:xfrm>
          <a:prstGeom prst="roundRect">
            <a:avLst>
              <a:gd name="adj" fmla="val 7579"/>
            </a:avLst>
          </a:prstGeom>
          <a:solidFill>
            <a:srgbClr val="FFF2CC"/>
          </a:solidFill>
          <a:ln w="15875">
            <a:solidFill>
              <a:srgbClr val="2F4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API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+ async batch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2450" y="2222500"/>
            <a:ext cx="901700" cy="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825750" y="3917950"/>
            <a:ext cx="177800" cy="177800"/>
          </a:xfrm>
          <a:prstGeom prst="ellipse">
            <a:avLst/>
          </a:prstGeom>
          <a:solidFill>
            <a:srgbClr val="1F2A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4300" y="4184650"/>
            <a:ext cx="1149350" cy="819150"/>
          </a:xfrm>
          <a:prstGeom prst="roundRect">
            <a:avLst>
              <a:gd name="adj" fmla="val 8930"/>
            </a:avLst>
          </a:prstGeom>
          <a:solidFill>
            <a:srgbClr val="DCE6F2"/>
          </a:solidFill>
          <a:ln w="15875">
            <a:solidFill>
              <a:srgbClr val="2F4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+ state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9450" y="3689350"/>
            <a:ext cx="0" cy="48260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578100" y="6705600"/>
            <a:ext cx="4394200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5875">
            <a:solidFill>
              <a:srgbClr val="2F4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(Postgres)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→ UPLOADED → LOADED → CHUNKED → EMBEDDED → INDEXED | FAILED(retry)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19450" y="5003800"/>
            <a:ext cx="0" cy="16891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013200" y="1670050"/>
            <a:ext cx="177800" cy="177800"/>
          </a:xfrm>
          <a:prstGeom prst="ellipse">
            <a:avLst/>
          </a:prstGeom>
          <a:solidFill>
            <a:srgbClr val="1F2A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16400" y="1530350"/>
            <a:ext cx="1206500" cy="946150"/>
          </a:xfrm>
          <a:prstGeom prst="roundRect">
            <a:avLst>
              <a:gd name="adj" fmla="val 7732"/>
            </a:avLst>
          </a:prstGeom>
          <a:solidFill>
            <a:srgbClr val="EEF5E9"/>
          </a:solidFill>
          <a:ln w="15875">
            <a:solidFill>
              <a:srgbClr val="2F4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E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bytes via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presigned PUT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02050" y="2178050"/>
            <a:ext cx="501650" cy="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778500" y="1714500"/>
            <a:ext cx="330200" cy="419100"/>
          </a:xfrm>
          <a:prstGeom prst="lightningBolt">
            <a:avLst/>
          </a:prstGeom>
          <a:solidFill>
            <a:srgbClr val="F5A623"/>
          </a:solidFill>
          <a:ln w="9525">
            <a:solidFill>
              <a:srgbClr val="C07A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22900" y="2006600"/>
            <a:ext cx="330200" cy="0"/>
          </a:xfrm>
          <a:prstGeom prst="line">
            <a:avLst/>
          </a:prstGeom>
          <a:noFill/>
          <a:ln w="1778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21400" y="2006600"/>
            <a:ext cx="381000" cy="0"/>
          </a:xfrm>
          <a:prstGeom prst="line">
            <a:avLst/>
          </a:prstGeom>
          <a:noFill/>
          <a:ln w="1778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537200" y="2222500"/>
            <a:ext cx="82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Object-Created</a:t>
            </a:r>
            <a:endParaRPr lang="en-US" sz="8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triggered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80150" y="1670050"/>
            <a:ext cx="177800" cy="177800"/>
          </a:xfrm>
          <a:prstGeom prst="ellipse">
            <a:avLst/>
          </a:prstGeom>
          <a:solidFill>
            <a:srgbClr val="1F2A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15100" y="1549400"/>
            <a:ext cx="1390650" cy="908050"/>
          </a:xfrm>
          <a:prstGeom prst="roundRect">
            <a:avLst>
              <a:gd name="adj" fmla="val 8056"/>
            </a:avLst>
          </a:prstGeom>
          <a:solidFill>
            <a:srgbClr val="DCE6F2"/>
          </a:solidFill>
          <a:ln w="15875">
            <a:solidFill>
              <a:srgbClr val="2F4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routing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filter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 types) / SNS fan-out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83550" y="1670050"/>
            <a:ext cx="177800" cy="177800"/>
          </a:xfrm>
          <a:prstGeom prst="ellipse">
            <a:avLst/>
          </a:prstGeom>
          <a:solidFill>
            <a:srgbClr val="1F2A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318500" y="1866900"/>
            <a:ext cx="107950" cy="215900"/>
          </a:xfrm>
          <a:prstGeom prst="rect">
            <a:avLst/>
          </a:prstGeom>
          <a:solidFill>
            <a:srgbClr val="C9A227"/>
          </a:solidFill>
          <a:ln w="9525">
            <a:solidFill>
              <a:srgbClr val="7A5F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39150" y="1866900"/>
            <a:ext cx="107950" cy="215900"/>
          </a:xfrm>
          <a:prstGeom prst="rect">
            <a:avLst/>
          </a:prstGeom>
          <a:solidFill>
            <a:srgbClr val="C9A227"/>
          </a:solidFill>
          <a:ln w="9525">
            <a:solidFill>
              <a:srgbClr val="7A5F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59800" y="1866900"/>
            <a:ext cx="107950" cy="215900"/>
          </a:xfrm>
          <a:prstGeom prst="rect">
            <a:avLst/>
          </a:prstGeom>
          <a:solidFill>
            <a:srgbClr val="C9A227"/>
          </a:solidFill>
          <a:ln w="9525">
            <a:solidFill>
              <a:srgbClr val="7A5F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0450" y="1866900"/>
            <a:ext cx="107950" cy="215900"/>
          </a:xfrm>
          <a:prstGeom prst="rect">
            <a:avLst/>
          </a:prstGeom>
          <a:solidFill>
            <a:srgbClr val="EBD892"/>
          </a:solidFill>
          <a:ln w="9525">
            <a:solidFill>
              <a:srgbClr val="7A5F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5750" y="1974850"/>
            <a:ext cx="400050" cy="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8191500" y="21336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queue</a:t>
            </a:r>
            <a:endParaRPr lang="en-US" sz="8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+ DLQ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210050" y="3073400"/>
            <a:ext cx="7537450" cy="2463800"/>
          </a:xfrm>
          <a:prstGeom prst="roundRect">
            <a:avLst>
              <a:gd name="adj" fmla="val 2969"/>
            </a:avLst>
          </a:prstGeom>
          <a:solidFill>
            <a:srgbClr val="F7F9FC"/>
          </a:solidFill>
          <a:ln w="15875">
            <a:solidFill>
              <a:srgbClr val="6B7B8C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4210050" y="3124200"/>
            <a:ext cx="75374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Microservices (containerized · auto-scaling · queue-decoupled)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801100" y="1974850"/>
            <a:ext cx="279400" cy="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80500" y="1974850"/>
            <a:ext cx="0" cy="88265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>
            <a:off x="5124450" y="2857500"/>
            <a:ext cx="3956050" cy="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24450" y="2857500"/>
            <a:ext cx="0" cy="78740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4248150" y="3848100"/>
            <a:ext cx="177800" cy="177800"/>
          </a:xfrm>
          <a:prstGeom prst="ellipse">
            <a:avLst/>
          </a:prstGeom>
          <a:solidFill>
            <a:srgbClr val="1F2A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46600" y="3644900"/>
            <a:ext cx="1397000" cy="755650"/>
          </a:xfrm>
          <a:prstGeom prst="roundRect">
            <a:avLst>
              <a:gd name="adj" fmla="val 9681"/>
            </a:avLst>
          </a:prstGeom>
          <a:solidFill>
            <a:srgbClr val="FFFFFF"/>
          </a:solidFill>
          <a:ln w="12700">
            <a:solidFill>
              <a:srgbClr val="2F4A6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95800" y="3695700"/>
            <a:ext cx="1397000" cy="755650"/>
          </a:xfrm>
          <a:prstGeom prst="roundRect">
            <a:avLst>
              <a:gd name="adj" fmla="val 9681"/>
            </a:avLst>
          </a:prstGeom>
          <a:solidFill>
            <a:srgbClr val="FFFFFF"/>
          </a:solidFill>
          <a:ln w="12700">
            <a:solidFill>
              <a:srgbClr val="2F4A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45000" y="3746500"/>
            <a:ext cx="1397000" cy="755650"/>
          </a:xfrm>
          <a:prstGeom prst="roundRect">
            <a:avLst>
              <a:gd name="adj" fmla="val 9681"/>
            </a:avLst>
          </a:prstGeom>
          <a:solidFill>
            <a:srgbClr val="DCE6F2"/>
          </a:solidFill>
          <a:ln w="15875">
            <a:solidFill>
              <a:srgbClr val="2F4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doc_load svc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parsers per type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69100" y="3644900"/>
            <a:ext cx="1377950" cy="755650"/>
          </a:xfrm>
          <a:prstGeom prst="roundRect">
            <a:avLst>
              <a:gd name="adj" fmla="val 9681"/>
            </a:avLst>
          </a:prstGeom>
          <a:solidFill>
            <a:srgbClr val="FFFFFF"/>
          </a:solidFill>
          <a:ln w="12700">
            <a:solidFill>
              <a:srgbClr val="2F4A6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18300" y="3695700"/>
            <a:ext cx="1377950" cy="755650"/>
          </a:xfrm>
          <a:prstGeom prst="roundRect">
            <a:avLst>
              <a:gd name="adj" fmla="val 9681"/>
            </a:avLst>
          </a:prstGeom>
          <a:solidFill>
            <a:srgbClr val="FFFFFF"/>
          </a:solidFill>
          <a:ln w="12700">
            <a:solidFill>
              <a:srgbClr val="2F4A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67500" y="3746500"/>
            <a:ext cx="1377950" cy="755650"/>
          </a:xfrm>
          <a:prstGeom prst="roundRect">
            <a:avLst>
              <a:gd name="adj" fmla="val 9681"/>
            </a:avLst>
          </a:prstGeom>
          <a:solidFill>
            <a:srgbClr val="DCE6F2"/>
          </a:solidFill>
          <a:ln w="15875">
            <a:solidFill>
              <a:srgbClr val="2F4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extract_chunk svc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strategies · page ctx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061450" y="3644900"/>
            <a:ext cx="1289050" cy="755650"/>
          </a:xfrm>
          <a:prstGeom prst="roundRect">
            <a:avLst>
              <a:gd name="adj" fmla="val 9681"/>
            </a:avLst>
          </a:prstGeom>
          <a:solidFill>
            <a:srgbClr val="FFFFFF"/>
          </a:solidFill>
          <a:ln w="12700">
            <a:solidFill>
              <a:srgbClr val="2F4A6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10650" y="3695700"/>
            <a:ext cx="1289050" cy="755650"/>
          </a:xfrm>
          <a:prstGeom prst="roundRect">
            <a:avLst>
              <a:gd name="adj" fmla="val 9681"/>
            </a:avLst>
          </a:prstGeom>
          <a:solidFill>
            <a:srgbClr val="FFFFFF"/>
          </a:solidFill>
          <a:ln w="12700">
            <a:solidFill>
              <a:srgbClr val="2F4A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59850" y="3746500"/>
            <a:ext cx="1289050" cy="755650"/>
          </a:xfrm>
          <a:prstGeom prst="roundRect">
            <a:avLst>
              <a:gd name="adj" fmla="val 9681"/>
            </a:avLst>
          </a:prstGeom>
          <a:solidFill>
            <a:srgbClr val="DCE6F2"/>
          </a:solidFill>
          <a:ln w="15875">
            <a:solidFill>
              <a:srgbClr val="2F4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svc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model-version tagged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883900" y="3657600"/>
            <a:ext cx="704850" cy="825500"/>
          </a:xfrm>
          <a:prstGeom prst="roundRect">
            <a:avLst>
              <a:gd name="adj" fmla="val 10378"/>
            </a:avLst>
          </a:prstGeom>
          <a:solidFill>
            <a:srgbClr val="DCE6F2"/>
          </a:solidFill>
          <a:ln w="15875">
            <a:solidFill>
              <a:srgbClr val="2F4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969000" y="4826000"/>
            <a:ext cx="107950" cy="215900"/>
          </a:xfrm>
          <a:prstGeom prst="rect">
            <a:avLst/>
          </a:prstGeom>
          <a:solidFill>
            <a:srgbClr val="C9A227"/>
          </a:solidFill>
          <a:ln w="9525">
            <a:solidFill>
              <a:srgbClr val="7A5F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89650" y="4826000"/>
            <a:ext cx="107950" cy="215900"/>
          </a:xfrm>
          <a:prstGeom prst="rect">
            <a:avLst/>
          </a:prstGeom>
          <a:solidFill>
            <a:srgbClr val="C9A227"/>
          </a:solidFill>
          <a:ln w="9525">
            <a:solidFill>
              <a:srgbClr val="7A5F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10300" y="4826000"/>
            <a:ext cx="107950" cy="215900"/>
          </a:xfrm>
          <a:prstGeom prst="rect">
            <a:avLst/>
          </a:prstGeom>
          <a:solidFill>
            <a:srgbClr val="C9A227"/>
          </a:solidFill>
          <a:ln w="9525">
            <a:solidFill>
              <a:srgbClr val="7A5F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30950" y="4826000"/>
            <a:ext cx="107950" cy="215900"/>
          </a:xfrm>
          <a:prstGeom prst="rect">
            <a:avLst/>
          </a:prstGeom>
          <a:solidFill>
            <a:srgbClr val="EBD892"/>
          </a:solidFill>
          <a:ln w="9525">
            <a:solidFill>
              <a:srgbClr val="7A5F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43900" y="4826000"/>
            <a:ext cx="107950" cy="215900"/>
          </a:xfrm>
          <a:prstGeom prst="rect">
            <a:avLst/>
          </a:prstGeom>
          <a:solidFill>
            <a:srgbClr val="C9A227"/>
          </a:solidFill>
          <a:ln w="9525">
            <a:solidFill>
              <a:srgbClr val="7A5F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64550" y="4826000"/>
            <a:ext cx="107950" cy="215900"/>
          </a:xfrm>
          <a:prstGeom prst="rect">
            <a:avLst/>
          </a:prstGeom>
          <a:solidFill>
            <a:srgbClr val="C9A227"/>
          </a:solidFill>
          <a:ln w="9525">
            <a:solidFill>
              <a:srgbClr val="7A5F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85200" y="4826000"/>
            <a:ext cx="107950" cy="215900"/>
          </a:xfrm>
          <a:prstGeom prst="rect">
            <a:avLst/>
          </a:prstGeom>
          <a:solidFill>
            <a:srgbClr val="C9A227"/>
          </a:solidFill>
          <a:ln w="9525">
            <a:solidFill>
              <a:srgbClr val="7A5F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05850" y="4826000"/>
            <a:ext cx="107950" cy="215900"/>
          </a:xfrm>
          <a:prstGeom prst="rect">
            <a:avLst/>
          </a:prstGeom>
          <a:solidFill>
            <a:srgbClr val="EBD892"/>
          </a:solidFill>
          <a:ln w="9525">
            <a:solidFill>
              <a:srgbClr val="7A5F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24450" y="4502150"/>
            <a:ext cx="0" cy="43180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124450" y="4933950"/>
            <a:ext cx="831850" cy="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451600" y="4933950"/>
            <a:ext cx="647700" cy="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7099300" y="4514850"/>
            <a:ext cx="0" cy="41910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7397750" y="4502150"/>
            <a:ext cx="0" cy="43180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97750" y="4933950"/>
            <a:ext cx="933450" cy="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8826500" y="4933950"/>
            <a:ext cx="793750" cy="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9620250" y="4514850"/>
            <a:ext cx="0" cy="41910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10248900" y="4064000"/>
            <a:ext cx="622300" cy="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  <a:tailEnd type="triangle"/>
          </a:ln>
        </p:spPr>
      </p:sp>
      <p:sp>
        <p:nvSpPr>
          <p:cNvPr id="67" name="Text 65"/>
          <p:cNvSpPr txBox="1"/>
          <p:nvPr/>
        </p:nvSpPr>
        <p:spPr>
          <a:xfrm>
            <a:off x="4318000" y="5270500"/>
            <a:ext cx="730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F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stage: queue-fronted · idempotent (key+etag) · retry with backoff · poison → DLQ · state → Postgres at every transition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346950" y="5746750"/>
            <a:ext cx="4400550" cy="1644650"/>
          </a:xfrm>
          <a:prstGeom prst="roundRect">
            <a:avLst>
              <a:gd name="adj" fmla="val 4448"/>
            </a:avLst>
          </a:prstGeom>
          <a:solidFill>
            <a:srgbClr val="F7F9FC"/>
          </a:solidFill>
          <a:ln w="15875">
            <a:solidFill>
              <a:srgbClr val="6B7B8C"/>
            </a:solidFill>
            <a:prstDash val="dash"/>
          </a:ln>
        </p:spPr>
      </p:sp>
      <p:sp>
        <p:nvSpPr>
          <p:cNvPr id="69" name="Text 67"/>
          <p:cNvSpPr txBox="1"/>
          <p:nvPr/>
        </p:nvSpPr>
        <p:spPr>
          <a:xfrm>
            <a:off x="7435850" y="5797550"/>
            <a:ext cx="42227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7537450" y="6375400"/>
            <a:ext cx="1651000" cy="895350"/>
          </a:xfrm>
          <a:prstGeom prst="roundRect">
            <a:avLst>
              <a:gd name="adj" fmla="val 8170"/>
            </a:avLst>
          </a:prstGeom>
          <a:solidFill>
            <a:srgbClr val="E8F3E3"/>
          </a:solidFill>
          <a:ln w="15875">
            <a:solidFill>
              <a:srgbClr val="2F4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E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Vector Store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indexes ·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sparse (hybrid)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385300" y="6375400"/>
            <a:ext cx="1670050" cy="895350"/>
          </a:xfrm>
          <a:prstGeom prst="roundRect">
            <a:avLst>
              <a:gd name="adj" fmla="val 8170"/>
            </a:avLst>
          </a:prstGeom>
          <a:solidFill>
            <a:srgbClr val="FFFFFF"/>
          </a:solidFill>
          <a:ln w="15875">
            <a:solidFill>
              <a:srgbClr val="2F4A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metadata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originals · chunk audit ·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tags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1233150" y="4483100"/>
            <a:ext cx="0" cy="139065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H="1">
            <a:off x="8362950" y="5873750"/>
            <a:ext cx="2870200" cy="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362950" y="5873750"/>
            <a:ext cx="0" cy="488950"/>
          </a:xfrm>
          <a:prstGeom prst="line">
            <a:avLst/>
          </a:prstGeom>
          <a:noFill/>
          <a:ln w="17780">
            <a:solidFill>
              <a:srgbClr val="1F2A4A"/>
            </a:solidFill>
            <a:prstDash val="solid"/>
            <a:tailEnd type="triangle"/>
          </a:ln>
        </p:spPr>
      </p:sp>
      <p:sp>
        <p:nvSpPr>
          <p:cNvPr id="76" name="Text 73"/>
          <p:cNvSpPr/>
          <p:nvPr/>
        </p:nvSpPr>
        <p:spPr>
          <a:xfrm>
            <a:off x="10676890" y="812800"/>
            <a:ext cx="1426210" cy="95250"/>
          </a:xfrm>
          <a:prstGeom prst="roundRect">
            <a:avLst>
              <a:gd name="adj" fmla="val 48000"/>
            </a:avLst>
          </a:prstGeom>
          <a:solidFill>
            <a:srgbClr val="F5BD5C"/>
          </a:solidFill>
          <a:ln w="6350">
            <a:solidFill>
              <a:srgbClr val="F5BD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indexing pipeline (target)</a:t>
            </a:r>
            <a:endParaRPr lang="en-US" sz="650" dirty="0"/>
          </a:p>
        </p:txBody>
      </p:sp>
      <p:sp>
        <p:nvSpPr>
          <p:cNvPr id="77" name="Shape 74"/>
          <p:cNvSpPr/>
          <p:nvPr/>
        </p:nvSpPr>
        <p:spPr>
          <a:xfrm>
            <a:off x="2736850" y="1549400"/>
            <a:ext cx="965200" cy="2139950"/>
          </a:xfrm>
          <a:prstGeom prst="roundRect">
            <a:avLst>
              <a:gd name="adj" fmla="val 7579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2787650" y="1492250"/>
            <a:ext cx="475742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</a:t>
            </a:r>
            <a:endParaRPr lang="en-US" sz="600" dirty="0"/>
          </a:p>
        </p:txBody>
      </p:sp>
      <p:sp>
        <p:nvSpPr>
          <p:cNvPr id="79" name="Shape 76"/>
          <p:cNvSpPr/>
          <p:nvPr/>
        </p:nvSpPr>
        <p:spPr>
          <a:xfrm>
            <a:off x="4445000" y="3746500"/>
            <a:ext cx="1397000" cy="755650"/>
          </a:xfrm>
          <a:prstGeom prst="roundRect">
            <a:avLst>
              <a:gd name="adj" fmla="val 9681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4483100" y="3689350"/>
            <a:ext cx="438404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00" dirty="0"/>
          </a:p>
        </p:txBody>
      </p:sp>
      <p:sp>
        <p:nvSpPr>
          <p:cNvPr id="81" name="Shape 78"/>
          <p:cNvSpPr/>
          <p:nvPr/>
        </p:nvSpPr>
        <p:spPr>
          <a:xfrm>
            <a:off x="6667500" y="3746500"/>
            <a:ext cx="1377950" cy="755650"/>
          </a:xfrm>
          <a:prstGeom prst="roundRect">
            <a:avLst>
              <a:gd name="adj" fmla="val 9681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6705600" y="3689350"/>
            <a:ext cx="438404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00" dirty="0"/>
          </a:p>
        </p:txBody>
      </p:sp>
      <p:sp>
        <p:nvSpPr>
          <p:cNvPr id="83" name="Shape 80"/>
          <p:cNvSpPr/>
          <p:nvPr/>
        </p:nvSpPr>
        <p:spPr>
          <a:xfrm>
            <a:off x="8959850" y="3746500"/>
            <a:ext cx="1289050" cy="755650"/>
          </a:xfrm>
          <a:prstGeom prst="roundRect">
            <a:avLst>
              <a:gd name="adj" fmla="val 9681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8997950" y="3689350"/>
            <a:ext cx="438404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00" dirty="0"/>
          </a:p>
        </p:txBody>
      </p:sp>
      <p:sp>
        <p:nvSpPr>
          <p:cNvPr id="85" name="Shape 82"/>
          <p:cNvSpPr/>
          <p:nvPr/>
        </p:nvSpPr>
        <p:spPr>
          <a:xfrm>
            <a:off x="10883900" y="3657600"/>
            <a:ext cx="704850" cy="825500"/>
          </a:xfrm>
          <a:prstGeom prst="roundRect">
            <a:avLst>
              <a:gd name="adj" fmla="val 10378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10922000" y="3600450"/>
            <a:ext cx="438404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00" dirty="0"/>
          </a:p>
        </p:txBody>
      </p:sp>
      <p:pic>
        <p:nvPicPr>
          <p:cNvPr id="87" name="Image 0" descr="/tmp/claude-0/-home-claude/464e32f6-6cab-5bf8-83b9-d9d9487214ed/scratchpad/icons/png/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4300" y="1568450"/>
            <a:ext cx="190500" cy="190500"/>
          </a:xfrm>
          <a:prstGeom prst="rect">
            <a:avLst/>
          </a:prstGeom>
        </p:spPr>
      </p:pic>
      <p:pic>
        <p:nvPicPr>
          <p:cNvPr id="88" name="Image 1" descr="/tmp/claude-0/-home-claude/464e32f6-6cab-5bf8-83b9-d9d9487214ed/scratchpad/icons/png/eventbri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150" y="1587500"/>
            <a:ext cx="190500" cy="190500"/>
          </a:xfrm>
          <a:prstGeom prst="rect">
            <a:avLst/>
          </a:prstGeom>
        </p:spPr>
      </p:pic>
      <p:pic>
        <p:nvPicPr>
          <p:cNvPr id="89" name="Image 2" descr="/tmp/claude-0/-home-claude/464e32f6-6cab-5bf8-83b9-d9d9487214ed/scratchpad/icons/png/sq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200" y="1587500"/>
            <a:ext cx="165100" cy="165100"/>
          </a:xfrm>
          <a:prstGeom prst="rect">
            <a:avLst/>
          </a:prstGeom>
        </p:spPr>
      </p:pic>
      <p:pic>
        <p:nvPicPr>
          <p:cNvPr id="90" name="Image 3" descr="/tmp/claude-0/-home-claude/464e32f6-6cab-5bf8-83b9-d9d9487214ed/scratchpad/icons/png/rd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050" y="4222750"/>
            <a:ext cx="190500" cy="190500"/>
          </a:xfrm>
          <a:prstGeom prst="rect">
            <a:avLst/>
          </a:prstGeom>
        </p:spPr>
      </p:pic>
      <p:pic>
        <p:nvPicPr>
          <p:cNvPr id="91" name="Image 4" descr="/tmp/claude-0/-home-claude/464e32f6-6cab-5bf8-83b9-d9d9487214ed/scratchpad/icons/png/rd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0" y="6756400"/>
            <a:ext cx="177800" cy="177800"/>
          </a:xfrm>
          <a:prstGeom prst="rect">
            <a:avLst/>
          </a:prstGeom>
        </p:spPr>
      </p:pic>
      <p:pic>
        <p:nvPicPr>
          <p:cNvPr id="92" name="Image 5" descr="/tmp/claude-0/-home-claude/464e32f6-6cab-5bf8-83b9-d9d9487214ed/scratchpad/icons/png/s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6750" y="6413500"/>
            <a:ext cx="190500" cy="190500"/>
          </a:xfrm>
          <a:prstGeom prst="rect">
            <a:avLst/>
          </a:prstGeom>
        </p:spPr>
      </p:pic>
      <p:sp>
        <p:nvSpPr>
          <p:cNvPr id="93" name="Text 84"/>
          <p:cNvSpPr/>
          <p:nvPr/>
        </p:nvSpPr>
        <p:spPr>
          <a:xfrm>
            <a:off x="7600950" y="7048500"/>
            <a:ext cx="698500" cy="177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08C00"/>
            </a:solidFill>
            <a:prstDash val="dash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[paste: vector DB logo]</a:t>
            </a:r>
            <a:endParaRPr lang="en-US" sz="550" dirty="0"/>
          </a:p>
        </p:txBody>
      </p:sp>
      <p:pic>
        <p:nvPicPr>
          <p:cNvPr id="94" name="Image 6" descr="/tmp/claude-0/-home-claude/464e32f6-6cab-5bf8-83b9-d9d9487214ed/scratchpad/icons/png/farga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68100" y="312420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2600"/>
          </a:xfrm>
          <a:prstGeom prst="rect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77800" y="63500"/>
            <a:ext cx="793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Reference Architecture: Non-Functional View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128000" y="63500"/>
            <a:ext cx="388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AWS service meets which NFR · Fargate vs Bedrock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27000" y="571500"/>
            <a:ext cx="7848600" cy="9525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0500" y="596900"/>
            <a:ext cx="7721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and identity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86600" y="609600"/>
            <a:ext cx="426720" cy="11430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551420" y="609600"/>
            <a:ext cx="386080" cy="11430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28600" y="812800"/>
            <a:ext cx="1435100" cy="609600"/>
          </a:xfrm>
          <a:prstGeom prst="roundRect">
            <a:avLst>
              <a:gd name="adj" fmla="val 90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health checks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65300" y="812800"/>
            <a:ext cx="1435100" cy="609600"/>
          </a:xfrm>
          <a:prstGeom prst="roundRect">
            <a:avLst>
              <a:gd name="adj" fmla="val 90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for the web UI, TLS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02000" y="812800"/>
            <a:ext cx="1435100" cy="609600"/>
          </a:xfrm>
          <a:prstGeom prst="roundRect">
            <a:avLst>
              <a:gd name="adj" fmla="val 90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+ Shield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rules, rate limits, DDoS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38700" y="812800"/>
            <a:ext cx="1435100" cy="609600"/>
          </a:xfrm>
          <a:prstGeom prst="roundRect">
            <a:avLst>
              <a:gd name="adj" fmla="val 9000"/>
            </a:avLst>
          </a:prstGeom>
          <a:solidFill>
            <a:srgbClr val="1F3B63"/>
          </a:solidFill>
          <a:ln w="12700">
            <a:solidFill>
              <a:srgbClr val="16304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/ JWT sign-in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75400" y="812800"/>
            <a:ext cx="1435100" cy="609600"/>
          </a:xfrm>
          <a:prstGeom prst="roundRect">
            <a:avLst>
              <a:gd name="adj" fmla="val 90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certificates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7000" y="1612900"/>
            <a:ext cx="7848600" cy="1460500"/>
          </a:xfrm>
          <a:prstGeom prst="roundRect">
            <a:avLst>
              <a:gd name="adj" fmla="val 6261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0500" y="1638300"/>
            <a:ext cx="7721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(our code)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1480" y="1651000"/>
            <a:ext cx="548640" cy="11430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348220" y="1651000"/>
            <a:ext cx="589280" cy="11430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28600" y="1854200"/>
            <a:ext cx="1270000" cy="1117600"/>
          </a:xfrm>
          <a:prstGeom prst="roundRect">
            <a:avLst>
              <a:gd name="adj" fmla="val 4909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subnets in 2 AZs · health checks · routes /api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00200" y="1828800"/>
            <a:ext cx="4953000" cy="1168400"/>
          </a:xfrm>
          <a:prstGeom prst="roundRect">
            <a:avLst>
              <a:gd name="adj" fmla="val 7826"/>
            </a:avLst>
          </a:prstGeom>
          <a:solidFill>
            <a:srgbClr val="EEF2F8"/>
          </a:solidFill>
          <a:ln w="12700">
            <a:solidFill>
              <a:srgbClr val="93AED6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1663700" y="1854200"/>
            <a:ext cx="4826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ECS on Fargate (no servers to manage) · Application Auto Scaling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676400" y="2044700"/>
            <a:ext cx="1143000" cy="876300"/>
          </a:xfrm>
          <a:prstGeom prst="roundRect">
            <a:avLst>
              <a:gd name="adj" fmla="val 6261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hrb-api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LangGraph · min 2 tasks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882900" y="2044700"/>
            <a:ext cx="1143000" cy="876300"/>
          </a:xfrm>
          <a:prstGeom prst="roundRect">
            <a:avLst>
              <a:gd name="adj" fmla="val 6261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now · stage services later · Fargate Spot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89400" y="2044700"/>
            <a:ext cx="1143000" cy="876300"/>
          </a:xfrm>
          <a:prstGeom prst="roundRect">
            <a:avLst>
              <a:gd name="adj" fmla="val 6261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HRB_LMS_OPS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· min 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295900" y="2044700"/>
            <a:ext cx="1143000" cy="876300"/>
          </a:xfrm>
          <a:prstGeom prst="roundRect">
            <a:avLst>
              <a:gd name="adj" fmla="val 6261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HRB_LMS_ANALYTICS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server, read-only · min 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654800" y="1854200"/>
            <a:ext cx="1219200" cy="508000"/>
          </a:xfrm>
          <a:prstGeom prst="roundRect">
            <a:avLst>
              <a:gd name="adj" fmla="val 108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ECR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54800" y="2438400"/>
            <a:ext cx="1219200" cy="533400"/>
          </a:xfrm>
          <a:prstGeom prst="roundRect">
            <a:avLst>
              <a:gd name="adj" fmla="val 10286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(not used)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removes server patching; EC2 only for GPU or cost tuning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498600" y="2413000"/>
            <a:ext cx="889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27000" y="3162300"/>
            <a:ext cx="7848600" cy="9525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90500" y="3187700"/>
            <a:ext cx="7721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and events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83400" y="3200400"/>
            <a:ext cx="508000" cy="11430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429500" y="3200400"/>
            <a:ext cx="508000" cy="11430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28600" y="3403600"/>
            <a:ext cx="1778000" cy="609600"/>
          </a:xfrm>
          <a:prstGeom prst="roundRect">
            <a:avLst>
              <a:gd name="adj" fmla="val 90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upload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created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165350" y="3403600"/>
            <a:ext cx="1778000" cy="609600"/>
          </a:xfrm>
          <a:prstGeom prst="roundRect">
            <a:avLst>
              <a:gd name="adj" fmla="val 90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doc type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02100" y="3403600"/>
            <a:ext cx="1778000" cy="609600"/>
          </a:xfrm>
          <a:prstGeom prst="roundRect">
            <a:avLst>
              <a:gd name="adj" fmla="val 90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+ DLQ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queue per stage, retries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8850" y="3403600"/>
            <a:ext cx="1778000" cy="609600"/>
          </a:xfrm>
          <a:prstGeom prst="roundRect">
            <a:avLst>
              <a:gd name="adj" fmla="val 90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/ SES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tasks, decisions, alerts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006600" y="3708400"/>
            <a:ext cx="14605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943350" y="3708400"/>
            <a:ext cx="14605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27000" y="4203700"/>
            <a:ext cx="7848600" cy="162560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90500" y="4229100"/>
            <a:ext cx="7721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(SQL, NoSQL, cache, object, vector)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03060" y="4241800"/>
            <a:ext cx="508000" cy="11430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249160" y="4241800"/>
            <a:ext cx="386080" cy="11430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673340" y="4241800"/>
            <a:ext cx="264160" cy="11430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28600" y="4445000"/>
            <a:ext cx="1841500" cy="1295400"/>
          </a:xfrm>
          <a:prstGeom prst="can">
            <a:avLst>
              <a:gd name="adj" fmla="val 4235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 (Valkey / Redis)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answer cache · ② embedding cache · STM hot copy (recent turns, TTL) · rate limits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159000" y="4445000"/>
            <a:ext cx="1905000" cy="1295400"/>
          </a:xfrm>
          <a:prstGeom prst="can">
            <a:avLst>
              <a:gd name="adj" fmla="val 4235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/ Aurora Postgres (Multi-AZ)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· STM log · LTM (facts, summaries) · LangGraph checkpoints · HITL state · ingestion state · feedback · audit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152900" y="4445000"/>
            <a:ext cx="1206500" cy="1295400"/>
          </a:xfrm>
          <a:prstGeom prst="can">
            <a:avLst>
              <a:gd name="adj" fmla="val 4547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(AWS-native) or Pinecone / ChromaDB [INSERT]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48300" y="4445000"/>
            <a:ext cx="1206500" cy="1295400"/>
          </a:xfrm>
          <a:prstGeom prst="can">
            <a:avLst>
              <a:gd name="adj" fmla="val 4547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· derived assets · eval set · archives · lifecycle to Glacier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743700" y="4445000"/>
            <a:ext cx="1130300" cy="1295400"/>
          </a:xfrm>
          <a:prstGeom prst="roundRect">
            <a:avLst>
              <a:gd name="adj" fmla="val 4854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dash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(optional)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for very high-volume chat history with TTL; not needed for v2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27000" y="5918200"/>
            <a:ext cx="7848600" cy="8382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90500" y="5943600"/>
            <a:ext cx="7721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086600" y="5956300"/>
            <a:ext cx="386080" cy="11430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510780" y="5956300"/>
            <a:ext cx="426720" cy="11430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28600" y="6146800"/>
            <a:ext cx="3746500" cy="533400"/>
          </a:xfrm>
          <a:prstGeom prst="roundRect">
            <a:avLst>
              <a:gd name="adj" fmla="val 10286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(option) or OpenAI API via NAT [INSERT]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behind an AWS API · IAM auth, no API key · data stays in the region · Bedrock Guardrails as an extra check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064000" y="6146800"/>
            <a:ext cx="3810000" cy="533400"/>
          </a:xfrm>
          <a:prstGeom prst="roundRect">
            <a:avLst>
              <a:gd name="adj" fmla="val 10286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dash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AgentCore (v3 experiment)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 runtime, memory (STM / LTM), tool gateway · faster to build, but hides code you want to own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27000" y="6845300"/>
            <a:ext cx="7848600" cy="698500"/>
          </a:xfrm>
          <a:prstGeom prst="roundRect">
            <a:avLst>
              <a:gd name="adj" fmla="val 13091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90500" y="6870700"/>
            <a:ext cx="7721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and security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842760" y="6883400"/>
            <a:ext cx="629920" cy="11430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510780" y="6883400"/>
            <a:ext cx="426720" cy="11430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 w="635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28600" y="7061200"/>
            <a:ext cx="1841500" cy="419100"/>
          </a:xfrm>
          <a:prstGeom prst="roundRect">
            <a:avLst>
              <a:gd name="adj" fmla="val 13091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metrics, alarms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165350" y="7061200"/>
            <a:ext cx="1841500" cy="419100"/>
          </a:xfrm>
          <a:prstGeom prst="roundRect">
            <a:avLst>
              <a:gd name="adj" fmla="val 13091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/ ADOT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per request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102100" y="7061200"/>
            <a:ext cx="1841500" cy="419100"/>
          </a:xfrm>
          <a:prstGeom prst="roundRect">
            <a:avLst>
              <a:gd name="adj" fmla="val 13091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 + KMS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encryption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038850" y="7061200"/>
            <a:ext cx="1841500" cy="419100"/>
          </a:xfrm>
          <a:prstGeom prst="roundRect">
            <a:avLst>
              <a:gd name="adj" fmla="val 13091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+ CloudTrail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per task, audit trail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077200" y="571500"/>
            <a:ext cx="3987800" cy="4064000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5875">
            <a:solidFill>
              <a:srgbClr val="B6C2D4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63" name="Text 61"/>
          <p:cNvSpPr txBox="1"/>
          <p:nvPr/>
        </p:nvSpPr>
        <p:spPr>
          <a:xfrm>
            <a:off x="8178800" y="6350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 → how AWS meets it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78800" y="838200"/>
          <a:ext cx="3784600" cy="914400"/>
        </p:xfrm>
        <a:graphic>
          <a:graphicData uri="http://schemas.openxmlformats.org/drawingml/2006/table">
            <a:tbl>
              <a:tblPr/>
              <a:tblGrid>
                <a:gridCol w="901095"/>
                <a:gridCol w="2883505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Fargate + Auto Scaling on CPU, requests, queue depth; SQS absorbs bursts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AZs for ALB, tasks, RDS, ElastiCache; target 99.5% [INSERT]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ElastiCache ① ②, streaming, same-region models, CloudFront for the UI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WAF, Cognito JWT, IAM role per task, KMS, Secrets Manager, private subnets, VPC endpoints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SQS + DLQ, retries with backoff, idempotent writes, circuit breaker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versioning, RDS backups + point-in-time restore; RTO / RPO [INSERT]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 + X-Ray, plus LLM traces (Langfuse or LangSmith)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Fargate Spot for ingestion, S3 lifecycle, mini models, caching, AWS Budgets alarms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Shape 62"/>
          <p:cNvSpPr/>
          <p:nvPr/>
        </p:nvSpPr>
        <p:spPr>
          <a:xfrm>
            <a:off x="8077200" y="4737100"/>
            <a:ext cx="3987800" cy="2806700"/>
          </a:xfrm>
          <a:prstGeom prst="roundRect">
            <a:avLst>
              <a:gd name="adj" fmla="val 1955"/>
            </a:avLst>
          </a:prstGeom>
          <a:solidFill>
            <a:srgbClr val="FFF8E6"/>
          </a:solidFill>
          <a:ln w="15875">
            <a:solidFill>
              <a:srgbClr val="E0C35A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66" name="Text 63"/>
          <p:cNvSpPr txBox="1"/>
          <p:nvPr/>
        </p:nvSpPr>
        <p:spPr>
          <a:xfrm>
            <a:off x="8178800" y="48006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vs Amazon Bedrock: not either / or</a:t>
            </a:r>
            <a:endParaRPr lang="en-US" sz="850" dirty="0"/>
          </a:p>
        </p:txBody>
      </p:sp>
      <p:sp>
        <p:nvSpPr>
          <p:cNvPr id="67" name="Text 64"/>
          <p:cNvSpPr txBox="1"/>
          <p:nvPr/>
        </p:nvSpPr>
        <p:spPr>
          <a:xfrm>
            <a:off x="8178800" y="5016500"/>
            <a:ext cx="3784600" cy="248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Fargate: </a:t>
            </a:r>
            <a:pPr algn="l" indent="0" marL="0">
              <a:spcAft>
                <a:spcPts val="7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OUR code runs: FastAPI, LangGraph agents, MCP servers, ingestion.</a:t>
            </a:r>
            <a:endParaRPr lang="en-US" sz="8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Bedrock: </a:t>
            </a:r>
            <a:pPr algn="l" indent="0" marL="0">
              <a:spcAft>
                <a:spcPts val="7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models behind an AWS API. It replaces the OpenAI call, not Fargate.</a:t>
            </a:r>
            <a:endParaRPr lang="en-US" sz="8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Bases / AgentCore: </a:t>
            </a:r>
            <a:pPr algn="l" indent="0" marL="0">
              <a:spcAft>
                <a:spcPts val="7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RAG and agent runtime with memory. Fast to build, but it hides chunking, retrieval and routing, the Core AI work you want to own.</a:t>
            </a:r>
            <a:endParaRPr lang="en-US" sz="8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algn="l" indent="0" marL="0">
              <a:spcAft>
                <a:spcPts val="7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for code (v2). Decide OpenAI vs Bedrock models in an ADR [INSERT]. Try AgentCore as a v3 experiment.</a:t>
            </a:r>
            <a:endParaRPr lang="en-US" sz="8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(STM / LTM): </a:t>
            </a:r>
            <a:pPr algn="l" indent="0" marL="0">
              <a:spcAft>
                <a:spcPts val="7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 = recent turns of this chat; LTM = facts and summaries across chats. v2: both in Postgres (reuse v1 tables), Redis hot copy only if latency needs it.</a:t>
            </a:r>
            <a:endParaRPr lang="en-US" sz="850" dirty="0"/>
          </a:p>
        </p:txBody>
      </p:sp>
      <p:sp>
        <p:nvSpPr>
          <p:cNvPr id="69" name="Text 65"/>
          <p:cNvSpPr/>
          <p:nvPr/>
        </p:nvSpPr>
        <p:spPr>
          <a:xfrm>
            <a:off x="10952480" y="368300"/>
            <a:ext cx="1150620" cy="95250"/>
          </a:xfrm>
          <a:prstGeom prst="roundRect">
            <a:avLst>
              <a:gd name="adj" fmla="val 48000"/>
            </a:avLst>
          </a:prstGeom>
          <a:solidFill>
            <a:srgbClr val="F5BD5C"/>
          </a:solidFill>
          <a:ln w="6350">
            <a:solidFill>
              <a:srgbClr val="F5BD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AWS services by NFR</a:t>
            </a:r>
            <a:endParaRPr lang="en-US" sz="650" dirty="0"/>
          </a:p>
        </p:txBody>
      </p:sp>
      <p:pic>
        <p:nvPicPr>
          <p:cNvPr id="70" name="Image 0" descr="/tmp/claude-0/-home-claude/464e32f6-6cab-5bf8-83b9-d9d9487214ed/scratchpad/icons/png/route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0" y="850900"/>
            <a:ext cx="203200" cy="203200"/>
          </a:xfrm>
          <a:prstGeom prst="rect">
            <a:avLst/>
          </a:prstGeom>
        </p:spPr>
      </p:pic>
      <p:pic>
        <p:nvPicPr>
          <p:cNvPr id="71" name="Image 1" descr="/tmp/claude-0/-home-claude/464e32f6-6cab-5bf8-83b9-d9d9487214ed/scratchpad/icons/png/cloudfro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100" y="850900"/>
            <a:ext cx="203200" cy="203200"/>
          </a:xfrm>
          <a:prstGeom prst="rect">
            <a:avLst/>
          </a:prstGeom>
        </p:spPr>
      </p:pic>
      <p:pic>
        <p:nvPicPr>
          <p:cNvPr id="72" name="Image 2" descr="/tmp/claude-0/-home-claude/464e32f6-6cab-5bf8-83b9-d9d9487214ed/scratchpad/icons/png/wa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850900"/>
            <a:ext cx="203200" cy="203200"/>
          </a:xfrm>
          <a:prstGeom prst="rect">
            <a:avLst/>
          </a:prstGeom>
        </p:spPr>
      </p:pic>
      <p:pic>
        <p:nvPicPr>
          <p:cNvPr id="73" name="Image 3" descr="/tmp/claude-0/-home-claude/464e32f6-6cab-5bf8-83b9-d9d9487214ed/scratchpad/icons/png/cognit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500" y="850900"/>
            <a:ext cx="203200" cy="203200"/>
          </a:xfrm>
          <a:prstGeom prst="rect">
            <a:avLst/>
          </a:prstGeom>
        </p:spPr>
      </p:pic>
      <p:pic>
        <p:nvPicPr>
          <p:cNvPr id="74" name="Image 4" descr="/tmp/claude-0/-home-claude/464e32f6-6cab-5bf8-83b9-d9d9487214ed/scratchpad/icons/png/ac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9200" y="850900"/>
            <a:ext cx="203200" cy="203200"/>
          </a:xfrm>
          <a:prstGeom prst="rect">
            <a:avLst/>
          </a:prstGeom>
        </p:spPr>
      </p:pic>
      <p:pic>
        <p:nvPicPr>
          <p:cNvPr id="75" name="Image 5" descr="/tmp/claude-0/-home-claude/464e32f6-6cab-5bf8-83b9-d9d9487214ed/scratchpad/icons/png/a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100" y="1905000"/>
            <a:ext cx="266700" cy="266700"/>
          </a:xfrm>
          <a:prstGeom prst="rect">
            <a:avLst/>
          </a:prstGeom>
        </p:spPr>
      </p:pic>
      <p:pic>
        <p:nvPicPr>
          <p:cNvPr id="76" name="Image 6" descr="/tmp/claude-0/-home-claude/464e32f6-6cab-5bf8-83b9-d9d9487214ed/scratchpad/icons/png/farga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7300" y="1841500"/>
            <a:ext cx="190500" cy="190500"/>
          </a:xfrm>
          <a:prstGeom prst="rect">
            <a:avLst/>
          </a:prstGeom>
        </p:spPr>
      </p:pic>
      <p:pic>
        <p:nvPicPr>
          <p:cNvPr id="77" name="Image 7" descr="/tmp/claude-0/-home-claude/464e32f6-6cab-5bf8-83b9-d9d9487214ed/scratchpad/icons/png/ec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5400" y="1892300"/>
            <a:ext cx="190500" cy="190500"/>
          </a:xfrm>
          <a:prstGeom prst="rect">
            <a:avLst/>
          </a:prstGeom>
        </p:spPr>
      </p:pic>
      <p:sp>
        <p:nvSpPr>
          <p:cNvPr id="78" name="Shape 66"/>
          <p:cNvSpPr/>
          <p:nvPr/>
        </p:nvSpPr>
        <p:spPr>
          <a:xfrm>
            <a:off x="1676400" y="2044700"/>
            <a:ext cx="1143000" cy="876300"/>
          </a:xfrm>
          <a:prstGeom prst="roundRect">
            <a:avLst>
              <a:gd name="adj" fmla="val 8348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79" name="Text 67"/>
          <p:cNvSpPr/>
          <p:nvPr/>
        </p:nvSpPr>
        <p:spPr>
          <a:xfrm>
            <a:off x="1714500" y="1987550"/>
            <a:ext cx="475742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</a:t>
            </a:r>
            <a:endParaRPr lang="en-US" sz="600" dirty="0"/>
          </a:p>
        </p:txBody>
      </p:sp>
      <p:sp>
        <p:nvSpPr>
          <p:cNvPr id="80" name="Shape 68"/>
          <p:cNvSpPr/>
          <p:nvPr/>
        </p:nvSpPr>
        <p:spPr>
          <a:xfrm>
            <a:off x="2882900" y="2044700"/>
            <a:ext cx="1143000" cy="876300"/>
          </a:xfrm>
          <a:prstGeom prst="roundRect">
            <a:avLst>
              <a:gd name="adj" fmla="val 8348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81" name="Text 69"/>
          <p:cNvSpPr/>
          <p:nvPr/>
        </p:nvSpPr>
        <p:spPr>
          <a:xfrm>
            <a:off x="2921000" y="1987550"/>
            <a:ext cx="438404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00" dirty="0"/>
          </a:p>
        </p:txBody>
      </p:sp>
      <p:sp>
        <p:nvSpPr>
          <p:cNvPr id="82" name="Shape 70"/>
          <p:cNvSpPr/>
          <p:nvPr/>
        </p:nvSpPr>
        <p:spPr>
          <a:xfrm>
            <a:off x="4089400" y="2044700"/>
            <a:ext cx="1143000" cy="876300"/>
          </a:xfrm>
          <a:prstGeom prst="roundRect">
            <a:avLst>
              <a:gd name="adj" fmla="val 8348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83" name="Text 71"/>
          <p:cNvSpPr/>
          <p:nvPr/>
        </p:nvSpPr>
        <p:spPr>
          <a:xfrm>
            <a:off x="4127500" y="1987550"/>
            <a:ext cx="699770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 · own</a:t>
            </a:r>
            <a:endParaRPr lang="en-US" sz="600" dirty="0"/>
          </a:p>
        </p:txBody>
      </p:sp>
      <p:sp>
        <p:nvSpPr>
          <p:cNvPr id="84" name="Shape 72"/>
          <p:cNvSpPr/>
          <p:nvPr/>
        </p:nvSpPr>
        <p:spPr>
          <a:xfrm>
            <a:off x="5295900" y="2044700"/>
            <a:ext cx="1143000" cy="876300"/>
          </a:xfrm>
          <a:prstGeom prst="roundRect">
            <a:avLst>
              <a:gd name="adj" fmla="val 8348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85" name="Text 73"/>
          <p:cNvSpPr/>
          <p:nvPr/>
        </p:nvSpPr>
        <p:spPr>
          <a:xfrm>
            <a:off x="5334000" y="1987550"/>
            <a:ext cx="699770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 · own</a:t>
            </a:r>
            <a:endParaRPr lang="en-US" sz="600" dirty="0"/>
          </a:p>
        </p:txBody>
      </p:sp>
      <p:pic>
        <p:nvPicPr>
          <p:cNvPr id="86" name="Image 8" descr="/tmp/claude-0/-home-claude/464e32f6-6cab-5bf8-83b9-d9d9487214ed/scratchpad/icons/png/s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5300" y="3441700"/>
            <a:ext cx="203200" cy="203200"/>
          </a:xfrm>
          <a:prstGeom prst="rect">
            <a:avLst/>
          </a:prstGeom>
        </p:spPr>
      </p:pic>
      <p:pic>
        <p:nvPicPr>
          <p:cNvPr id="87" name="Image 9" descr="/tmp/claude-0/-home-claude/464e32f6-6cab-5bf8-83b9-d9d9487214ed/scratchpad/icons/png/eventbridg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02050" y="3441700"/>
            <a:ext cx="203200" cy="203200"/>
          </a:xfrm>
          <a:prstGeom prst="rect">
            <a:avLst/>
          </a:prstGeom>
        </p:spPr>
      </p:pic>
      <p:pic>
        <p:nvPicPr>
          <p:cNvPr id="88" name="Image 10" descr="/tmp/claude-0/-home-claude/464e32f6-6cab-5bf8-83b9-d9d9487214ed/scratchpad/icons/png/sq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8800" y="3441700"/>
            <a:ext cx="203200" cy="203200"/>
          </a:xfrm>
          <a:prstGeom prst="rect">
            <a:avLst/>
          </a:prstGeom>
        </p:spPr>
      </p:pic>
      <p:pic>
        <p:nvPicPr>
          <p:cNvPr id="89" name="Image 11" descr="/tmp/claude-0/-home-claude/464e32f6-6cab-5bf8-83b9-d9d9487214ed/scratchpad/icons/png/sn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75550" y="3441700"/>
            <a:ext cx="203200" cy="203200"/>
          </a:xfrm>
          <a:prstGeom prst="rect">
            <a:avLst/>
          </a:prstGeom>
        </p:spPr>
      </p:pic>
      <p:pic>
        <p:nvPicPr>
          <p:cNvPr id="90" name="Image 12" descr="/tmp/claude-0/-home-claude/464e32f6-6cab-5bf8-83b9-d9d9487214ed/scratchpad/icons/png/elasticach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16100" y="4610100"/>
            <a:ext cx="203200" cy="203200"/>
          </a:xfrm>
          <a:prstGeom prst="rect">
            <a:avLst/>
          </a:prstGeom>
        </p:spPr>
      </p:pic>
      <p:pic>
        <p:nvPicPr>
          <p:cNvPr id="91" name="Image 13" descr="/tmp/claude-0/-home-claude/464e32f6-6cab-5bf8-83b9-d9d9487214ed/scratchpad/icons/png/rds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0" y="4610100"/>
            <a:ext cx="203200" cy="203200"/>
          </a:xfrm>
          <a:prstGeom prst="rect">
            <a:avLst/>
          </a:prstGeom>
        </p:spPr>
      </p:pic>
      <p:pic>
        <p:nvPicPr>
          <p:cNvPr id="92" name="Image 14" descr="/tmp/claude-0/-home-claude/464e32f6-6cab-5bf8-83b9-d9d9487214ed/scratchpad/icons/png/opensearch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05400" y="4610100"/>
            <a:ext cx="203200" cy="203200"/>
          </a:xfrm>
          <a:prstGeom prst="rect">
            <a:avLst/>
          </a:prstGeom>
        </p:spPr>
      </p:pic>
      <p:pic>
        <p:nvPicPr>
          <p:cNvPr id="93" name="Image 15" descr="/tmp/claude-0/-home-claude/464e32f6-6cab-5bf8-83b9-d9d9487214ed/scratchpad/icons/png/s3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4610100"/>
            <a:ext cx="203200" cy="203200"/>
          </a:xfrm>
          <a:prstGeom prst="rect">
            <a:avLst/>
          </a:prstGeom>
        </p:spPr>
      </p:pic>
      <p:pic>
        <p:nvPicPr>
          <p:cNvPr id="94" name="Image 16" descr="/tmp/claude-0/-home-claude/464e32f6-6cab-5bf8-83b9-d9d9487214ed/scratchpad/icons/png/dynamodb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0" y="4610100"/>
            <a:ext cx="203200" cy="203200"/>
          </a:xfrm>
          <a:prstGeom prst="rect">
            <a:avLst/>
          </a:prstGeom>
        </p:spPr>
      </p:pic>
      <p:pic>
        <p:nvPicPr>
          <p:cNvPr id="95" name="Image 17" descr="/tmp/claude-0/-home-claude/464e32f6-6cab-5bf8-83b9-d9d9487214ed/scratchpad/icons/png/bedrock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33800" y="6197600"/>
            <a:ext cx="215900" cy="215900"/>
          </a:xfrm>
          <a:prstGeom prst="rect">
            <a:avLst/>
          </a:prstGeom>
        </p:spPr>
      </p:pic>
      <p:pic>
        <p:nvPicPr>
          <p:cNvPr id="96" name="Image 18" descr="/tmp/claude-0/-home-claude/464e32f6-6cab-5bf8-83b9-d9d9487214ed/scratchpad/icons/png/agentcor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0" y="6197600"/>
            <a:ext cx="215900" cy="215900"/>
          </a:xfrm>
          <a:prstGeom prst="rect">
            <a:avLst/>
          </a:prstGeom>
        </p:spPr>
      </p:pic>
      <p:pic>
        <p:nvPicPr>
          <p:cNvPr id="97" name="Image 19" descr="/tmp/claude-0/-home-claude/464e32f6-6cab-5bf8-83b9-d9d9487214ed/scratchpad/icons/png/cloudwatch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854200" y="7099300"/>
            <a:ext cx="177800" cy="177800"/>
          </a:xfrm>
          <a:prstGeom prst="rect">
            <a:avLst/>
          </a:prstGeom>
        </p:spPr>
      </p:pic>
      <p:pic>
        <p:nvPicPr>
          <p:cNvPr id="98" name="Image 20" descr="/tmp/claude-0/-home-claude/464e32f6-6cab-5bf8-83b9-d9d9487214ed/scratchpad/icons/png/xra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790950" y="7099300"/>
            <a:ext cx="177800" cy="177800"/>
          </a:xfrm>
          <a:prstGeom prst="rect">
            <a:avLst/>
          </a:prstGeom>
        </p:spPr>
      </p:pic>
      <p:pic>
        <p:nvPicPr>
          <p:cNvPr id="99" name="Image 21" descr="/tmp/claude-0/-home-claude/464e32f6-6cab-5bf8-83b9-d9d9487214ed/scratchpad/icons/png/secrets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27700" y="7099300"/>
            <a:ext cx="177800" cy="177800"/>
          </a:xfrm>
          <a:prstGeom prst="rect">
            <a:avLst/>
          </a:prstGeom>
        </p:spPr>
      </p:pic>
      <p:pic>
        <p:nvPicPr>
          <p:cNvPr id="100" name="Image 22" descr="/tmp/claude-0/-home-claude/464e32f6-6cab-5bf8-83b9-d9d9487214ed/scratchpad/icons/png/iam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64450" y="7099300"/>
            <a:ext cx="1778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2600"/>
          </a:xfrm>
          <a:prstGeom prst="rect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77800" y="63500"/>
            <a:ext cx="793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Scaling View: How Each Service Scales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128000" y="63500"/>
            <a:ext cx="388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for web traffic · SQS for work that can wait · S3 events start ingestion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52400" y="952500"/>
            <a:ext cx="889000" cy="444500"/>
          </a:xfrm>
          <a:prstGeom prst="roundRect">
            <a:avLst>
              <a:gd name="adj" fmla="val 12343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2400" y="1587500"/>
            <a:ext cx="889000" cy="444500"/>
          </a:xfrm>
          <a:prstGeom prst="roundRect">
            <a:avLst>
              <a:gd name="adj" fmla="val 12343"/>
            </a:avLst>
          </a:prstGeom>
          <a:solidFill>
            <a:srgbClr val="FCE7F3"/>
          </a:solidFill>
          <a:ln w="12700">
            <a:solidFill>
              <a:srgbClr val="DB7AA5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users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console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2400" y="2222500"/>
            <a:ext cx="889000" cy="444500"/>
          </a:xfrm>
          <a:prstGeom prst="roundRect">
            <a:avLst>
              <a:gd name="adj" fmla="val 12343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44600" y="952500"/>
            <a:ext cx="1079500" cy="571500"/>
          </a:xfrm>
          <a:prstGeom prst="roundRect">
            <a:avLst>
              <a:gd name="adj" fmla="val 9600"/>
            </a:avLst>
          </a:prstGeom>
          <a:solidFill>
            <a:srgbClr val="1F3B63"/>
          </a:solidFill>
          <a:ln w="12700">
            <a:solidFill>
              <a:srgbClr val="16304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· Shield</a:t>
            </a:r>
            <a:endParaRPr lang="en-US" sz="850" dirty="0"/>
          </a:p>
        </p:txBody>
      </p:sp>
      <p:pic>
        <p:nvPicPr>
          <p:cNvPr id="9" name="Image 0" descr="/tmp/claude-0/-home-claude/464e32f6-6cab-5bf8-83b9-d9d9487214ed/scratchpad/icons/png/cloud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5500" y="1295400"/>
            <a:ext cx="190500" cy="190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44600" y="1663700"/>
            <a:ext cx="1079500" cy="444500"/>
          </a:xfrm>
          <a:prstGeom prst="roundRect">
            <a:avLst>
              <a:gd name="adj" fmla="val 12343"/>
            </a:avLst>
          </a:prstGeom>
          <a:solidFill>
            <a:srgbClr val="1F3B63"/>
          </a:solidFill>
          <a:ln w="12700">
            <a:solidFill>
              <a:srgbClr val="16304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sign-in</a:t>
            </a:r>
            <a:endParaRPr lang="en-US" sz="850" dirty="0"/>
          </a:p>
        </p:txBody>
      </p:sp>
      <p:pic>
        <p:nvPicPr>
          <p:cNvPr id="11" name="Image 1" descr="/tmp/claude-0/-home-claude/464e32f6-6cab-5bf8-83b9-d9d9487214ed/scratchpad/icons/png/cogni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200" y="1879600"/>
            <a:ext cx="177800" cy="177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41400" y="1174750"/>
            <a:ext cx="1905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1041400" y="1809750"/>
            <a:ext cx="1016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flipV="1">
            <a:off x="1143000" y="1301750"/>
            <a:ext cx="0" cy="5080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43000" y="1301750"/>
            <a:ext cx="889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1041400" y="2444750"/>
            <a:ext cx="1016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 flipV="1">
            <a:off x="1143000" y="1809750"/>
            <a:ext cx="0" cy="6350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514600" y="762000"/>
            <a:ext cx="762000" cy="2984500"/>
          </a:xfrm>
          <a:prstGeom prst="roundRect">
            <a:avLst>
              <a:gd name="adj" fmla="val 72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subnets · 2 AZs · routes /chat, /hr, /upload</a:t>
            </a:r>
            <a:endParaRPr lang="en-US" sz="1000" dirty="0"/>
          </a:p>
        </p:txBody>
      </p:sp>
      <p:pic>
        <p:nvPicPr>
          <p:cNvPr id="19" name="Image 2" descr="/tmp/claude-0/-home-claude/464e32f6-6cab-5bf8-83b9-d9d9487214ed/scratchpad/icons/png/a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400" y="3302000"/>
            <a:ext cx="355600" cy="3556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2324100" y="1238250"/>
            <a:ext cx="1778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3467100" y="609600"/>
            <a:ext cx="6096000" cy="3873500"/>
          </a:xfrm>
          <a:prstGeom prst="roundRect">
            <a:avLst>
              <a:gd name="adj" fmla="val 2361"/>
            </a:avLst>
          </a:prstGeom>
          <a:solidFill>
            <a:srgbClr val="EEF2F8"/>
          </a:solidFill>
          <a:ln w="12700">
            <a:solidFill>
              <a:srgbClr val="93AED6"/>
            </a:solidFill>
            <a:prstDash val="dash"/>
          </a:ln>
        </p:spPr>
      </p:sp>
      <p:sp>
        <p:nvSpPr>
          <p:cNvPr id="22" name="Text 17"/>
          <p:cNvSpPr txBox="1"/>
          <p:nvPr/>
        </p:nvSpPr>
        <p:spPr>
          <a:xfrm>
            <a:off x="3530600" y="635000"/>
            <a:ext cx="5969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ECS on Fargate · private subnets · Service Connect between services</a:t>
            </a:r>
            <a:endParaRPr lang="en-US" sz="850" dirty="0"/>
          </a:p>
        </p:txBody>
      </p:sp>
      <p:pic>
        <p:nvPicPr>
          <p:cNvPr id="23" name="Image 3" descr="/tmp/claude-0/-home-claude/464e32f6-6cab-5bf8-83b9-d9d9487214ed/scratchpad/icons/png/farg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9100" y="635000"/>
            <a:ext cx="203200" cy="2032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581400" y="787400"/>
            <a:ext cx="184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(behind ALB)</a:t>
            </a:r>
            <a:endParaRPr lang="en-US" sz="850" dirty="0"/>
          </a:p>
        </p:txBody>
      </p:sp>
      <p:sp>
        <p:nvSpPr>
          <p:cNvPr id="25" name="Text 19"/>
          <p:cNvSpPr txBox="1"/>
          <p:nvPr/>
        </p:nvSpPr>
        <p:spPr>
          <a:xfrm>
            <a:off x="5588000" y="787400"/>
            <a:ext cx="184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(internal, sync)</a:t>
            </a:r>
            <a:endParaRPr lang="en-US" sz="850" dirty="0"/>
          </a:p>
        </p:txBody>
      </p:sp>
      <p:sp>
        <p:nvSpPr>
          <p:cNvPr id="26" name="Text 20"/>
          <p:cNvSpPr txBox="1"/>
          <p:nvPr/>
        </p:nvSpPr>
        <p:spPr>
          <a:xfrm>
            <a:off x="7594600" y="787400"/>
            <a:ext cx="184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(queue-fed)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3581400" y="1003300"/>
            <a:ext cx="1841500" cy="406400"/>
          </a:xfrm>
          <a:prstGeom prst="roundRect">
            <a:avLst>
              <a:gd name="adj" fmla="val 135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Gateway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on open SSE connections · min 2, max [INSERT]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3581400" y="1003300"/>
            <a:ext cx="18415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632200" y="946150"/>
            <a:ext cx="503745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</a:t>
            </a:r>
            <a:endParaRPr lang="en-US" sz="650" dirty="0"/>
          </a:p>
        </p:txBody>
      </p:sp>
      <p:sp>
        <p:nvSpPr>
          <p:cNvPr id="30" name="Text 24"/>
          <p:cNvSpPr/>
          <p:nvPr/>
        </p:nvSpPr>
        <p:spPr>
          <a:xfrm>
            <a:off x="3581400" y="1536700"/>
            <a:ext cx="1841500" cy="406400"/>
          </a:xfrm>
          <a:prstGeom prst="roundRect">
            <a:avLst>
              <a:gd name="adj" fmla="val 13500"/>
            </a:avLst>
          </a:prstGeom>
          <a:solidFill>
            <a:srgbClr val="4A2B8F"/>
          </a:solidFill>
          <a:ln w="12700">
            <a:solidFill>
              <a:srgbClr val="3A2072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E9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progress / CPU · min 2 · or AgentCore Runtime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3581400" y="1536700"/>
            <a:ext cx="18415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632200" y="1479550"/>
            <a:ext cx="503745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</a:t>
            </a:r>
            <a:endParaRPr lang="en-US" sz="650" dirty="0"/>
          </a:p>
        </p:txBody>
      </p:sp>
      <p:sp>
        <p:nvSpPr>
          <p:cNvPr id="33" name="Text 27"/>
          <p:cNvSpPr/>
          <p:nvPr/>
        </p:nvSpPr>
        <p:spPr>
          <a:xfrm>
            <a:off x="3581400" y="2070100"/>
            <a:ext cx="1841500" cy="406400"/>
          </a:xfrm>
          <a:prstGeom prst="roundRect">
            <a:avLst>
              <a:gd name="adj" fmla="val 13500"/>
            </a:avLst>
          </a:prstGeom>
          <a:solidFill>
            <a:srgbClr val="FFF1D6"/>
          </a:solidFill>
          <a:ln w="12700">
            <a:solidFill>
              <a:srgbClr val="E9B04E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on requests · min 2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3581400" y="2070100"/>
            <a:ext cx="18415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632200" y="2012950"/>
            <a:ext cx="503745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</a:t>
            </a:r>
            <a:endParaRPr lang="en-US" sz="650" dirty="0"/>
          </a:p>
        </p:txBody>
      </p:sp>
      <p:sp>
        <p:nvSpPr>
          <p:cNvPr id="36" name="Text 30"/>
          <p:cNvSpPr/>
          <p:nvPr/>
        </p:nvSpPr>
        <p:spPr>
          <a:xfrm>
            <a:off x="3581400" y="2603500"/>
            <a:ext cx="1841500" cy="406400"/>
          </a:xfrm>
          <a:prstGeom prst="roundRect">
            <a:avLst>
              <a:gd name="adj" fmla="val 13500"/>
            </a:avLst>
          </a:prstGeom>
          <a:solidFill>
            <a:srgbClr val="FCE7F3"/>
          </a:solidFill>
          <a:ln w="12700">
            <a:solidFill>
              <a:srgbClr val="DB7AA5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Console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requests per task · min 1 · SLA timers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3581400" y="2603500"/>
            <a:ext cx="18415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3632200" y="2546350"/>
            <a:ext cx="503745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</a:t>
            </a:r>
            <a:endParaRPr lang="en-US" sz="650" dirty="0"/>
          </a:p>
        </p:txBody>
      </p:sp>
      <p:sp>
        <p:nvSpPr>
          <p:cNvPr id="39" name="Text 33"/>
          <p:cNvSpPr/>
          <p:nvPr/>
        </p:nvSpPr>
        <p:spPr>
          <a:xfrm>
            <a:off x="3581400" y="3136900"/>
            <a:ext cx="1841500" cy="406400"/>
          </a:xfrm>
          <a:prstGeom prst="roundRect">
            <a:avLst>
              <a:gd name="adj" fmla="val 135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API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· min 1 · gives a presigned S3 URL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3581400" y="3136900"/>
            <a:ext cx="18415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3632200" y="3079750"/>
            <a:ext cx="503745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</a:t>
            </a:r>
            <a:endParaRPr lang="en-US" sz="650" dirty="0"/>
          </a:p>
        </p:txBody>
      </p:sp>
      <p:sp>
        <p:nvSpPr>
          <p:cNvPr id="42" name="Text 36"/>
          <p:cNvSpPr/>
          <p:nvPr/>
        </p:nvSpPr>
        <p:spPr>
          <a:xfrm>
            <a:off x="3581400" y="3670300"/>
            <a:ext cx="1841500" cy="406400"/>
          </a:xfrm>
          <a:prstGeom prst="roundRect">
            <a:avLst>
              <a:gd name="adj" fmla="val 135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Evaluation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backlog · nightly eval jobs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3581400" y="3670300"/>
            <a:ext cx="18415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3632200" y="3613150"/>
            <a:ext cx="503745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</a:t>
            </a:r>
            <a:endParaRPr lang="en-US" sz="650" dirty="0"/>
          </a:p>
        </p:txBody>
      </p:sp>
      <p:sp>
        <p:nvSpPr>
          <p:cNvPr id="45" name="Text 39"/>
          <p:cNvSpPr/>
          <p:nvPr/>
        </p:nvSpPr>
        <p:spPr>
          <a:xfrm>
            <a:off x="5588000" y="1003300"/>
            <a:ext cx="1841500" cy="406400"/>
          </a:xfrm>
          <a:prstGeom prst="roundRect">
            <a:avLst>
              <a:gd name="adj" fmla="val 135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Retrieval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(reranker) · min 2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5588000" y="1003300"/>
            <a:ext cx="18415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5638800" y="946150"/>
            <a:ext cx="503745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</a:t>
            </a:r>
            <a:endParaRPr lang="en-US" sz="650" dirty="0"/>
          </a:p>
        </p:txBody>
      </p:sp>
      <p:sp>
        <p:nvSpPr>
          <p:cNvPr id="48" name="Text 42"/>
          <p:cNvSpPr/>
          <p:nvPr/>
        </p:nvSpPr>
        <p:spPr>
          <a:xfrm>
            <a:off x="5588000" y="1536700"/>
            <a:ext cx="1841500" cy="406400"/>
          </a:xfrm>
          <a:prstGeom prst="roundRect">
            <a:avLst>
              <a:gd name="adj" fmla="val 135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Rules &amp; Calc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· min 1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5588000" y="1536700"/>
            <a:ext cx="18415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638800" y="1479550"/>
            <a:ext cx="503745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</a:t>
            </a:r>
            <a:endParaRPr lang="en-US" sz="650" dirty="0"/>
          </a:p>
        </p:txBody>
      </p:sp>
      <p:sp>
        <p:nvSpPr>
          <p:cNvPr id="51" name="Text 45"/>
          <p:cNvSpPr/>
          <p:nvPr/>
        </p:nvSpPr>
        <p:spPr>
          <a:xfrm>
            <a:off x="5588000" y="2070100"/>
            <a:ext cx="1841500" cy="406400"/>
          </a:xfrm>
          <a:prstGeom prst="roundRect">
            <a:avLst>
              <a:gd name="adj" fmla="val 135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HRB_LMS_OPS MCP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· min 1</a:t>
            </a:r>
            <a:endParaRPr lang="en-US" sz="850" dirty="0"/>
          </a:p>
        </p:txBody>
      </p:sp>
      <p:sp>
        <p:nvSpPr>
          <p:cNvPr id="52" name="Shape 46"/>
          <p:cNvSpPr/>
          <p:nvPr/>
        </p:nvSpPr>
        <p:spPr>
          <a:xfrm>
            <a:off x="5588000" y="2070100"/>
            <a:ext cx="18415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5638800" y="2012950"/>
            <a:ext cx="746442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 · own</a:t>
            </a:r>
            <a:endParaRPr lang="en-US" sz="650" dirty="0"/>
          </a:p>
        </p:txBody>
      </p:sp>
      <p:sp>
        <p:nvSpPr>
          <p:cNvPr id="54" name="Text 48"/>
          <p:cNvSpPr/>
          <p:nvPr/>
        </p:nvSpPr>
        <p:spPr>
          <a:xfrm>
            <a:off x="5588000" y="2603500"/>
            <a:ext cx="1841500" cy="406400"/>
          </a:xfrm>
          <a:prstGeom prst="roundRect">
            <a:avLst>
              <a:gd name="adj" fmla="val 135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HRB_LMS_ANALYTICS MCP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· min 1</a:t>
            </a:r>
            <a:endParaRPr lang="en-US" sz="850" dirty="0"/>
          </a:p>
        </p:txBody>
      </p:sp>
      <p:sp>
        <p:nvSpPr>
          <p:cNvPr id="55" name="Shape 49"/>
          <p:cNvSpPr/>
          <p:nvPr/>
        </p:nvSpPr>
        <p:spPr>
          <a:xfrm>
            <a:off x="5588000" y="2603500"/>
            <a:ext cx="18415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1F2A4A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5638800" y="2546350"/>
            <a:ext cx="746442" cy="101600"/>
          </a:xfrm>
          <a:prstGeom prst="roundRect">
            <a:avLst>
              <a:gd name="adj" fmla="val 45000"/>
            </a:avLst>
          </a:prstGeom>
          <a:solidFill>
            <a:srgbClr val="1F2A4A"/>
          </a:solidFill>
          <a:ln w="9525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SERVICE · own</a:t>
            </a:r>
            <a:endParaRPr lang="en-US" sz="650" dirty="0"/>
          </a:p>
        </p:txBody>
      </p:sp>
      <p:sp>
        <p:nvSpPr>
          <p:cNvPr id="57" name="Text 51"/>
          <p:cNvSpPr/>
          <p:nvPr/>
        </p:nvSpPr>
        <p:spPr>
          <a:xfrm>
            <a:off x="5588000" y="3136900"/>
            <a:ext cx="1841500" cy="406400"/>
          </a:xfrm>
          <a:prstGeom prst="roundRect">
            <a:avLst>
              <a:gd name="adj" fmla="val 13500"/>
            </a:avLst>
          </a:prstGeom>
          <a:solidFill>
            <a:srgbClr val="FDE3E2"/>
          </a:solidFill>
          <a:ln w="12700">
            <a:solidFill>
              <a:srgbClr val="EC8A8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invalidation handler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backlog · 0 → N</a:t>
            </a:r>
            <a:endParaRPr lang="en-US" sz="850" dirty="0"/>
          </a:p>
        </p:txBody>
      </p:sp>
      <p:sp>
        <p:nvSpPr>
          <p:cNvPr id="58" name="Shape 52"/>
          <p:cNvSpPr/>
          <p:nvPr/>
        </p:nvSpPr>
        <p:spPr>
          <a:xfrm>
            <a:off x="5588000" y="3136900"/>
            <a:ext cx="18415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5638800" y="3079750"/>
            <a:ext cx="463296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50" dirty="0"/>
          </a:p>
        </p:txBody>
      </p:sp>
      <p:sp>
        <p:nvSpPr>
          <p:cNvPr id="60" name="Text 54"/>
          <p:cNvSpPr/>
          <p:nvPr/>
        </p:nvSpPr>
        <p:spPr>
          <a:xfrm>
            <a:off x="5588000" y="3670300"/>
            <a:ext cx="1841500" cy="406400"/>
          </a:xfrm>
          <a:prstGeom prst="roundRect">
            <a:avLst>
              <a:gd name="adj" fmla="val 1350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backlog · 0 → N</a:t>
            </a:r>
            <a:endParaRPr lang="en-US" sz="850" dirty="0"/>
          </a:p>
        </p:txBody>
      </p:sp>
      <p:sp>
        <p:nvSpPr>
          <p:cNvPr id="61" name="Shape 55"/>
          <p:cNvSpPr/>
          <p:nvPr/>
        </p:nvSpPr>
        <p:spPr>
          <a:xfrm>
            <a:off x="5588000" y="3670300"/>
            <a:ext cx="18415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5638800" y="3613150"/>
            <a:ext cx="463296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50" dirty="0"/>
          </a:p>
        </p:txBody>
      </p:sp>
      <p:sp>
        <p:nvSpPr>
          <p:cNvPr id="63" name="Text 57"/>
          <p:cNvSpPr/>
          <p:nvPr/>
        </p:nvSpPr>
        <p:spPr>
          <a:xfrm>
            <a:off x="7594600" y="1003300"/>
            <a:ext cx="1841500" cy="406400"/>
          </a:xfrm>
          <a:prstGeom prst="roundRect">
            <a:avLst>
              <a:gd name="adj" fmla="val 13500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doc_load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backlog per task · 0 → N</a:t>
            </a:r>
            <a:endParaRPr lang="en-US" sz="850" dirty="0"/>
          </a:p>
        </p:txBody>
      </p:sp>
      <p:sp>
        <p:nvSpPr>
          <p:cNvPr id="64" name="Shape 58"/>
          <p:cNvSpPr/>
          <p:nvPr/>
        </p:nvSpPr>
        <p:spPr>
          <a:xfrm>
            <a:off x="7594600" y="1003300"/>
            <a:ext cx="18415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7645400" y="946150"/>
            <a:ext cx="463296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50" dirty="0"/>
          </a:p>
        </p:txBody>
      </p:sp>
      <p:sp>
        <p:nvSpPr>
          <p:cNvPr id="66" name="Text 60"/>
          <p:cNvSpPr/>
          <p:nvPr/>
        </p:nvSpPr>
        <p:spPr>
          <a:xfrm>
            <a:off x="8772906" y="946150"/>
            <a:ext cx="625094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Spot</a:t>
            </a:r>
            <a:endParaRPr lang="en-US" sz="650" dirty="0"/>
          </a:p>
        </p:txBody>
      </p:sp>
      <p:sp>
        <p:nvSpPr>
          <p:cNvPr id="67" name="Text 61"/>
          <p:cNvSpPr/>
          <p:nvPr/>
        </p:nvSpPr>
        <p:spPr>
          <a:xfrm>
            <a:off x="7594600" y="1638300"/>
            <a:ext cx="1841500" cy="406400"/>
          </a:xfrm>
          <a:prstGeom prst="roundRect">
            <a:avLst>
              <a:gd name="adj" fmla="val 13500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extract_chunk (OCR)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backlog per task · 0 → N · most CPU</a:t>
            </a:r>
            <a:endParaRPr lang="en-US" sz="850" dirty="0"/>
          </a:p>
        </p:txBody>
      </p:sp>
      <p:sp>
        <p:nvSpPr>
          <p:cNvPr id="68" name="Shape 62"/>
          <p:cNvSpPr/>
          <p:nvPr/>
        </p:nvSpPr>
        <p:spPr>
          <a:xfrm>
            <a:off x="7594600" y="1638300"/>
            <a:ext cx="18415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7645400" y="1581150"/>
            <a:ext cx="463296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50" dirty="0"/>
          </a:p>
        </p:txBody>
      </p:sp>
      <p:sp>
        <p:nvSpPr>
          <p:cNvPr id="70" name="Text 64"/>
          <p:cNvSpPr/>
          <p:nvPr/>
        </p:nvSpPr>
        <p:spPr>
          <a:xfrm>
            <a:off x="8772906" y="1581150"/>
            <a:ext cx="625094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Spot</a:t>
            </a:r>
            <a:endParaRPr lang="en-US" sz="650" dirty="0"/>
          </a:p>
        </p:txBody>
      </p:sp>
      <p:sp>
        <p:nvSpPr>
          <p:cNvPr id="71" name="Text 65"/>
          <p:cNvSpPr/>
          <p:nvPr/>
        </p:nvSpPr>
        <p:spPr>
          <a:xfrm>
            <a:off x="7594600" y="2273300"/>
            <a:ext cx="1841500" cy="406400"/>
          </a:xfrm>
          <a:prstGeom prst="roundRect">
            <a:avLst>
              <a:gd name="adj" fmla="val 13500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backlog per task · 0 → N</a:t>
            </a:r>
            <a:endParaRPr lang="en-US" sz="850" dirty="0"/>
          </a:p>
        </p:txBody>
      </p:sp>
      <p:sp>
        <p:nvSpPr>
          <p:cNvPr id="72" name="Shape 66"/>
          <p:cNvSpPr/>
          <p:nvPr/>
        </p:nvSpPr>
        <p:spPr>
          <a:xfrm>
            <a:off x="7594600" y="2273300"/>
            <a:ext cx="18415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73" name="Text 67"/>
          <p:cNvSpPr/>
          <p:nvPr/>
        </p:nvSpPr>
        <p:spPr>
          <a:xfrm>
            <a:off x="7645400" y="2216150"/>
            <a:ext cx="463296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50" dirty="0"/>
          </a:p>
        </p:txBody>
      </p:sp>
      <p:sp>
        <p:nvSpPr>
          <p:cNvPr id="74" name="Text 68"/>
          <p:cNvSpPr/>
          <p:nvPr/>
        </p:nvSpPr>
        <p:spPr>
          <a:xfrm>
            <a:off x="8772906" y="2216150"/>
            <a:ext cx="625094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Spot</a:t>
            </a:r>
            <a:endParaRPr lang="en-US" sz="650" dirty="0"/>
          </a:p>
        </p:txBody>
      </p:sp>
      <p:sp>
        <p:nvSpPr>
          <p:cNvPr id="75" name="Text 69"/>
          <p:cNvSpPr/>
          <p:nvPr/>
        </p:nvSpPr>
        <p:spPr>
          <a:xfrm>
            <a:off x="7594600" y="2908300"/>
            <a:ext cx="1841500" cy="406400"/>
          </a:xfrm>
          <a:prstGeom prst="roundRect">
            <a:avLst>
              <a:gd name="adj" fmla="val 13500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writer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backlog · 0 → N</a:t>
            </a:r>
            <a:endParaRPr lang="en-US" sz="850" dirty="0"/>
          </a:p>
        </p:txBody>
      </p:sp>
      <p:sp>
        <p:nvSpPr>
          <p:cNvPr id="76" name="Shape 70"/>
          <p:cNvSpPr/>
          <p:nvPr/>
        </p:nvSpPr>
        <p:spPr>
          <a:xfrm>
            <a:off x="7594600" y="2908300"/>
            <a:ext cx="18415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77" name="Text 71"/>
          <p:cNvSpPr/>
          <p:nvPr/>
        </p:nvSpPr>
        <p:spPr>
          <a:xfrm>
            <a:off x="7645400" y="2851150"/>
            <a:ext cx="463296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WORKER</a:t>
            </a:r>
            <a:endParaRPr lang="en-US" sz="650" dirty="0"/>
          </a:p>
        </p:txBody>
      </p:sp>
      <p:sp>
        <p:nvSpPr>
          <p:cNvPr id="78" name="Text 72"/>
          <p:cNvSpPr/>
          <p:nvPr/>
        </p:nvSpPr>
        <p:spPr>
          <a:xfrm>
            <a:off x="8772906" y="2851150"/>
            <a:ext cx="625094" cy="101600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Spot</a:t>
            </a:r>
            <a:endParaRPr lang="en-US" sz="650" dirty="0"/>
          </a:p>
        </p:txBody>
      </p:sp>
      <p:sp>
        <p:nvSpPr>
          <p:cNvPr id="79" name="Shape 73"/>
          <p:cNvSpPr/>
          <p:nvPr/>
        </p:nvSpPr>
        <p:spPr>
          <a:xfrm>
            <a:off x="8356600" y="1460500"/>
            <a:ext cx="82550" cy="8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  <a:prstDash val="solid"/>
          </a:ln>
        </p:spPr>
      </p:sp>
      <p:sp>
        <p:nvSpPr>
          <p:cNvPr id="80" name="Shape 74"/>
          <p:cNvSpPr/>
          <p:nvPr/>
        </p:nvSpPr>
        <p:spPr>
          <a:xfrm>
            <a:off x="8458200" y="1460500"/>
            <a:ext cx="82550" cy="8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  <a:prstDash val="solid"/>
          </a:ln>
        </p:spPr>
      </p:sp>
      <p:sp>
        <p:nvSpPr>
          <p:cNvPr id="81" name="Shape 75"/>
          <p:cNvSpPr/>
          <p:nvPr/>
        </p:nvSpPr>
        <p:spPr>
          <a:xfrm>
            <a:off x="8559800" y="1460500"/>
            <a:ext cx="82550" cy="8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  <a:prstDash val="solid"/>
          </a:ln>
        </p:spPr>
      </p:sp>
      <p:sp>
        <p:nvSpPr>
          <p:cNvPr id="82" name="Shape 76"/>
          <p:cNvSpPr/>
          <p:nvPr/>
        </p:nvSpPr>
        <p:spPr>
          <a:xfrm>
            <a:off x="8515350" y="1409700"/>
            <a:ext cx="0" cy="50800"/>
          </a:xfrm>
          <a:prstGeom prst="line">
            <a:avLst/>
          </a:prstGeom>
          <a:noFill/>
          <a:ln w="17780">
            <a:solidFill>
              <a:srgbClr val="F08C00"/>
            </a:solidFill>
            <a:prstDash val="solid"/>
          </a:ln>
        </p:spPr>
      </p:sp>
      <p:sp>
        <p:nvSpPr>
          <p:cNvPr id="83" name="Shape 77"/>
          <p:cNvSpPr/>
          <p:nvPr/>
        </p:nvSpPr>
        <p:spPr>
          <a:xfrm>
            <a:off x="8515350" y="1543050"/>
            <a:ext cx="0" cy="82550"/>
          </a:xfrm>
          <a:prstGeom prst="line">
            <a:avLst/>
          </a:prstGeom>
          <a:noFill/>
          <a:ln w="17780">
            <a:solidFill>
              <a:srgbClr val="F08C00"/>
            </a:solidFill>
            <a:prstDash val="solid"/>
            <a:tailEnd type="triangle"/>
          </a:ln>
        </p:spPr>
      </p:sp>
      <p:sp>
        <p:nvSpPr>
          <p:cNvPr id="84" name="Shape 78"/>
          <p:cNvSpPr/>
          <p:nvPr/>
        </p:nvSpPr>
        <p:spPr>
          <a:xfrm>
            <a:off x="8356600" y="2095500"/>
            <a:ext cx="82550" cy="8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  <a:prstDash val="solid"/>
          </a:ln>
        </p:spPr>
      </p:sp>
      <p:sp>
        <p:nvSpPr>
          <p:cNvPr id="85" name="Shape 79"/>
          <p:cNvSpPr/>
          <p:nvPr/>
        </p:nvSpPr>
        <p:spPr>
          <a:xfrm>
            <a:off x="8458200" y="2095500"/>
            <a:ext cx="82550" cy="8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  <a:prstDash val="solid"/>
          </a:ln>
        </p:spPr>
      </p:sp>
      <p:sp>
        <p:nvSpPr>
          <p:cNvPr id="86" name="Shape 80"/>
          <p:cNvSpPr/>
          <p:nvPr/>
        </p:nvSpPr>
        <p:spPr>
          <a:xfrm>
            <a:off x="8559800" y="2095500"/>
            <a:ext cx="82550" cy="8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  <a:prstDash val="solid"/>
          </a:ln>
        </p:spPr>
      </p:sp>
      <p:sp>
        <p:nvSpPr>
          <p:cNvPr id="87" name="Shape 81"/>
          <p:cNvSpPr/>
          <p:nvPr/>
        </p:nvSpPr>
        <p:spPr>
          <a:xfrm>
            <a:off x="8515350" y="2044700"/>
            <a:ext cx="0" cy="50800"/>
          </a:xfrm>
          <a:prstGeom prst="line">
            <a:avLst/>
          </a:prstGeom>
          <a:noFill/>
          <a:ln w="17780">
            <a:solidFill>
              <a:srgbClr val="F08C00"/>
            </a:solidFill>
            <a:prstDash val="solid"/>
          </a:ln>
        </p:spPr>
      </p:sp>
      <p:sp>
        <p:nvSpPr>
          <p:cNvPr id="88" name="Shape 82"/>
          <p:cNvSpPr/>
          <p:nvPr/>
        </p:nvSpPr>
        <p:spPr>
          <a:xfrm>
            <a:off x="8515350" y="2178050"/>
            <a:ext cx="0" cy="82550"/>
          </a:xfrm>
          <a:prstGeom prst="line">
            <a:avLst/>
          </a:prstGeom>
          <a:noFill/>
          <a:ln w="17780">
            <a:solidFill>
              <a:srgbClr val="F08C00"/>
            </a:solidFill>
            <a:prstDash val="solid"/>
            <a:tailEnd type="triangle"/>
          </a:ln>
        </p:spPr>
      </p:sp>
      <p:sp>
        <p:nvSpPr>
          <p:cNvPr id="89" name="Shape 83"/>
          <p:cNvSpPr/>
          <p:nvPr/>
        </p:nvSpPr>
        <p:spPr>
          <a:xfrm>
            <a:off x="8356600" y="2730500"/>
            <a:ext cx="82550" cy="8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  <a:prstDash val="solid"/>
          </a:ln>
        </p:spPr>
      </p:sp>
      <p:sp>
        <p:nvSpPr>
          <p:cNvPr id="90" name="Shape 84"/>
          <p:cNvSpPr/>
          <p:nvPr/>
        </p:nvSpPr>
        <p:spPr>
          <a:xfrm>
            <a:off x="8458200" y="2730500"/>
            <a:ext cx="82550" cy="8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  <a:prstDash val="solid"/>
          </a:ln>
        </p:spPr>
      </p:sp>
      <p:sp>
        <p:nvSpPr>
          <p:cNvPr id="91" name="Shape 85"/>
          <p:cNvSpPr/>
          <p:nvPr/>
        </p:nvSpPr>
        <p:spPr>
          <a:xfrm>
            <a:off x="8559800" y="2730500"/>
            <a:ext cx="82550" cy="8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  <a:prstDash val="solid"/>
          </a:ln>
        </p:spPr>
      </p:sp>
      <p:sp>
        <p:nvSpPr>
          <p:cNvPr id="92" name="Shape 86"/>
          <p:cNvSpPr/>
          <p:nvPr/>
        </p:nvSpPr>
        <p:spPr>
          <a:xfrm>
            <a:off x="8515350" y="2679700"/>
            <a:ext cx="0" cy="50800"/>
          </a:xfrm>
          <a:prstGeom prst="line">
            <a:avLst/>
          </a:prstGeom>
          <a:noFill/>
          <a:ln w="17780">
            <a:solidFill>
              <a:srgbClr val="F08C00"/>
            </a:solidFill>
            <a:prstDash val="solid"/>
          </a:ln>
        </p:spPr>
      </p:sp>
      <p:sp>
        <p:nvSpPr>
          <p:cNvPr id="93" name="Shape 87"/>
          <p:cNvSpPr/>
          <p:nvPr/>
        </p:nvSpPr>
        <p:spPr>
          <a:xfrm>
            <a:off x="8515350" y="2813050"/>
            <a:ext cx="0" cy="82550"/>
          </a:xfrm>
          <a:prstGeom prst="line">
            <a:avLst/>
          </a:prstGeom>
          <a:noFill/>
          <a:ln w="17780">
            <a:solidFill>
              <a:srgbClr val="F08C00"/>
            </a:solidFill>
            <a:prstDash val="solid"/>
            <a:tailEnd type="triangle"/>
          </a:ln>
        </p:spPr>
      </p:sp>
      <p:pic>
        <p:nvPicPr>
          <p:cNvPr id="94" name="Image 4" descr="/tmp/claude-0/-home-claude/464e32f6-6cab-5bf8-83b9-d9d9487214ed/scratchpad/icons/png/sq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2200" y="1435100"/>
            <a:ext cx="139700" cy="139700"/>
          </a:xfrm>
          <a:prstGeom prst="rect">
            <a:avLst/>
          </a:prstGeom>
        </p:spPr>
      </p:pic>
      <p:sp>
        <p:nvSpPr>
          <p:cNvPr id="95" name="Text 88"/>
          <p:cNvSpPr txBox="1"/>
          <p:nvPr/>
        </p:nvSpPr>
        <p:spPr>
          <a:xfrm>
            <a:off x="8877300" y="1460500"/>
            <a:ext cx="5715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+ DLQ</a:t>
            </a:r>
            <a:endParaRPr lang="en-US" sz="650" dirty="0"/>
          </a:p>
        </p:txBody>
      </p:sp>
      <p:sp>
        <p:nvSpPr>
          <p:cNvPr id="96" name="Shape 89"/>
          <p:cNvSpPr/>
          <p:nvPr/>
        </p:nvSpPr>
        <p:spPr>
          <a:xfrm>
            <a:off x="3276600" y="1206500"/>
            <a:ext cx="2921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97" name="Shape 90"/>
          <p:cNvSpPr/>
          <p:nvPr/>
        </p:nvSpPr>
        <p:spPr>
          <a:xfrm>
            <a:off x="3276600" y="2806700"/>
            <a:ext cx="2921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98" name="Shape 91"/>
          <p:cNvSpPr/>
          <p:nvPr/>
        </p:nvSpPr>
        <p:spPr>
          <a:xfrm>
            <a:off x="3276600" y="3340100"/>
            <a:ext cx="2921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99" name="Shape 92"/>
          <p:cNvSpPr/>
          <p:nvPr/>
        </p:nvSpPr>
        <p:spPr>
          <a:xfrm>
            <a:off x="3835400" y="1409700"/>
            <a:ext cx="0" cy="1143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00" name="Shape 93"/>
          <p:cNvSpPr/>
          <p:nvPr/>
        </p:nvSpPr>
        <p:spPr>
          <a:xfrm>
            <a:off x="3835400" y="1943100"/>
            <a:ext cx="0" cy="1143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01" name="Shape 94"/>
          <p:cNvSpPr/>
          <p:nvPr/>
        </p:nvSpPr>
        <p:spPr>
          <a:xfrm>
            <a:off x="5422900" y="1739900"/>
            <a:ext cx="1016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102" name="Shape 95"/>
          <p:cNvSpPr/>
          <p:nvPr/>
        </p:nvSpPr>
        <p:spPr>
          <a:xfrm flipV="1">
            <a:off x="5524500" y="1206500"/>
            <a:ext cx="0" cy="5334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103" name="Shape 96"/>
          <p:cNvSpPr/>
          <p:nvPr/>
        </p:nvSpPr>
        <p:spPr>
          <a:xfrm>
            <a:off x="5524500" y="1206500"/>
            <a:ext cx="508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04" name="Shape 97"/>
          <p:cNvSpPr/>
          <p:nvPr/>
        </p:nvSpPr>
        <p:spPr>
          <a:xfrm>
            <a:off x="5524500" y="1739900"/>
            <a:ext cx="508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05" name="Shape 98"/>
          <p:cNvSpPr/>
          <p:nvPr/>
        </p:nvSpPr>
        <p:spPr>
          <a:xfrm>
            <a:off x="5524500" y="1739900"/>
            <a:ext cx="0" cy="10668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106" name="Shape 99"/>
          <p:cNvSpPr/>
          <p:nvPr/>
        </p:nvSpPr>
        <p:spPr>
          <a:xfrm>
            <a:off x="5524500" y="2273300"/>
            <a:ext cx="508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07" name="Shape 100"/>
          <p:cNvSpPr/>
          <p:nvPr/>
        </p:nvSpPr>
        <p:spPr>
          <a:xfrm>
            <a:off x="5524500" y="2806700"/>
            <a:ext cx="508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08" name="Text 101"/>
          <p:cNvSpPr/>
          <p:nvPr/>
        </p:nvSpPr>
        <p:spPr>
          <a:xfrm>
            <a:off x="9779000" y="698500"/>
            <a:ext cx="1016000" cy="698500"/>
          </a:xfrm>
          <a:prstGeom prst="roundRect">
            <a:avLst>
              <a:gd name="adj" fmla="val 7855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documents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ObjectCreated / ObjectRemoved events</a:t>
            </a:r>
            <a:endParaRPr lang="en-US" sz="900" dirty="0"/>
          </a:p>
        </p:txBody>
      </p:sp>
      <p:pic>
        <p:nvPicPr>
          <p:cNvPr id="109" name="Image 5" descr="/tmp/claude-0/-home-claude/464e32f6-6cab-5bf8-83b9-d9d9487214ed/scratchpad/icons/png/s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6400" y="736600"/>
            <a:ext cx="190500" cy="190500"/>
          </a:xfrm>
          <a:prstGeom prst="rect">
            <a:avLst/>
          </a:prstGeom>
        </p:spPr>
      </p:pic>
      <p:sp>
        <p:nvSpPr>
          <p:cNvPr id="110" name="Text 102"/>
          <p:cNvSpPr txBox="1"/>
          <p:nvPr/>
        </p:nvSpPr>
        <p:spPr>
          <a:xfrm>
            <a:off x="9779000" y="1435100"/>
            <a:ext cx="107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uploads straight to S3 with the presigned URL</a:t>
            </a:r>
            <a:endParaRPr lang="en-US" sz="850" dirty="0"/>
          </a:p>
        </p:txBody>
      </p:sp>
      <p:sp>
        <p:nvSpPr>
          <p:cNvPr id="111" name="Shape 103"/>
          <p:cNvSpPr/>
          <p:nvPr/>
        </p:nvSpPr>
        <p:spPr>
          <a:xfrm flipH="1">
            <a:off x="9448800" y="1206500"/>
            <a:ext cx="330200" cy="0"/>
          </a:xfrm>
          <a:prstGeom prst="line">
            <a:avLst/>
          </a:prstGeom>
          <a:noFill/>
          <a:ln w="17780">
            <a:solidFill>
              <a:srgbClr val="F08C00"/>
            </a:solidFill>
            <a:prstDash val="solid"/>
            <a:tailEnd type="triangle"/>
          </a:ln>
        </p:spPr>
      </p:sp>
      <p:sp>
        <p:nvSpPr>
          <p:cNvPr id="112" name="Text 104"/>
          <p:cNvSpPr txBox="1"/>
          <p:nvPr/>
        </p:nvSpPr>
        <p:spPr>
          <a:xfrm>
            <a:off x="9474200" y="1092200"/>
            <a:ext cx="3175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650" dirty="0"/>
          </a:p>
        </p:txBody>
      </p:sp>
      <p:sp>
        <p:nvSpPr>
          <p:cNvPr id="113" name="Text 105"/>
          <p:cNvSpPr/>
          <p:nvPr/>
        </p:nvSpPr>
        <p:spPr>
          <a:xfrm>
            <a:off x="9779000" y="2540000"/>
            <a:ext cx="1016000" cy="952500"/>
          </a:xfrm>
          <a:prstGeom prst="roundRect">
            <a:avLst>
              <a:gd name="adj" fmla="val 576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topics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hr-task · decision · doc_version_changed → fan out to SQS</a:t>
            </a:r>
            <a:endParaRPr lang="en-US" sz="900" dirty="0"/>
          </a:p>
        </p:txBody>
      </p:sp>
      <p:pic>
        <p:nvPicPr>
          <p:cNvPr id="114" name="Image 6" descr="/tmp/claude-0/-home-claude/464e32f6-6cab-5bf8-83b9-d9d9487214ed/scratchpad/icons/png/sn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6400" y="2578100"/>
            <a:ext cx="190500" cy="190500"/>
          </a:xfrm>
          <a:prstGeom prst="rect">
            <a:avLst/>
          </a:prstGeom>
        </p:spPr>
      </p:pic>
      <p:sp>
        <p:nvSpPr>
          <p:cNvPr id="115" name="Shape 106"/>
          <p:cNvSpPr/>
          <p:nvPr/>
        </p:nvSpPr>
        <p:spPr>
          <a:xfrm>
            <a:off x="9436100" y="3162300"/>
            <a:ext cx="330200" cy="0"/>
          </a:xfrm>
          <a:prstGeom prst="line">
            <a:avLst/>
          </a:prstGeom>
          <a:noFill/>
          <a:ln w="17780">
            <a:solidFill>
              <a:srgbClr val="F08C00"/>
            </a:solidFill>
            <a:prstDash val="solid"/>
            <a:tailEnd type="triangle"/>
          </a:ln>
        </p:spPr>
      </p:sp>
      <p:sp>
        <p:nvSpPr>
          <p:cNvPr id="116" name="Shape 107"/>
          <p:cNvSpPr/>
          <p:nvPr/>
        </p:nvSpPr>
        <p:spPr>
          <a:xfrm>
            <a:off x="10287000" y="3492500"/>
            <a:ext cx="0" cy="889000"/>
          </a:xfrm>
          <a:prstGeom prst="line">
            <a:avLst/>
          </a:prstGeom>
          <a:noFill/>
          <a:ln w="17780">
            <a:solidFill>
              <a:srgbClr val="F08C00"/>
            </a:solidFill>
            <a:prstDash val="solid"/>
          </a:ln>
        </p:spPr>
      </p:sp>
      <p:sp>
        <p:nvSpPr>
          <p:cNvPr id="117" name="Shape 108"/>
          <p:cNvSpPr/>
          <p:nvPr/>
        </p:nvSpPr>
        <p:spPr>
          <a:xfrm flipH="1">
            <a:off x="6508750" y="4381500"/>
            <a:ext cx="3778250" cy="0"/>
          </a:xfrm>
          <a:prstGeom prst="line">
            <a:avLst/>
          </a:prstGeom>
          <a:noFill/>
          <a:ln w="17780">
            <a:solidFill>
              <a:srgbClr val="F08C00"/>
            </a:solidFill>
            <a:prstDash val="solid"/>
          </a:ln>
        </p:spPr>
      </p:sp>
      <p:sp>
        <p:nvSpPr>
          <p:cNvPr id="118" name="Shape 109"/>
          <p:cNvSpPr/>
          <p:nvPr/>
        </p:nvSpPr>
        <p:spPr>
          <a:xfrm flipV="1">
            <a:off x="6508750" y="3556000"/>
            <a:ext cx="0" cy="825500"/>
          </a:xfrm>
          <a:prstGeom prst="line">
            <a:avLst/>
          </a:prstGeom>
          <a:noFill/>
          <a:ln w="17780">
            <a:solidFill>
              <a:srgbClr val="F08C00"/>
            </a:solidFill>
            <a:prstDash val="solid"/>
            <a:tailEnd type="triangle"/>
          </a:ln>
        </p:spPr>
      </p:sp>
      <p:sp>
        <p:nvSpPr>
          <p:cNvPr id="119" name="Text 110"/>
          <p:cNvSpPr txBox="1"/>
          <p:nvPr/>
        </p:nvSpPr>
        <p:spPr>
          <a:xfrm>
            <a:off x="6604000" y="4279900"/>
            <a:ext cx="1016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doc_version_changed</a:t>
            </a:r>
            <a:endParaRPr lang="en-US" sz="650" dirty="0"/>
          </a:p>
        </p:txBody>
      </p:sp>
      <p:sp>
        <p:nvSpPr>
          <p:cNvPr id="120" name="Shape 111"/>
          <p:cNvSpPr/>
          <p:nvPr/>
        </p:nvSpPr>
        <p:spPr>
          <a:xfrm flipH="1">
            <a:off x="7442200" y="3873500"/>
            <a:ext cx="2844800" cy="0"/>
          </a:xfrm>
          <a:prstGeom prst="line">
            <a:avLst/>
          </a:prstGeom>
          <a:noFill/>
          <a:ln w="17780">
            <a:solidFill>
              <a:srgbClr val="F08C00"/>
            </a:solidFill>
            <a:prstDash val="solid"/>
            <a:tailEnd type="triangle"/>
          </a:ln>
        </p:spPr>
      </p:sp>
      <p:sp>
        <p:nvSpPr>
          <p:cNvPr id="121" name="Shape 112"/>
          <p:cNvSpPr/>
          <p:nvPr/>
        </p:nvSpPr>
        <p:spPr>
          <a:xfrm>
            <a:off x="3467100" y="4584700"/>
            <a:ext cx="7327900" cy="1244600"/>
          </a:xfrm>
          <a:prstGeom prst="roundRect">
            <a:avLst>
              <a:gd name="adj" fmla="val 7347"/>
            </a:avLst>
          </a:prstGeom>
          <a:solidFill>
            <a:srgbClr val="F3FAF8"/>
          </a:solidFill>
          <a:ln w="12700">
            <a:solidFill>
              <a:srgbClr val="74B8A9"/>
            </a:solidFill>
            <a:prstDash val="dash"/>
          </a:ln>
        </p:spPr>
      </p:sp>
      <p:sp>
        <p:nvSpPr>
          <p:cNvPr id="122" name="Text 113"/>
          <p:cNvSpPr txBox="1"/>
          <p:nvPr/>
        </p:nvSpPr>
        <p:spPr>
          <a:xfrm>
            <a:off x="3530600" y="4610100"/>
            <a:ext cx="72009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(one RDS instance, one schema per service in v2)</a:t>
            </a:r>
            <a:endParaRPr lang="en-US" sz="850" dirty="0"/>
          </a:p>
        </p:txBody>
      </p:sp>
      <p:sp>
        <p:nvSpPr>
          <p:cNvPr id="123" name="Text 114"/>
          <p:cNvSpPr/>
          <p:nvPr/>
        </p:nvSpPr>
        <p:spPr>
          <a:xfrm>
            <a:off x="3568700" y="4800600"/>
            <a:ext cx="1587500" cy="927100"/>
          </a:xfrm>
          <a:prstGeom prst="can">
            <a:avLst>
              <a:gd name="adj" fmla="val 5918"/>
            </a:avLst>
          </a:prstGeom>
          <a:solidFill>
            <a:srgbClr val="FDE3E2"/>
          </a:solidFill>
          <a:ln w="12700">
            <a:solidFill>
              <a:srgbClr val="EC8A87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 (Valkey)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answers · ② embeddings · STM hot copy · rate limits</a:t>
            </a:r>
            <a:endParaRPr lang="en-US" sz="800" dirty="0"/>
          </a:p>
        </p:txBody>
      </p:sp>
      <p:pic>
        <p:nvPicPr>
          <p:cNvPr id="124" name="Image 7" descr="/tmp/claude-0/-home-claude/464e32f6-6cab-5bf8-83b9-d9d9487214ed/scratchpad/icons/png/elasticach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5700" y="4889500"/>
            <a:ext cx="152400" cy="152400"/>
          </a:xfrm>
          <a:prstGeom prst="rect">
            <a:avLst/>
          </a:prstGeom>
        </p:spPr>
      </p:pic>
      <p:sp>
        <p:nvSpPr>
          <p:cNvPr id="125" name="Text 115"/>
          <p:cNvSpPr/>
          <p:nvPr/>
        </p:nvSpPr>
        <p:spPr>
          <a:xfrm>
            <a:off x="5245100" y="4800600"/>
            <a:ext cx="1905000" cy="927100"/>
          </a:xfrm>
          <a:prstGeom prst="can">
            <a:avLst>
              <a:gd name="adj" fmla="val 5918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 (Multi-AZ)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schemas: conversation · checkpoints · hr_tasks · plan_params · ingestion_state · feedback</a:t>
            </a:r>
            <a:endParaRPr lang="en-US" sz="800" dirty="0"/>
          </a:p>
        </p:txBody>
      </p:sp>
      <p:pic>
        <p:nvPicPr>
          <p:cNvPr id="126" name="Image 8" descr="/tmp/claude-0/-home-claude/464e32f6-6cab-5bf8-83b9-d9d9487214ed/scratchpad/icons/png/rd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9600" y="4889500"/>
            <a:ext cx="152400" cy="152400"/>
          </a:xfrm>
          <a:prstGeom prst="rect">
            <a:avLst/>
          </a:prstGeom>
        </p:spPr>
      </p:pic>
      <p:sp>
        <p:nvSpPr>
          <p:cNvPr id="127" name="Text 116"/>
          <p:cNvSpPr/>
          <p:nvPr/>
        </p:nvSpPr>
        <p:spPr>
          <a:xfrm>
            <a:off x="7239000" y="4800600"/>
            <a:ext cx="1143000" cy="927100"/>
          </a:xfrm>
          <a:prstGeom prst="can">
            <a:avLst>
              <a:gd name="adj" fmla="val 5918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DBs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OPS_DB · ANALYTICS_DB (replica)</a:t>
            </a:r>
            <a:endParaRPr lang="en-US" sz="800" dirty="0"/>
          </a:p>
        </p:txBody>
      </p:sp>
      <p:pic>
        <p:nvPicPr>
          <p:cNvPr id="128" name="Image 9" descr="/tmp/claude-0/-home-claude/464e32f6-6cab-5bf8-83b9-d9d9487214ed/scratchpad/icons/png/rd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1500" y="4889500"/>
            <a:ext cx="152400" cy="152400"/>
          </a:xfrm>
          <a:prstGeom prst="rect">
            <a:avLst/>
          </a:prstGeom>
        </p:spPr>
      </p:pic>
      <p:sp>
        <p:nvSpPr>
          <p:cNvPr id="129" name="Text 117"/>
          <p:cNvSpPr/>
          <p:nvPr/>
        </p:nvSpPr>
        <p:spPr>
          <a:xfrm>
            <a:off x="8470900" y="4800600"/>
            <a:ext cx="1079500" cy="927100"/>
          </a:xfrm>
          <a:prstGeom prst="can">
            <a:avLst>
              <a:gd name="adj" fmla="val 5918"/>
            </a:avLst>
          </a:prstGeom>
          <a:solidFill>
            <a:srgbClr val="EEE6FB"/>
          </a:solidFill>
          <a:ln w="12700">
            <a:solidFill>
              <a:srgbClr val="AE8FE3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hr_policies</a:t>
            </a:r>
            <a:endParaRPr lang="en-US" sz="800" dirty="0"/>
          </a:p>
        </p:txBody>
      </p:sp>
      <p:sp>
        <p:nvSpPr>
          <p:cNvPr id="130" name="Text 118"/>
          <p:cNvSpPr/>
          <p:nvPr/>
        </p:nvSpPr>
        <p:spPr>
          <a:xfrm>
            <a:off x="8572500" y="5397500"/>
            <a:ext cx="863600" cy="228600"/>
          </a:xfrm>
          <a:prstGeom prst="rect">
            <a:avLst/>
          </a:prstGeom>
          <a:solidFill>
            <a:srgbClr val="FFF7ED"/>
          </a:solidFill>
          <a:ln w="12700">
            <a:solidFill>
              <a:srgbClr val="F08C00"/>
            </a:solidFill>
            <a:prstDash val="dash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[paste: vector DB logo]</a:t>
            </a:r>
            <a:endParaRPr lang="en-US" sz="550" dirty="0"/>
          </a:p>
        </p:txBody>
      </p:sp>
      <p:sp>
        <p:nvSpPr>
          <p:cNvPr id="131" name="Text 119"/>
          <p:cNvSpPr/>
          <p:nvPr/>
        </p:nvSpPr>
        <p:spPr>
          <a:xfrm>
            <a:off x="9639300" y="4800600"/>
            <a:ext cx="1054100" cy="927100"/>
          </a:xfrm>
          <a:prstGeom prst="can">
            <a:avLst>
              <a:gd name="adj" fmla="val 5918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· leave-docs · eval set</a:t>
            </a:r>
            <a:endParaRPr lang="en-US" sz="800" dirty="0"/>
          </a:p>
        </p:txBody>
      </p:sp>
      <p:pic>
        <p:nvPicPr>
          <p:cNvPr id="132" name="Image 10" descr="/tmp/claude-0/-home-claude/464e32f6-6cab-5bf8-83b9-d9d9487214ed/scratchpad/icons/png/s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02900" y="4889500"/>
            <a:ext cx="152400" cy="152400"/>
          </a:xfrm>
          <a:prstGeom prst="rect">
            <a:avLst/>
          </a:prstGeom>
        </p:spPr>
      </p:pic>
      <p:sp>
        <p:nvSpPr>
          <p:cNvPr id="133" name="Shape 120"/>
          <p:cNvSpPr/>
          <p:nvPr/>
        </p:nvSpPr>
        <p:spPr>
          <a:xfrm>
            <a:off x="10896600" y="609600"/>
            <a:ext cx="1168400" cy="5219700"/>
          </a:xfrm>
          <a:prstGeom prst="roundRect">
            <a:avLst>
              <a:gd name="adj" fmla="val 7826"/>
            </a:avLst>
          </a:prstGeom>
          <a:solidFill>
            <a:srgbClr val="F6F8FA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34" name="Text 121"/>
          <p:cNvSpPr txBox="1"/>
          <p:nvPr/>
        </p:nvSpPr>
        <p:spPr>
          <a:xfrm>
            <a:off x="10960100" y="635000"/>
            <a:ext cx="1041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850" dirty="0"/>
          </a:p>
        </p:txBody>
      </p:sp>
      <p:sp>
        <p:nvSpPr>
          <p:cNvPr id="135" name="Text 122"/>
          <p:cNvSpPr/>
          <p:nvPr/>
        </p:nvSpPr>
        <p:spPr>
          <a:xfrm>
            <a:off x="10972800" y="812800"/>
            <a:ext cx="1016000" cy="660400"/>
          </a:xfrm>
          <a:prstGeom prst="roundRect">
            <a:avLst>
              <a:gd name="adj" fmla="val 8308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or OpenAI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endpoint or NAT</a:t>
            </a:r>
            <a:endParaRPr lang="en-US" sz="850" dirty="0"/>
          </a:p>
        </p:txBody>
      </p:sp>
      <p:pic>
        <p:nvPicPr>
          <p:cNvPr id="136" name="Image 11" descr="/tmp/claude-0/-home-claude/464e32f6-6cab-5bf8-83b9-d9d9487214ed/scratchpad/icons/png/bedro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72900" y="1270000"/>
            <a:ext cx="165100" cy="165100"/>
          </a:xfrm>
          <a:prstGeom prst="rect">
            <a:avLst/>
          </a:prstGeom>
        </p:spPr>
      </p:pic>
      <p:sp>
        <p:nvSpPr>
          <p:cNvPr id="137" name="Text 123"/>
          <p:cNvSpPr/>
          <p:nvPr/>
        </p:nvSpPr>
        <p:spPr>
          <a:xfrm>
            <a:off x="11023600" y="1282700"/>
            <a:ext cx="635000" cy="139700"/>
          </a:xfrm>
          <a:prstGeom prst="rect">
            <a:avLst/>
          </a:prstGeom>
          <a:solidFill>
            <a:srgbClr val="FFF7ED"/>
          </a:solidFill>
          <a:ln w="12700">
            <a:solidFill>
              <a:srgbClr val="F08C00"/>
            </a:solidFill>
            <a:prstDash val="dash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[paste: OpenAI logo]</a:t>
            </a:r>
            <a:endParaRPr lang="en-US" sz="550" dirty="0"/>
          </a:p>
        </p:txBody>
      </p:sp>
      <p:sp>
        <p:nvSpPr>
          <p:cNvPr id="138" name="Text 124"/>
          <p:cNvSpPr/>
          <p:nvPr/>
        </p:nvSpPr>
        <p:spPr>
          <a:xfrm>
            <a:off x="10972800" y="1549400"/>
            <a:ext cx="1016000" cy="482600"/>
          </a:xfrm>
          <a:prstGeom prst="roundRect">
            <a:avLst>
              <a:gd name="adj" fmla="val 11368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NAT</a:t>
            </a:r>
            <a:endParaRPr lang="en-US" sz="850" dirty="0"/>
          </a:p>
        </p:txBody>
      </p:sp>
      <p:sp>
        <p:nvSpPr>
          <p:cNvPr id="139" name="Text 125"/>
          <p:cNvSpPr/>
          <p:nvPr/>
        </p:nvSpPr>
        <p:spPr>
          <a:xfrm>
            <a:off x="11366500" y="1841500"/>
            <a:ext cx="571500" cy="139700"/>
          </a:xfrm>
          <a:prstGeom prst="rect">
            <a:avLst/>
          </a:prstGeom>
          <a:solidFill>
            <a:srgbClr val="FFF7ED"/>
          </a:solidFill>
          <a:ln w="12700">
            <a:solidFill>
              <a:srgbClr val="F08C00"/>
            </a:solidFill>
            <a:prstDash val="dash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[paste: Tavily logo]</a:t>
            </a:r>
            <a:endParaRPr lang="en-US" sz="550" dirty="0"/>
          </a:p>
        </p:txBody>
      </p:sp>
      <p:sp>
        <p:nvSpPr>
          <p:cNvPr id="140" name="Text 126"/>
          <p:cNvSpPr/>
          <p:nvPr/>
        </p:nvSpPr>
        <p:spPr>
          <a:xfrm>
            <a:off x="10972800" y="2095500"/>
            <a:ext cx="1016000" cy="444500"/>
          </a:xfrm>
          <a:prstGeom prst="roundRect">
            <a:avLst>
              <a:gd name="adj" fmla="val 12343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SES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pic>
        <p:nvPicPr>
          <p:cNvPr id="141" name="Image 12" descr="/tmp/claude-0/-home-claude/464e32f6-6cab-5bf8-83b9-d9d9487214ed/scratchpad/icons/png/ses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60200" y="2133600"/>
            <a:ext cx="177800" cy="177800"/>
          </a:xfrm>
          <a:prstGeom prst="rect">
            <a:avLst/>
          </a:prstGeom>
        </p:spPr>
      </p:pic>
      <p:sp>
        <p:nvSpPr>
          <p:cNvPr id="142" name="Text 127"/>
          <p:cNvSpPr/>
          <p:nvPr/>
        </p:nvSpPr>
        <p:spPr>
          <a:xfrm>
            <a:off x="10972800" y="2641600"/>
            <a:ext cx="1016000" cy="571500"/>
          </a:xfrm>
          <a:prstGeom prst="roundRect">
            <a:avLst>
              <a:gd name="adj" fmla="val 96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· X-Ray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metrics</a:t>
            </a:r>
            <a:endParaRPr lang="en-US" sz="850" dirty="0"/>
          </a:p>
        </p:txBody>
      </p:sp>
      <p:pic>
        <p:nvPicPr>
          <p:cNvPr id="143" name="Image 13" descr="/tmp/claude-0/-home-claude/464e32f6-6cab-5bf8-83b9-d9d9487214ed/scratchpad/icons/png/cloudwatch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69700" y="3009900"/>
            <a:ext cx="165100" cy="165100"/>
          </a:xfrm>
          <a:prstGeom prst="rect">
            <a:avLst/>
          </a:prstGeom>
        </p:spPr>
      </p:pic>
      <p:pic>
        <p:nvPicPr>
          <p:cNvPr id="144" name="Image 14" descr="/tmp/claude-0/-home-claude/464e32f6-6cab-5bf8-83b9-d9d9487214ed/scratchpad/icons/png/xra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760200" y="3009900"/>
            <a:ext cx="165100" cy="165100"/>
          </a:xfrm>
          <a:prstGeom prst="rect">
            <a:avLst/>
          </a:prstGeom>
        </p:spPr>
      </p:pic>
      <p:sp>
        <p:nvSpPr>
          <p:cNvPr id="145" name="Text 128"/>
          <p:cNvSpPr/>
          <p:nvPr/>
        </p:nvSpPr>
        <p:spPr>
          <a:xfrm>
            <a:off x="10972800" y="3314700"/>
            <a:ext cx="1016000" cy="635000"/>
          </a:xfrm>
          <a:prstGeom prst="roundRect">
            <a:avLst>
              <a:gd name="adj" fmla="val 864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Scheduler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task timers · nightly evals</a:t>
            </a:r>
            <a:endParaRPr lang="en-US" sz="850" dirty="0"/>
          </a:p>
        </p:txBody>
      </p:sp>
      <p:pic>
        <p:nvPicPr>
          <p:cNvPr id="146" name="Image 15" descr="/tmp/claude-0/-home-claude/464e32f6-6cab-5bf8-83b9-d9d9487214ed/scratchpad/icons/png/scheduler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760200" y="3352800"/>
            <a:ext cx="177800" cy="177800"/>
          </a:xfrm>
          <a:prstGeom prst="rect">
            <a:avLst/>
          </a:prstGeom>
        </p:spPr>
      </p:pic>
      <p:sp>
        <p:nvSpPr>
          <p:cNvPr id="147" name="Text 129"/>
          <p:cNvSpPr/>
          <p:nvPr/>
        </p:nvSpPr>
        <p:spPr>
          <a:xfrm>
            <a:off x="10972800" y="4051300"/>
            <a:ext cx="1016000" cy="482600"/>
          </a:xfrm>
          <a:prstGeom prst="roundRect">
            <a:avLst>
              <a:gd name="adj" fmla="val 11368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passwords</a:t>
            </a:r>
            <a:endParaRPr lang="en-US" sz="850" dirty="0"/>
          </a:p>
        </p:txBody>
      </p:sp>
      <p:pic>
        <p:nvPicPr>
          <p:cNvPr id="148" name="Image 16" descr="/tmp/claude-0/-home-claude/464e32f6-6cab-5bf8-83b9-d9d9487214ed/scratchpad/icons/png/secrets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772900" y="4330700"/>
            <a:ext cx="165100" cy="165100"/>
          </a:xfrm>
          <a:prstGeom prst="rect">
            <a:avLst/>
          </a:prstGeom>
        </p:spPr>
      </p:pic>
      <p:sp>
        <p:nvSpPr>
          <p:cNvPr id="149" name="Shape 130"/>
          <p:cNvSpPr/>
          <p:nvPr/>
        </p:nvSpPr>
        <p:spPr>
          <a:xfrm>
            <a:off x="127000" y="5930900"/>
            <a:ext cx="3937000" cy="1612900"/>
          </a:xfrm>
          <a:prstGeom prst="roundRect">
            <a:avLst>
              <a:gd name="adj" fmla="val 3402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50" name="Text 131"/>
          <p:cNvSpPr txBox="1"/>
          <p:nvPr/>
        </p:nvSpPr>
        <p:spPr>
          <a:xfrm>
            <a:off x="215900" y="5981700"/>
            <a:ext cx="3759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850" dirty="0"/>
          </a:p>
        </p:txBody>
      </p:sp>
      <p:sp>
        <p:nvSpPr>
          <p:cNvPr id="151" name="Text 132"/>
          <p:cNvSpPr txBox="1"/>
          <p:nvPr/>
        </p:nvSpPr>
        <p:spPr>
          <a:xfrm>
            <a:off x="215900" y="6172200"/>
            <a:ext cx="37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traffic (HTTP, SSE, WebSocket), path routing, health checks. Used here.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NLB: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raw TCP / gRPC at very high volume, static IPs, or sharing the MCP servers with another VPC through PrivateLink. Not needed for HRB.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to service: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Service Connect (Cloud Map names), no internal load balancer.</a:t>
            </a:r>
            <a:endParaRPr lang="en-US" sz="850" dirty="0"/>
          </a:p>
        </p:txBody>
      </p:sp>
      <p:sp>
        <p:nvSpPr>
          <p:cNvPr id="152" name="Shape 133"/>
          <p:cNvSpPr/>
          <p:nvPr/>
        </p:nvSpPr>
        <p:spPr>
          <a:xfrm>
            <a:off x="4127500" y="5930900"/>
            <a:ext cx="3937000" cy="1612900"/>
          </a:xfrm>
          <a:prstGeom prst="roundRect">
            <a:avLst>
              <a:gd name="adj" fmla="val 3402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53" name="Text 134"/>
          <p:cNvSpPr txBox="1"/>
          <p:nvPr/>
        </p:nvSpPr>
        <p:spPr>
          <a:xfrm>
            <a:off x="4216400" y="5981700"/>
            <a:ext cx="3759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and events</a:t>
            </a:r>
            <a:endParaRPr lang="en-US" sz="850" dirty="0"/>
          </a:p>
        </p:txBody>
      </p:sp>
      <p:sp>
        <p:nvSpPr>
          <p:cNvPr id="154" name="Text 135"/>
          <p:cNvSpPr txBox="1"/>
          <p:nvPr/>
        </p:nvSpPr>
        <p:spPr>
          <a:xfrm>
            <a:off x="4216400" y="6172200"/>
            <a:ext cx="37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event notification → SQS: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(ObjectCreated) or delete (ObjectRemoved) starts work; nothing polls S3.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→ SQS fan-out: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event, many consumers (email, cache handler, audit).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queue: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DLQ, a visibility timeout longer than the job, idempotent consumers.</a:t>
            </a:r>
            <a:endParaRPr lang="en-US" sz="850" dirty="0"/>
          </a:p>
        </p:txBody>
      </p:sp>
      <p:sp>
        <p:nvSpPr>
          <p:cNvPr id="155" name="Shape 136"/>
          <p:cNvSpPr/>
          <p:nvPr/>
        </p:nvSpPr>
        <p:spPr>
          <a:xfrm>
            <a:off x="8128000" y="5930900"/>
            <a:ext cx="3937000" cy="1612900"/>
          </a:xfrm>
          <a:prstGeom prst="roundRect">
            <a:avLst>
              <a:gd name="adj" fmla="val 3402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56" name="Text 137"/>
          <p:cNvSpPr txBox="1"/>
          <p:nvPr/>
        </p:nvSpPr>
        <p:spPr>
          <a:xfrm>
            <a:off x="8216900" y="5981700"/>
            <a:ext cx="3759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 (target tracking)</a:t>
            </a:r>
            <a:endParaRPr lang="en-US" sz="850" dirty="0"/>
          </a:p>
        </p:txBody>
      </p:sp>
      <p:sp>
        <p:nvSpPr>
          <p:cNvPr id="157" name="Text 138"/>
          <p:cNvSpPr txBox="1"/>
          <p:nvPr/>
        </p:nvSpPr>
        <p:spPr>
          <a:xfrm>
            <a:off x="8216900" y="6172200"/>
            <a:ext cx="37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services: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about 60% or ALB requests per task [INSERT].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backlog per task; scale to zero when idle; Fargate Spot for ingestion.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progress; can move to Bedrock AgentCore Runtime without code changes if kept stateless.</a:t>
            </a:r>
            <a:endParaRPr lang="en-US" sz="850" dirty="0"/>
          </a:p>
        </p:txBody>
      </p:sp>
      <p:sp>
        <p:nvSpPr>
          <p:cNvPr id="159" name="Text 139"/>
          <p:cNvSpPr/>
          <p:nvPr/>
        </p:nvSpPr>
        <p:spPr>
          <a:xfrm>
            <a:off x="10913110" y="368300"/>
            <a:ext cx="1189990" cy="95250"/>
          </a:xfrm>
          <a:prstGeom prst="roundRect">
            <a:avLst>
              <a:gd name="adj" fmla="val 48000"/>
            </a:avLst>
          </a:prstGeom>
          <a:solidFill>
            <a:srgbClr val="F5BD5C"/>
          </a:solidFill>
          <a:ln w="6350">
            <a:solidFill>
              <a:srgbClr val="F5BD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microservices on AWS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2600"/>
          </a:xfrm>
          <a:prstGeom prst="rect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77800" y="63500"/>
            <a:ext cx="793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 Deployment View: What Runs Where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128000" y="63500"/>
            <a:ext cx="388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now · one split later · AWS: ECS on Fargate [INSERT: confirm]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27000" y="609600"/>
            <a:ext cx="1079500" cy="2540000"/>
          </a:xfrm>
          <a:prstGeom prst="roundRect">
            <a:avLst>
              <a:gd name="adj" fmla="val 8471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190500" y="635000"/>
            <a:ext cx="952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3200" y="863600"/>
            <a:ext cx="927100" cy="444500"/>
          </a:xfrm>
          <a:prstGeom prst="roundRect">
            <a:avLst>
              <a:gd name="adj" fmla="val 12343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chat UI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3200" y="1460500"/>
            <a:ext cx="927100" cy="495300"/>
          </a:xfrm>
          <a:prstGeom prst="roundRect">
            <a:avLst>
              <a:gd name="adj" fmla="val 11077"/>
            </a:avLst>
          </a:prstGeom>
          <a:solidFill>
            <a:srgbClr val="FCE7F3"/>
          </a:solidFill>
          <a:ln w="12700">
            <a:solidFill>
              <a:srgbClr val="DB7AA5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Specialist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HR console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3200" y="2108200"/>
            <a:ext cx="927100" cy="571500"/>
          </a:xfrm>
          <a:prstGeom prst="roundRect">
            <a:avLst>
              <a:gd name="adj" fmla="val 96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documents · clears caches (/admin)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33500" y="609600"/>
            <a:ext cx="1587500" cy="2540000"/>
          </a:xfrm>
          <a:prstGeom prst="roundRect">
            <a:avLst>
              <a:gd name="adj" fmla="val 5760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1397000" y="635000"/>
            <a:ext cx="146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(AWS)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09700" y="863600"/>
            <a:ext cx="1435100" cy="406400"/>
          </a:xfrm>
          <a:prstGeom prst="roundRect">
            <a:avLst>
              <a:gd name="adj" fmla="val 13500"/>
            </a:avLst>
          </a:prstGeom>
          <a:solidFill>
            <a:srgbClr val="1F3B63"/>
          </a:solidFill>
          <a:ln w="12700">
            <a:solidFill>
              <a:srgbClr val="16304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DNS · ACM TLS · Shield DDoS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09700" y="1422400"/>
            <a:ext cx="685800" cy="533400"/>
          </a:xfrm>
          <a:prstGeom prst="roundRect">
            <a:avLst>
              <a:gd name="adj" fmla="val 10286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files · S3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59000" y="1422400"/>
            <a:ext cx="685800" cy="533400"/>
          </a:xfrm>
          <a:prstGeom prst="roundRect">
            <a:avLst>
              <a:gd name="adj" fmla="val 10286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· routes /api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09700" y="2133600"/>
            <a:ext cx="1435100" cy="482600"/>
          </a:xfrm>
          <a:prstGeom prst="roundRect">
            <a:avLst>
              <a:gd name="adj" fmla="val 11368"/>
            </a:avLst>
          </a:prstGeom>
          <a:solidFill>
            <a:srgbClr val="1F3B63"/>
          </a:solidFill>
          <a:ln w="12700">
            <a:solidFill>
              <a:srgbClr val="16304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/ JWT identity · or Entra ID [INSERT]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30300" y="1085850"/>
            <a:ext cx="2667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130300" y="1708150"/>
            <a:ext cx="1143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244600" y="1206500"/>
            <a:ext cx="0" cy="50165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44600" y="1206500"/>
            <a:ext cx="1524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130300" y="2393950"/>
            <a:ext cx="1143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244600" y="1708150"/>
            <a:ext cx="0" cy="6858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52600" y="1270000"/>
            <a:ext cx="0" cy="1397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501900" y="1270000"/>
            <a:ext cx="0" cy="1397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501900" y="1955800"/>
            <a:ext cx="0" cy="165100"/>
          </a:xfrm>
          <a:prstGeom prst="line">
            <a:avLst/>
          </a:prstGeom>
          <a:noFill/>
          <a:ln w="17780">
            <a:solidFill>
              <a:srgbClr val="6B7B8C"/>
            </a:solidFill>
            <a:prstDash val="dash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2540000" y="1981200"/>
            <a:ext cx="381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keys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2844800" y="1689100"/>
            <a:ext cx="3175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984500" y="609600"/>
            <a:ext cx="6413500" cy="5803900"/>
          </a:xfrm>
          <a:prstGeom prst="roundRect">
            <a:avLst>
              <a:gd name="adj" fmla="val 1575"/>
            </a:avLst>
          </a:prstGeom>
          <a:solidFill>
            <a:srgbClr val="FFFFFF"/>
          </a:solidFill>
          <a:ln w="19050">
            <a:solidFill>
              <a:srgbClr val="1F2A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048000" y="635000"/>
            <a:ext cx="6286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· 2 AZs · public: ALB, NAT · private: tasks, data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86100" y="812800"/>
            <a:ext cx="6210300" cy="2832100"/>
          </a:xfrm>
          <a:prstGeom prst="roundRect">
            <a:avLst>
              <a:gd name="adj" fmla="val 3229"/>
            </a:avLst>
          </a:prstGeom>
          <a:solidFill>
            <a:srgbClr val="EEF2F8"/>
          </a:solidFill>
          <a:ln w="12700">
            <a:solidFill>
              <a:srgbClr val="93AED6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3149600" y="838200"/>
            <a:ext cx="60833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ECS on Fargate · Application Auto Scaling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175000" y="1270000"/>
            <a:ext cx="2286000" cy="1905000"/>
          </a:xfrm>
          <a:prstGeom prst="roundRect">
            <a:avLst>
              <a:gd name="adj" fmla="val 2880"/>
            </a:avLst>
          </a:prstGeom>
          <a:solidFill>
            <a:srgbClr val="E6EEF9"/>
          </a:solidFill>
          <a:ln w="12700">
            <a:solidFill>
              <a:srgbClr val="93AED6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3251200" y="1333500"/>
            <a:ext cx="2133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hrb-api  (FastAPI + LangGraph)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3251200" y="1511300"/>
            <a:ext cx="2133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routes + SSE streaming · Input / Output Guardrails · Check Answer Cache · MCP gateway client · HR console API · /admin (cache clear, upload)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on concurrent requests + CPU · min 2 tasks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51200" y="2451100"/>
            <a:ext cx="2133600" cy="647700"/>
          </a:xfrm>
          <a:prstGeom prst="roundRect">
            <a:avLst>
              <a:gd name="adj" fmla="val 8471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dash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(LangGraph) · in-process now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Planner, Orchestration, domain agents, Reviewer, Judge. Phase 2: move to an agent-worker; tokens relayed through Redis Streams.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175000" y="1130300"/>
            <a:ext cx="589280" cy="114300"/>
          </a:xfrm>
          <a:prstGeom prst="roundRect">
            <a:avLst>
              <a:gd name="adj" fmla="val 40000"/>
            </a:avLst>
          </a:prstGeom>
          <a:solidFill>
            <a:srgbClr val="1F2A4A"/>
          </a:solidFill>
          <a:ln w="6350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1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562600" y="1270000"/>
            <a:ext cx="1143000" cy="825500"/>
          </a:xfrm>
          <a:prstGeom prst="roundRect">
            <a:avLst>
              <a:gd name="adj" fmla="val 6646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HRB_LMS_OPS · MCP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leave tools: balance, apply, status · read / write · min 1 task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794500" y="1270000"/>
            <a:ext cx="1143000" cy="825500"/>
          </a:xfrm>
          <a:prstGeom prst="roundRect">
            <a:avLst>
              <a:gd name="adj" fmla="val 6646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HRB_LMS_ANALYTICS · MCP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tools: 12-month checks, trends · read-only · min 1 task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62600" y="2133600"/>
            <a:ext cx="589280" cy="114300"/>
          </a:xfrm>
          <a:prstGeom prst="roundRect">
            <a:avLst>
              <a:gd name="adj" fmla="val 40000"/>
            </a:avLst>
          </a:prstGeom>
          <a:solidFill>
            <a:srgbClr val="1F2A4A"/>
          </a:solidFill>
          <a:ln w="6350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3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794500" y="2133600"/>
            <a:ext cx="589280" cy="114300"/>
          </a:xfrm>
          <a:prstGeom prst="roundRect">
            <a:avLst>
              <a:gd name="adj" fmla="val 40000"/>
            </a:avLst>
          </a:prstGeom>
          <a:solidFill>
            <a:srgbClr val="1F2A4A"/>
          </a:solidFill>
          <a:ln w="6350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4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039100" y="1270000"/>
            <a:ext cx="1168400" cy="1270000"/>
          </a:xfrm>
          <a:prstGeom prst="roundRect">
            <a:avLst>
              <a:gd name="adj" fmla="val 4696"/>
            </a:avLst>
          </a:prstGeom>
          <a:solidFill>
            <a:srgbClr val="F1EAFC"/>
          </a:solidFill>
          <a:ln w="12700">
            <a:solidFill>
              <a:srgbClr val="9A74DC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ingestion-worker (job)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· OCR + caption · chunk · ② embed · upsert · clears ① · 0 → N on SQS jobs · target: staged services (slide 12)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039100" y="2578100"/>
            <a:ext cx="589280" cy="114300"/>
          </a:xfrm>
          <a:prstGeom prst="roundRect">
            <a:avLst>
              <a:gd name="adj" fmla="val 40000"/>
            </a:avLst>
          </a:prstGeom>
          <a:solidFill>
            <a:srgbClr val="1F2A4A"/>
          </a:solidFill>
          <a:ln w="6350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2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461000" y="1663700"/>
            <a:ext cx="889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5334000" y="1181100"/>
            <a:ext cx="0" cy="889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34000" y="1181100"/>
            <a:ext cx="20320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66000" y="1181100"/>
            <a:ext cx="0" cy="762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5715000" y="1079500"/>
            <a:ext cx="10795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OAuth 2.0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 flipV="1">
            <a:off x="4445000" y="1066800"/>
            <a:ext cx="0" cy="2032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45000" y="1066800"/>
            <a:ext cx="4178300" cy="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23300" y="1066800"/>
            <a:ext cx="0" cy="190500"/>
          </a:xfrm>
          <a:prstGeom prst="line">
            <a:avLst/>
          </a:prstGeom>
          <a:noFill/>
          <a:ln w="17780">
            <a:solidFill>
              <a:srgbClr val="334E7A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7302500" y="965200"/>
            <a:ext cx="1270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3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job queue (SQS)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3086100" y="3746500"/>
            <a:ext cx="6210300" cy="2565400"/>
          </a:xfrm>
          <a:prstGeom prst="roundRect">
            <a:avLst>
              <a:gd name="adj" fmla="val 3564"/>
            </a:avLst>
          </a:prstGeom>
          <a:solidFill>
            <a:srgbClr val="F3FAF8"/>
          </a:solidFill>
          <a:ln w="12700">
            <a:solidFill>
              <a:srgbClr val="74B8A9"/>
            </a:solidFill>
            <a:prstDash val="dash"/>
          </a:ln>
        </p:spPr>
      </p:sp>
      <p:sp>
        <p:nvSpPr>
          <p:cNvPr id="52" name="Text 50"/>
          <p:cNvSpPr txBox="1"/>
          <p:nvPr/>
        </p:nvSpPr>
        <p:spPr>
          <a:xfrm>
            <a:off x="3149600" y="3771900"/>
            <a:ext cx="60833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data services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175000" y="3975100"/>
            <a:ext cx="1079500" cy="762000"/>
          </a:xfrm>
          <a:prstGeom prst="can">
            <a:avLst>
              <a:gd name="adj" fmla="val 7200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 (Valkey)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answers · ② embeddings · STM hot copy · rate limits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356100" y="3975100"/>
            <a:ext cx="1104900" cy="762000"/>
          </a:xfrm>
          <a:prstGeom prst="can">
            <a:avLst>
              <a:gd name="adj" fmla="val 7200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· sessions, STM, LTM, checkpoints, feedback, audit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562600" y="3975100"/>
            <a:ext cx="1143000" cy="762000"/>
          </a:xfrm>
          <a:prstGeom prst="can">
            <a:avLst>
              <a:gd name="adj" fmla="val 7200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HRB_LMS_OPS_DB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leave records · read / write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794500" y="3975100"/>
            <a:ext cx="1143000" cy="762000"/>
          </a:xfrm>
          <a:prstGeom prst="can">
            <a:avLst>
              <a:gd name="adj" fmla="val 7200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HRB_LMS_ANALYTICS_DB</a:t>
            </a:r>
            <a:endParaRPr lang="en-US" sz="8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history · loaded nightly or real time [INSERT]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039100" y="3975100"/>
            <a:ext cx="1168400" cy="762000"/>
          </a:xfrm>
          <a:prstGeom prst="roundRect">
            <a:avLst>
              <a:gd name="adj" fmla="val 72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key, DB passwords · used by every deployable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175000" y="5080000"/>
            <a:ext cx="3530600" cy="889000"/>
          </a:xfrm>
          <a:prstGeom prst="can">
            <a:avLst>
              <a:gd name="adj" fmla="val 6171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hr_policies (text, tables, image captions) · ChromaDB container, Pinecone SaaS, or OpenSearch Serverless [INSERT: confirm]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794500" y="5080000"/>
            <a:ext cx="2413000" cy="889000"/>
          </a:xfrm>
          <a:prstGeom prst="can">
            <a:avLst>
              <a:gd name="adj" fmla="val 6171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dash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EventBridge → SQS (target)</a:t>
            </a:r>
            <a:endParaRPr lang="en-US" sz="90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originals + upload event starts ingestion (slide 12) · v2 uses direct upload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714750" y="3175000"/>
            <a:ext cx="0" cy="7874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4908550" y="3175000"/>
            <a:ext cx="0" cy="7874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6134100" y="2095500"/>
            <a:ext cx="0" cy="18669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7366000" y="2095500"/>
            <a:ext cx="0" cy="18669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 flipH="1">
            <a:off x="3124200" y="2984500"/>
            <a:ext cx="508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124200" y="2984500"/>
            <a:ext cx="0" cy="25400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124200" y="5524500"/>
            <a:ext cx="381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9207500" y="1905000"/>
            <a:ext cx="508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258300" y="1905000"/>
            <a:ext cx="0" cy="30099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H="1">
            <a:off x="6350000" y="4914900"/>
            <a:ext cx="29083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50000" y="4914900"/>
            <a:ext cx="0" cy="15240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9499600" y="609600"/>
            <a:ext cx="2565400" cy="5803900"/>
          </a:xfrm>
          <a:prstGeom prst="roundRect">
            <a:avLst>
              <a:gd name="adj" fmla="val 3564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dash"/>
          </a:ln>
        </p:spPr>
      </p:sp>
      <p:sp>
        <p:nvSpPr>
          <p:cNvPr id="72" name="Text 70"/>
          <p:cNvSpPr txBox="1"/>
          <p:nvPr/>
        </p:nvSpPr>
        <p:spPr>
          <a:xfrm>
            <a:off x="9563100" y="635000"/>
            <a:ext cx="2438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9588500" y="863600"/>
            <a:ext cx="2387600" cy="533400"/>
          </a:xfrm>
          <a:prstGeom prst="roundRect">
            <a:avLst>
              <a:gd name="adj" fmla="val 10286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or Amazon Bedrock [INSERT]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LLMs: mini / large / strong · embeddings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9588500" y="1498600"/>
            <a:ext cx="2387600" cy="444500"/>
          </a:xfrm>
          <a:prstGeom prst="roundRect">
            <a:avLst>
              <a:gd name="adj" fmla="val 12343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when the KB has no answer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9588500" y="2044700"/>
            <a:ext cx="2387600" cy="533400"/>
          </a:xfrm>
          <a:prstGeom prst="roundRect">
            <a:avLst>
              <a:gd name="adj" fmla="val 10286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+ X-Ray (OpenTelemetry) · Langfuse or LangSmith for LLM traces [INSERT]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9588500" y="2679700"/>
            <a:ext cx="2387600" cy="444500"/>
          </a:xfrm>
          <a:prstGeom prst="roundRect">
            <a:avLst>
              <a:gd name="adj" fmla="val 12343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SES / SNS: email to HR and employees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9588500" y="3225800"/>
            <a:ext cx="2387600" cy="533400"/>
          </a:xfrm>
          <a:prstGeom prst="roundRect">
            <a:avLst>
              <a:gd name="adj" fmla="val 10286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  <p:txBody>
          <a:bodyPr wrap="square" lIns="38100" tIns="76200" rIns="76200" bIns="3810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→ Amazon ECR → ECS deploy [INSERT]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9398000" y="1130300"/>
            <a:ext cx="177800" cy="0"/>
          </a:xfrm>
          <a:prstGeom prst="line">
            <a:avLst/>
          </a:prstGeom>
          <a:noFill/>
          <a:ln w="1778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79" name="Text 77"/>
          <p:cNvSpPr txBox="1"/>
          <p:nvPr/>
        </p:nvSpPr>
        <p:spPr>
          <a:xfrm>
            <a:off x="9404350" y="1168400"/>
            <a:ext cx="1778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127000" y="3276600"/>
            <a:ext cx="2794000" cy="1905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dash"/>
          </a:ln>
        </p:spPr>
      </p:sp>
      <p:sp>
        <p:nvSpPr>
          <p:cNvPr id="81" name="Text 79"/>
          <p:cNvSpPr txBox="1"/>
          <p:nvPr/>
        </p:nvSpPr>
        <p:spPr>
          <a:xfrm>
            <a:off x="190500" y="3302000"/>
            <a:ext cx="2667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→ deployables</a:t>
            </a:r>
            <a:endParaRPr lang="en-US" sz="1100" dirty="0"/>
          </a:p>
        </p:txBody>
      </p:sp>
      <p:sp>
        <p:nvSpPr>
          <p:cNvPr id="82" name="Text 80"/>
          <p:cNvSpPr txBox="1"/>
          <p:nvPr/>
        </p:nvSpPr>
        <p:spPr>
          <a:xfrm>
            <a:off x="215900" y="3479800"/>
            <a:ext cx="2628900" cy="166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hr_benefits_assist: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hrb-api and ingestion-worker (same image, different start command).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hrb_emp_lms: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HRB_LMS_OPS and HRB_LMS_ANALYTICS MCP servers (one repo, two services) [INSERT: confirm].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and prod [INSERT].</a:t>
            </a:r>
            <a:endParaRPr lang="en-US" sz="8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apps: </a:t>
            </a:r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 lives in Redis and Postgres, so any hrb-api task can resume a paused HITL run.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127000" y="5283200"/>
            <a:ext cx="2794000" cy="1130300"/>
          </a:xfrm>
          <a:prstGeom prst="roundRect">
            <a:avLst>
              <a:gd name="adj" fmla="val 8090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dash"/>
          </a:ln>
        </p:spPr>
      </p:sp>
      <p:sp>
        <p:nvSpPr>
          <p:cNvPr id="84" name="Text 82"/>
          <p:cNvSpPr txBox="1"/>
          <p:nvPr/>
        </p:nvSpPr>
        <p:spPr>
          <a:xfrm>
            <a:off x="190500" y="5308600"/>
            <a:ext cx="2667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228600" y="5499100"/>
            <a:ext cx="635000" cy="114300"/>
          </a:xfrm>
          <a:prstGeom prst="roundRect">
            <a:avLst>
              <a:gd name="adj" fmla="val 40000"/>
            </a:avLst>
          </a:prstGeom>
          <a:solidFill>
            <a:srgbClr val="1F2A4A"/>
          </a:solidFill>
          <a:ln w="6350">
            <a:solidFill>
              <a:srgbClr val="1F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n</a:t>
            </a:r>
            <a:endParaRPr lang="en-US" sz="700" dirty="0"/>
          </a:p>
        </p:txBody>
      </p:sp>
      <p:sp>
        <p:nvSpPr>
          <p:cNvPr id="86" name="Text 84"/>
          <p:cNvSpPr txBox="1"/>
          <p:nvPr/>
        </p:nvSpPr>
        <p:spPr>
          <a:xfrm>
            <a:off x="914400" y="5499100"/>
            <a:ext cx="190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container, built from our repo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228600" y="5689600"/>
            <a:ext cx="635000" cy="114300"/>
          </a:xfrm>
          <a:prstGeom prst="roundRect">
            <a:avLst>
              <a:gd name="adj" fmla="val 32000"/>
            </a:avLst>
          </a:prstGeom>
          <a:solidFill>
            <a:srgbClr val="E4F4F0"/>
          </a:solidFill>
          <a:ln w="12700">
            <a:solidFill>
              <a:srgbClr val="74B8A9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914400" y="5689600"/>
            <a:ext cx="190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data service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228600" y="5880100"/>
            <a:ext cx="635000" cy="114300"/>
          </a:xfrm>
          <a:prstGeom prst="roundRect">
            <a:avLst>
              <a:gd name="adj" fmla="val 32000"/>
            </a:avLst>
          </a:prstGeom>
          <a:solidFill>
            <a:srgbClr val="F2F4F7"/>
          </a:solidFill>
          <a:ln w="12700">
            <a:solidFill>
              <a:srgbClr val="A7B2B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914400" y="5880100"/>
            <a:ext cx="190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or AWS-managed service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228600" y="6070600"/>
            <a:ext cx="635000" cy="1143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2700">
            <a:solidFill>
              <a:srgbClr val="5B6B7A"/>
            </a:solidFill>
            <a:prstDash val="dash"/>
          </a:ln>
        </p:spPr>
      </p:sp>
      <p:sp>
        <p:nvSpPr>
          <p:cNvPr id="92" name="Text 90"/>
          <p:cNvSpPr txBox="1"/>
          <p:nvPr/>
        </p:nvSpPr>
        <p:spPr>
          <a:xfrm>
            <a:off x="914400" y="6070600"/>
            <a:ext cx="190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phase (not in v2)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127000" y="6515100"/>
            <a:ext cx="11938000" cy="1016000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12700">
            <a:solidFill>
              <a:srgbClr val="B6C2D4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94" name="Text 92"/>
          <p:cNvSpPr txBox="1"/>
          <p:nvPr/>
        </p:nvSpPr>
        <p:spPr>
          <a:xfrm>
            <a:off x="228600" y="65659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moves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228600" y="6908800"/>
            <a:ext cx="152400" cy="152400"/>
          </a:xfrm>
          <a:prstGeom prst="ellipse">
            <a:avLst/>
          </a:prstGeom>
          <a:solidFill>
            <a:srgbClr val="1F2A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6" name="Text 94"/>
          <p:cNvSpPr txBox="1"/>
          <p:nvPr/>
        </p:nvSpPr>
        <p:spPr>
          <a:xfrm>
            <a:off x="431800" y="6807200"/>
            <a:ext cx="209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→ CloudFront + WAF → ALB → hrb-api (Cognito JWT checked)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2590800" y="6908800"/>
            <a:ext cx="152400" cy="152400"/>
          </a:xfrm>
          <a:prstGeom prst="ellipse">
            <a:avLst/>
          </a:prstGeom>
          <a:solidFill>
            <a:srgbClr val="1F2A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8" name="Text 96"/>
          <p:cNvSpPr txBox="1"/>
          <p:nvPr/>
        </p:nvSpPr>
        <p:spPr>
          <a:xfrm>
            <a:off x="2794000" y="6807200"/>
            <a:ext cx="209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hrb-api: guardrails → cache (Redis) → agents → Vector DB, MCP servers, OpenAI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4953000" y="6908800"/>
            <a:ext cx="152400" cy="152400"/>
          </a:xfrm>
          <a:prstGeom prst="ellipse">
            <a:avLst/>
          </a:prstGeom>
          <a:solidFill>
            <a:srgbClr val="1F2A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00" name="Text 98"/>
          <p:cNvSpPr txBox="1"/>
          <p:nvPr/>
        </p:nvSpPr>
        <p:spPr>
          <a:xfrm>
            <a:off x="5156200" y="6807200"/>
            <a:ext cx="209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streams back over SSE; Personalization writes memory after the reply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7315200" y="6908800"/>
            <a:ext cx="152400" cy="152400"/>
          </a:xfrm>
          <a:prstGeom prst="ellipse">
            <a:avLst/>
          </a:prstGeom>
          <a:solidFill>
            <a:srgbClr val="1F2A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02" name="Text 100"/>
          <p:cNvSpPr txBox="1"/>
          <p:nvPr/>
        </p:nvSpPr>
        <p:spPr>
          <a:xfrm>
            <a:off x="7518400" y="6807200"/>
            <a:ext cx="209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HITL: run paused in Postgres; the HR decision resumes it on any hrb-api task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9677400" y="6908800"/>
            <a:ext cx="152400" cy="152400"/>
          </a:xfrm>
          <a:prstGeom prst="ellipse">
            <a:avLst/>
          </a:prstGeom>
          <a:solidFill>
            <a:srgbClr val="1F2A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04" name="Text 102"/>
          <p:cNvSpPr txBox="1"/>
          <p:nvPr/>
        </p:nvSpPr>
        <p:spPr>
          <a:xfrm>
            <a:off x="9880600" y="6807200"/>
            <a:ext cx="209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Upload: /admin → SQS job → ingestion-worker → Vector DB; ① entries for the doc cleared</a:t>
            </a:r>
            <a:endParaRPr lang="en-US" sz="850" dirty="0"/>
          </a:p>
        </p:txBody>
      </p:sp>
      <p:sp>
        <p:nvSpPr>
          <p:cNvPr id="106" name="Text 103"/>
          <p:cNvSpPr/>
          <p:nvPr/>
        </p:nvSpPr>
        <p:spPr>
          <a:xfrm>
            <a:off x="11188700" y="368300"/>
            <a:ext cx="914400" cy="95250"/>
          </a:xfrm>
          <a:prstGeom prst="roundRect">
            <a:avLst>
              <a:gd name="adj" fmla="val 48000"/>
            </a:avLst>
          </a:prstGeom>
          <a:solidFill>
            <a:srgbClr val="F5BD5C"/>
          </a:solidFill>
          <a:ln w="6350">
            <a:solidFill>
              <a:srgbClr val="F5BD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v2 containers</a:t>
            </a:r>
            <a:endParaRPr lang="en-US" sz="650" dirty="0"/>
          </a:p>
        </p:txBody>
      </p:sp>
      <p:pic>
        <p:nvPicPr>
          <p:cNvPr id="107" name="Image 0" descr="/tmp/claude-0/-home-claude/464e32f6-6cab-5bf8-83b9-d9d9487214ed/scratchpad/icons/png/cloud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4300" y="901700"/>
            <a:ext cx="152400" cy="152400"/>
          </a:xfrm>
          <a:prstGeom prst="rect">
            <a:avLst/>
          </a:prstGeom>
        </p:spPr>
      </p:pic>
      <p:pic>
        <p:nvPicPr>
          <p:cNvPr id="108" name="Image 1" descr="/tmp/claude-0/-home-claude/464e32f6-6cab-5bf8-83b9-d9d9487214ed/scratchpad/icons/png/s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0" y="1447800"/>
            <a:ext cx="139700" cy="139700"/>
          </a:xfrm>
          <a:prstGeom prst="rect">
            <a:avLst/>
          </a:prstGeom>
        </p:spPr>
      </p:pic>
      <p:pic>
        <p:nvPicPr>
          <p:cNvPr id="109" name="Image 2" descr="/tmp/claude-0/-home-claude/464e32f6-6cab-5bf8-83b9-d9d9487214ed/scratchpad/icons/png/a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700" y="1447800"/>
            <a:ext cx="139700" cy="139700"/>
          </a:xfrm>
          <a:prstGeom prst="rect">
            <a:avLst/>
          </a:prstGeom>
        </p:spPr>
      </p:pic>
      <p:pic>
        <p:nvPicPr>
          <p:cNvPr id="110" name="Image 3" descr="/tmp/claude-0/-home-claude/464e32f6-6cab-5bf8-83b9-d9d9487214ed/scratchpad/icons/png/cognit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300" y="2171700"/>
            <a:ext cx="152400" cy="152400"/>
          </a:xfrm>
          <a:prstGeom prst="rect">
            <a:avLst/>
          </a:prstGeom>
        </p:spPr>
      </p:pic>
      <p:pic>
        <p:nvPicPr>
          <p:cNvPr id="111" name="Image 4" descr="/tmp/claude-0/-home-claude/464e32f6-6cab-5bf8-83b9-d9d9487214ed/scratchpad/icons/png/farga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5100" y="838200"/>
            <a:ext cx="177800" cy="177800"/>
          </a:xfrm>
          <a:prstGeom prst="rect">
            <a:avLst/>
          </a:prstGeom>
        </p:spPr>
      </p:pic>
      <p:pic>
        <p:nvPicPr>
          <p:cNvPr id="112" name="Image 5" descr="/tmp/claude-0/-home-claude/464e32f6-6cab-5bf8-83b9-d9d9487214ed/scratchpad/icons/png/elasticach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6700" y="3987800"/>
            <a:ext cx="127000" cy="127000"/>
          </a:xfrm>
          <a:prstGeom prst="rect">
            <a:avLst/>
          </a:prstGeom>
        </p:spPr>
      </p:pic>
      <p:pic>
        <p:nvPicPr>
          <p:cNvPr id="113" name="Image 6" descr="/tmp/claude-0/-home-claude/464e32f6-6cab-5bf8-83b9-d9d9487214ed/scratchpad/icons/png/rd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3200" y="3987800"/>
            <a:ext cx="127000" cy="127000"/>
          </a:xfrm>
          <a:prstGeom prst="rect">
            <a:avLst/>
          </a:prstGeom>
        </p:spPr>
      </p:pic>
      <p:pic>
        <p:nvPicPr>
          <p:cNvPr id="114" name="Image 7" descr="/tmp/claude-0/-home-claude/464e32f6-6cab-5bf8-83b9-d9d9487214ed/scratchpad/icons/png/rd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7800" y="3987800"/>
            <a:ext cx="127000" cy="127000"/>
          </a:xfrm>
          <a:prstGeom prst="rect">
            <a:avLst/>
          </a:prstGeom>
        </p:spPr>
      </p:pic>
      <p:pic>
        <p:nvPicPr>
          <p:cNvPr id="115" name="Image 8" descr="/tmp/claude-0/-home-claude/464e32f6-6cab-5bf8-83b9-d9d9487214ed/scratchpad/icons/png/rd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9700" y="3987800"/>
            <a:ext cx="127000" cy="127000"/>
          </a:xfrm>
          <a:prstGeom prst="rect">
            <a:avLst/>
          </a:prstGeom>
        </p:spPr>
      </p:pic>
      <p:pic>
        <p:nvPicPr>
          <p:cNvPr id="116" name="Image 9" descr="/tmp/claude-0/-home-claude/464e32f6-6cab-5bf8-83b9-d9d9487214ed/scratchpad/icons/png/secret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17000" y="4013200"/>
            <a:ext cx="165100" cy="165100"/>
          </a:xfrm>
          <a:prstGeom prst="rect">
            <a:avLst/>
          </a:prstGeom>
        </p:spPr>
      </p:pic>
      <p:sp>
        <p:nvSpPr>
          <p:cNvPr id="117" name="Text 104"/>
          <p:cNvSpPr/>
          <p:nvPr/>
        </p:nvSpPr>
        <p:spPr>
          <a:xfrm>
            <a:off x="5715000" y="5638800"/>
            <a:ext cx="889000" cy="215900"/>
          </a:xfrm>
          <a:prstGeom prst="rect">
            <a:avLst/>
          </a:prstGeom>
          <a:solidFill>
            <a:srgbClr val="FFF7ED"/>
          </a:solidFill>
          <a:ln w="12700">
            <a:solidFill>
              <a:srgbClr val="F08C00"/>
            </a:solidFill>
            <a:prstDash val="dash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[paste: vector DB logo]</a:t>
            </a:r>
            <a:endParaRPr lang="en-US" sz="550" dirty="0"/>
          </a:p>
        </p:txBody>
      </p:sp>
      <p:pic>
        <p:nvPicPr>
          <p:cNvPr id="118" name="Image 10" descr="/tmp/claude-0/-home-claude/464e32f6-6cab-5bf8-83b9-d9d9487214ed/scratchpad/icons/png/s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9000" y="5715000"/>
            <a:ext cx="177800" cy="177800"/>
          </a:xfrm>
          <a:prstGeom prst="rect">
            <a:avLst/>
          </a:prstGeom>
        </p:spPr>
      </p:pic>
      <p:pic>
        <p:nvPicPr>
          <p:cNvPr id="119" name="Image 11" descr="/tmp/claude-0/-home-claude/464e32f6-6cab-5bf8-83b9-d9d9487214ed/scratchpad/icons/png/eventbridg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12200" y="5715000"/>
            <a:ext cx="177800" cy="177800"/>
          </a:xfrm>
          <a:prstGeom prst="rect">
            <a:avLst/>
          </a:prstGeom>
        </p:spPr>
      </p:pic>
      <p:pic>
        <p:nvPicPr>
          <p:cNvPr id="120" name="Image 12" descr="/tmp/claude-0/-home-claude/464e32f6-6cab-5bf8-83b9-d9d9487214ed/scratchpad/icons/png/sqs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15400" y="5715000"/>
            <a:ext cx="177800" cy="177800"/>
          </a:xfrm>
          <a:prstGeom prst="rect">
            <a:avLst/>
          </a:prstGeom>
        </p:spPr>
      </p:pic>
      <p:pic>
        <p:nvPicPr>
          <p:cNvPr id="121" name="Image 13" descr="/tmp/claude-0/-home-claude/464e32f6-6cab-5bf8-83b9-d9d9487214ed/scratchpad/icons/png/bedroc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760200" y="1193800"/>
            <a:ext cx="165100" cy="165100"/>
          </a:xfrm>
          <a:prstGeom prst="rect">
            <a:avLst/>
          </a:prstGeom>
        </p:spPr>
      </p:pic>
      <p:sp>
        <p:nvSpPr>
          <p:cNvPr id="122" name="Text 105"/>
          <p:cNvSpPr/>
          <p:nvPr/>
        </p:nvSpPr>
        <p:spPr>
          <a:xfrm>
            <a:off x="11239500" y="1193800"/>
            <a:ext cx="482600" cy="165100"/>
          </a:xfrm>
          <a:prstGeom prst="rect">
            <a:avLst/>
          </a:prstGeom>
          <a:solidFill>
            <a:srgbClr val="FFF7ED"/>
          </a:solidFill>
          <a:ln w="12700">
            <a:solidFill>
              <a:srgbClr val="F08C00"/>
            </a:solidFill>
            <a:prstDash val="dash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[paste: OpenAI logo]</a:t>
            </a:r>
            <a:endParaRPr lang="en-US" sz="550" dirty="0"/>
          </a:p>
        </p:txBody>
      </p:sp>
      <p:sp>
        <p:nvSpPr>
          <p:cNvPr id="123" name="Text 106"/>
          <p:cNvSpPr/>
          <p:nvPr/>
        </p:nvSpPr>
        <p:spPr>
          <a:xfrm>
            <a:off x="11366500" y="1752600"/>
            <a:ext cx="571500" cy="152400"/>
          </a:xfrm>
          <a:prstGeom prst="rect">
            <a:avLst/>
          </a:prstGeom>
          <a:solidFill>
            <a:srgbClr val="FFF7ED"/>
          </a:solidFill>
          <a:ln w="12700">
            <a:solidFill>
              <a:srgbClr val="F08C00"/>
            </a:solidFill>
            <a:prstDash val="dash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[paste: Tavily logo]</a:t>
            </a:r>
            <a:endParaRPr lang="en-US" sz="550" dirty="0"/>
          </a:p>
        </p:txBody>
      </p:sp>
      <p:pic>
        <p:nvPicPr>
          <p:cNvPr id="124" name="Image 14" descr="/tmp/claude-0/-home-claude/464e32f6-6cab-5bf8-83b9-d9d9487214ed/scratchpad/icons/png/cloudwatch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69700" y="2082800"/>
            <a:ext cx="165100" cy="165100"/>
          </a:xfrm>
          <a:prstGeom prst="rect">
            <a:avLst/>
          </a:prstGeom>
        </p:spPr>
      </p:pic>
      <p:pic>
        <p:nvPicPr>
          <p:cNvPr id="125" name="Image 15" descr="/tmp/claude-0/-home-claude/464e32f6-6cab-5bf8-83b9-d9d9487214ed/scratchpad/icons/png/xra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760200" y="2082800"/>
            <a:ext cx="165100" cy="165100"/>
          </a:xfrm>
          <a:prstGeom prst="rect">
            <a:avLst/>
          </a:prstGeom>
        </p:spPr>
      </p:pic>
      <p:pic>
        <p:nvPicPr>
          <p:cNvPr id="126" name="Image 16" descr="/tmp/claude-0/-home-claude/464e32f6-6cab-5bf8-83b9-d9d9487214ed/scratchpad/icons/png/ses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69700" y="2717800"/>
            <a:ext cx="165100" cy="165100"/>
          </a:xfrm>
          <a:prstGeom prst="rect">
            <a:avLst/>
          </a:prstGeom>
        </p:spPr>
      </p:pic>
      <p:pic>
        <p:nvPicPr>
          <p:cNvPr id="127" name="Image 17" descr="/tmp/claude-0/-home-claude/464e32f6-6cab-5bf8-83b9-d9d9487214ed/scratchpad/icons/png/sns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760200" y="2717800"/>
            <a:ext cx="165100" cy="165100"/>
          </a:xfrm>
          <a:prstGeom prst="rect">
            <a:avLst/>
          </a:prstGeom>
        </p:spPr>
      </p:pic>
      <p:pic>
        <p:nvPicPr>
          <p:cNvPr id="128" name="Image 18" descr="/tmp/claude-0/-home-claude/464e32f6-6cab-5bf8-83b9-d9d9487214ed/scratchpad/icons/png/ec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760200" y="3263900"/>
            <a:ext cx="165100" cy="165100"/>
          </a:xfrm>
          <a:prstGeom prst="rect">
            <a:avLst/>
          </a:prstGeom>
        </p:spPr>
      </p:pic>
      <p:sp>
        <p:nvSpPr>
          <p:cNvPr id="129" name="Text 107"/>
          <p:cNvSpPr/>
          <p:nvPr/>
        </p:nvSpPr>
        <p:spPr>
          <a:xfrm>
            <a:off x="11074400" y="3263900"/>
            <a:ext cx="635000" cy="165100"/>
          </a:xfrm>
          <a:prstGeom prst="rect">
            <a:avLst/>
          </a:prstGeom>
          <a:solidFill>
            <a:srgbClr val="FFF7ED"/>
          </a:solidFill>
          <a:ln w="12700">
            <a:solidFill>
              <a:srgbClr val="F08C00"/>
            </a:solidFill>
            <a:prstDash val="dash"/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[paste: GitHub Actions logo]</a:t>
            </a:r>
            <a:endParaRPr lang="en-US" sz="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2600"/>
          </a:xfrm>
          <a:prstGeom prst="rect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77800" y="63500"/>
            <a:ext cx="793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Latency and KPIs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128000" y="63500"/>
            <a:ext cx="388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the deployment view · targets are [INSERT] until a load test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27000" y="584200"/>
            <a:ext cx="5969000" cy="2984500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5875">
            <a:solidFill>
              <a:srgbClr val="B6C2D4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28600" y="64770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Deployables (rechecked): 3 now, 1 split later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50900"/>
          <a:ext cx="5765800" cy="914400"/>
        </p:xfrm>
        <a:graphic>
          <a:graphicData uri="http://schemas.openxmlformats.org/drawingml/2006/table">
            <a:tbl>
              <a:tblPr/>
              <a:tblGrid>
                <a:gridCol w="1253435"/>
                <a:gridCol w="2089058"/>
                <a:gridCol w="1086310"/>
                <a:gridCol w="1336997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runs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separate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hrb-api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API, SSE streaming, guardrails, cache lookup, LangGraph agents (in-process), HR console API, /admin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requests, CPU · min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online path; stateless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ingestion-worker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parse, OCR, chunk, embed, upsert (target: one service per stage, slide 12)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queued jobs · 0 → 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bursty offline work must not slow chat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HRB_LMS_OPS MCP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leave tools (read / write)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rate · min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DB and write permissions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HRB_LMS_ANALYTICS MCP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tools (read-only)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rate · min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DB, read-only role, heavier queries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agent-worker (phase 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runs from a queue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in-flight runs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when LLM runs slow the API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228600" y="3251200"/>
            <a:ext cx="5765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split: </a:t>
            </a:r>
            <a:pPr algn="l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guardrails and cache lookup stay as modules inside hrb-api; a network hop would add latency with no scaling benefit.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27000" y="3670300"/>
            <a:ext cx="5969000" cy="1905000"/>
          </a:xfrm>
          <a:prstGeom prst="roundRect">
            <a:avLst>
              <a:gd name="adj" fmla="val 2880"/>
            </a:avLst>
          </a:prstGeom>
          <a:solidFill>
            <a:srgbClr val="FFFFFF"/>
          </a:solidFill>
          <a:ln w="15875">
            <a:solidFill>
              <a:srgbClr val="B6C2D4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28600" y="373380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earlier 4-service split changed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228600" y="3937000"/>
            <a:ext cx="57658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Earlier: </a:t>
            </a:r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chat-api and agent-worker as separate services from day one.</a:t>
            </a:r>
            <a:endParaRPr lang="en-US" sz="8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tokens would need a relay (Redis Streams or pub/sub): more hops, more failure points, more latency, more code to test.</a:t>
            </a:r>
            <a:endParaRPr lang="en-US" sz="8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in-process with async I/O; LangGraph checkpoints in Postgres let any hrb-api task resume a paused HITL run.</a:t>
            </a:r>
            <a:endParaRPr lang="en-US" sz="8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trigger: </a:t>
            </a:r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hrb-api p95 latency or CPU rises because of long LLM runs [INSERT threshold]; then move agents to an agent-worker.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27000" y="5676900"/>
            <a:ext cx="5969000" cy="1854200"/>
          </a:xfrm>
          <a:prstGeom prst="roundRect">
            <a:avLst>
              <a:gd name="adj" fmla="val 2959"/>
            </a:avLst>
          </a:prstGeom>
          <a:solidFill>
            <a:srgbClr val="FFFFFF"/>
          </a:solidFill>
          <a:ln w="15875">
            <a:solidFill>
              <a:srgbClr val="B6C2D4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28600" y="5740400"/>
            <a:ext cx="279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levers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3149600" y="5740400"/>
            <a:ext cx="279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levers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228600" y="5930900"/>
            <a:ext cx="27940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I/O everywhere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streaming (SSE)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fan-out of domain agents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models for cheap steps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(fixed prompt start)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① with top FAQs at plan year start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embeddings in ingestion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pools (Postgres, Redis)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3149600" y="5930900"/>
            <a:ext cx="28575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per step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with backoff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model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on the LLM provider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caps + 429 backpressure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MCP writes (leave apply)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+ min tasks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HITL resume after restart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197600" y="584200"/>
            <a:ext cx="5867400" cy="6946900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15875">
            <a:solidFill>
              <a:srgbClr val="B6C2D4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299200" y="647700"/>
            <a:ext cx="565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and KPIs</a:t>
            </a:r>
            <a:endParaRPr lang="en-US" sz="85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9200" y="850900"/>
          <a:ext cx="5664200" cy="914400"/>
        </p:xfrm>
        <a:graphic>
          <a:graphicData uri="http://schemas.openxmlformats.org/drawingml/2006/table">
            <a:tbl>
              <a:tblPr/>
              <a:tblGrid>
                <a:gridCol w="1132840"/>
                <a:gridCol w="2945384"/>
                <a:gridCol w="1585976"/>
              </a:tblGrid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target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first token, p50 / p95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1.5 s p95 [INSERT]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p95: cache hit / miss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300 ms / &lt; 6 s [INSERT]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per step: guardrails, retrieval, each LLM call, tools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per step [INSERT]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 per second, concurrent sessions, queue depth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[INSERT]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CPU, memory, DB connections, LLM tokens per minute vs quota, 429 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70% sustained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rate, timeout rate, fallback 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1% errors [INSERT]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 [INSERT]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answer, tokens per answer, % input tokens cached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down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rate per tier, false-hit rate, stale-hit 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false-hit &lt; 1% [INSERT]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decision time, SLA breach 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business days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from upload to searchable, failed jobs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15 min [INSERT]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link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groundedness, escalation rate, thumbs-up 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specs/06 golden set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6299200" y="5600700"/>
            <a:ext cx="5664200" cy="1841500"/>
          </a:xfrm>
          <a:prstGeom prst="roundRect">
            <a:avLst>
              <a:gd name="adj" fmla="val 2979"/>
            </a:avLst>
          </a:prstGeom>
          <a:solidFill>
            <a:srgbClr val="F6F8FA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00800" y="5676900"/>
            <a:ext cx="5461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(per service): </a:t>
            </a:r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Rate, Errors, Duration: requests per second, error rate, latency percentiles.</a:t>
            </a:r>
            <a:endParaRPr lang="en-US" sz="8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(per resource): </a:t>
            </a:r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Utilization, Saturation, Errors: CPU, memory, connections, LLM quota.</a:t>
            </a:r>
            <a:endParaRPr lang="en-US" sz="8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→ Prometheus / Grafana for services; Langfuse or LangSmith for LLM traces, tokens and cost [INSERT].</a:t>
            </a:r>
            <a:endParaRPr lang="en-US" sz="8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set targets: </a:t>
            </a:r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load test (for example Locust or k6) with the golden question mix, then set targets a little above what you measure.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1149330" y="368300"/>
            <a:ext cx="953770" cy="95250"/>
          </a:xfrm>
          <a:prstGeom prst="roundRect">
            <a:avLst>
              <a:gd name="adj" fmla="val 48000"/>
            </a:avLst>
          </a:prstGeom>
          <a:solidFill>
            <a:srgbClr val="F5BD5C"/>
          </a:solidFill>
          <a:ln w="6350">
            <a:solidFill>
              <a:srgbClr val="F5BD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scale and KPIs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2600"/>
          </a:xfrm>
          <a:prstGeom prst="rect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77800" y="63500"/>
            <a:ext cx="793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in Plain English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128000" y="63500"/>
            <a:ext cx="388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you will hear in reviews · with HRB examples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27000" y="571500"/>
            <a:ext cx="3911600" cy="6972300"/>
          </a:xfrm>
          <a:prstGeom prst="roundRect">
            <a:avLst>
              <a:gd name="adj" fmla="val 1403"/>
            </a:avLst>
          </a:prstGeom>
          <a:solidFill>
            <a:srgbClr val="FFFFFF"/>
          </a:solidFill>
          <a:ln w="15875">
            <a:solidFill>
              <a:srgbClr val="B6C2D4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28600" y="635000"/>
            <a:ext cx="368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and planning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38200"/>
          <a:ext cx="3708400" cy="914400"/>
        </p:xfrm>
        <a:graphic>
          <a:graphicData uri="http://schemas.openxmlformats.org/drawingml/2006/table">
            <a:tbl>
              <a:tblPr/>
              <a:tblGrid>
                <a:gridCol w="904488"/>
                <a:gridCol w="2803912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meaning  ·  HRB example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(what we want) + Key Results (how we measure it).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O: trusted answers without waiting · KR: 70% of policy questions solved without HR [INSERT]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number you track all the time to see health.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cost per answer, p95 latency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Star 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one number that best shows user value.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questions answered correctly and on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promise to users, often with a penalty if missed.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HR decision within 5 business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internal target for a service.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99.5% of answers in under 6 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measured value we compare to the SLO.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this week: 99.1% under 6 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budget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failure the SLO allows before we pause new features.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0.5% slow answers per month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/ TCO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on investment / total cost of ownership over time.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HR hours saved vs AWS + LLM cost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version that proves value.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policy Q&amp;A only, no HITL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Responsible, Accountable, Consulted, Informed.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HR owns KB content; engineering owns the app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record of one architecture decision and why.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adr-010 hub-and-spoke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40200" y="571500"/>
            <a:ext cx="3911600" cy="6972300"/>
          </a:xfrm>
          <a:prstGeom prst="roundRect">
            <a:avLst>
              <a:gd name="adj" fmla="val 1403"/>
            </a:avLst>
          </a:prstGeom>
          <a:solidFill>
            <a:srgbClr val="FFFFFF"/>
          </a:solidFill>
          <a:ln w="15875">
            <a:solidFill>
              <a:srgbClr val="B6C2D4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241800" y="635000"/>
            <a:ext cx="368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operations</a:t>
            </a:r>
            <a:endParaRPr lang="en-US" sz="85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41800" y="838200"/>
          <a:ext cx="3708400" cy="914400"/>
        </p:xfrm>
        <a:graphic>
          <a:graphicData uri="http://schemas.openxmlformats.org/drawingml/2006/table">
            <a:tbl>
              <a:tblPr/>
              <a:tblGrid>
                <a:gridCol w="904488"/>
                <a:gridCol w="2803912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meaning  ·  HRB example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well the system works (speed, safety, uptime), not what it does.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p95 &lt; 6 s, 99.5% uptime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 / p95 / p99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that 50% / 95% / 99% of requests beat.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p95 = 5.2 s means 1 in 20 is slower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first token: how fast the first word appears.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under 1.5 s feels quick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work per second the system handles.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requests per second at peak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Multi-AZ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Copies in two data centers so one can fail.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RDS standby in a second AZ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RTO / RPO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fast we recover / how much data we may lose.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RTO 1 h, RPO 15 min [INSERT]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it twice gives the same result as once.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retrying a leave submit makes one request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DLQ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Dead-letter queue: holds messages that keep failing.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a corrupt PDF lands here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Backpressure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Slowing callers down when overloaded.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return 429 when the queue is full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 breaker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calling a failing service for a while.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LLM provider down → fallback model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Blue/green, canary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safely: switch all at once / to a few users first.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new prompt to 5% of users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8153400" y="571500"/>
            <a:ext cx="3911600" cy="6972300"/>
          </a:xfrm>
          <a:prstGeom prst="roundRect">
            <a:avLst>
              <a:gd name="adj" fmla="val 1403"/>
            </a:avLst>
          </a:prstGeom>
          <a:solidFill>
            <a:srgbClr val="FFFFFF"/>
          </a:solidFill>
          <a:ln w="15875">
            <a:solidFill>
              <a:srgbClr val="B6C2D4"/>
            </a:solidFill>
            <a:prstDash val="solid"/>
          </a:ln>
          <a:effectLst>
            <a:outerShdw sx="100000" sy="100000" kx="0" ky="0" algn="bl" rotWithShape="0" blurRad="25400" dist="12700" dir="5400000">
              <a:srgbClr val="0F172A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55000" y="635000"/>
            <a:ext cx="368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A3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and AI quality</a:t>
            </a:r>
            <a:endParaRPr lang="en-US" sz="850" dirty="0"/>
          </a:p>
        </p:txBody>
      </p:sp>
      <p:graphicFrame>
        <p:nvGraphicFramePr>
          <p:cNvPr id="5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0" y="838200"/>
          <a:ext cx="3708400" cy="914400"/>
        </p:xfrm>
        <a:graphic>
          <a:graphicData uri="http://schemas.openxmlformats.org/drawingml/2006/table">
            <a:tbl>
              <a:tblPr/>
              <a:tblGrid>
                <a:gridCol w="904488"/>
                <a:gridCol w="2803912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meaning  ·  HRB example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LLMOps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 for LLM apps: version, test, release and watch prompts, models and data.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prompt v7 released after evals 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dataset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questions with known good answers used as a test.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specs/06 question set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vs online eval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before release vs measure live traffic.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release gate vs 5% judged sample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LLM-as-judge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model grades another model's answer.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Judge Agent on risky answers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Groundedness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claim is supported by the cited sources.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no PTO number that is not in the policy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confident answer not backed by any source.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invented 401(k) match rate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precision / recall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retrieved chunks that help / share of needed chunks found.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RAGAS-style retrieval metrics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slowly changes as data, users or models change.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new plan year breaks old answers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record of every step, token and cost in one request.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Langfuse or LangSmith trace_id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teaming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Trying to break the system on purpose.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prompt-injection tests before release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loop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and HR signals turn into tests and fixes.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A3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HRB: thumbs-down → eval case + cache delete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11385550" y="368300"/>
            <a:ext cx="717550" cy="95250"/>
          </a:xfrm>
          <a:prstGeom prst="roundRect">
            <a:avLst>
              <a:gd name="adj" fmla="val 48000"/>
            </a:avLst>
          </a:prstGeom>
          <a:solidFill>
            <a:srgbClr val="F5BD5C"/>
          </a:solidFill>
          <a:ln w="6350">
            <a:solidFill>
              <a:srgbClr val="F5BD5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glossary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HRB Chatbot V2 architecture with caching</dc:title>
  <dc:subject>PptxGenJS Presentation</dc:subject>
  <dc:creator>PptxGenJS</dc:creator>
  <cp:lastModifiedBy>PptxGenJS</cp:lastModifiedBy>
  <cp:revision>1</cp:revision>
  <dcterms:created xsi:type="dcterms:W3CDTF">2026-09-30T23:05:57Z</dcterms:created>
  <dcterms:modified xsi:type="dcterms:W3CDTF">2026-09-30T23:05:57Z</dcterms:modified>
</cp:coreProperties>
</file>